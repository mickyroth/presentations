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sldIdLst>
    <p:sldId id="349" r:id="rId2"/>
    <p:sldId id="351" r:id="rId3"/>
    <p:sldId id="342" r:id="rId4"/>
    <p:sldId id="356" r:id="rId5"/>
    <p:sldId id="347" r:id="rId6"/>
    <p:sldId id="338" r:id="rId7"/>
    <p:sldId id="339" r:id="rId8"/>
    <p:sldId id="341" r:id="rId9"/>
    <p:sldId id="418" r:id="rId10"/>
    <p:sldId id="417" r:id="rId11"/>
    <p:sldId id="419" r:id="rId12"/>
    <p:sldId id="343" r:id="rId13"/>
    <p:sldId id="344" r:id="rId14"/>
    <p:sldId id="345" r:id="rId15"/>
    <p:sldId id="354" r:id="rId16"/>
    <p:sldId id="363" r:id="rId17"/>
    <p:sldId id="352" r:id="rId18"/>
    <p:sldId id="353" r:id="rId19"/>
    <p:sldId id="355" r:id="rId20"/>
    <p:sldId id="346" r:id="rId21"/>
    <p:sldId id="340" r:id="rId22"/>
  </p:sldIdLst>
  <p:sldSz cx="12192000" cy="6858000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5" autoAdjust="0"/>
    <p:restoredTop sz="94646"/>
  </p:normalViewPr>
  <p:slideViewPr>
    <p:cSldViewPr>
      <p:cViewPr varScale="1">
        <p:scale>
          <a:sx n="57" d="100"/>
          <a:sy n="57" d="100"/>
        </p:scale>
        <p:origin x="82" y="6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83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B71CB-5131-CD4B-A6CA-3AE27A343125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115051-71E1-1B42-87DF-8725431D67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5581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235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71531" y="274638"/>
            <a:ext cx="9710869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Picture 2" descr="tkinter : tackling import for python 2 and 3">
            <a:extLst>
              <a:ext uri="{FF2B5EF4-FFF2-40B4-BE49-F238E27FC236}">
                <a16:creationId xmlns:a16="http://schemas.microsoft.com/office/drawing/2014/main" id="{99E7FC4A-6EBB-AA48-0120-DEA9B6775B7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1" t="10101" r="12201" b="10101"/>
          <a:stretch/>
        </p:blipFill>
        <p:spPr bwMode="auto">
          <a:xfrm>
            <a:off x="143339" y="247283"/>
            <a:ext cx="1632181" cy="969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145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4275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72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4511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76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4093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35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559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636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0FE00-75B2-4B87-8051-471D8FD5E66A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872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0FE00-75B2-4B87-8051-471D8FD5E66A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48252-70E0-477E-AA3F-8033DF5AAA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096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customtkinter.tomschimansky.com/" TargetMode="External"/><Relationship Id="rId3" Type="http://schemas.openxmlformats.org/officeDocument/2006/relationships/hyperlink" Target="https://www.delftstack.com/de/howto/python-tkinter/" TargetMode="External"/><Relationship Id="rId7" Type="http://schemas.openxmlformats.org/officeDocument/2006/relationships/hyperlink" Target="https://visualtk.com/" TargetMode="External"/><Relationship Id="rId2" Type="http://schemas.openxmlformats.org/officeDocument/2006/relationships/hyperlink" Target="https://wiki.python.org/moin/GuiProgramm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ython-kurs.eu/python_tkinter.php" TargetMode="External"/><Relationship Id="rId5" Type="http://schemas.openxmlformats.org/officeDocument/2006/relationships/hyperlink" Target="https://www.studytonight.com/tkinter/python-tkinter-widgets" TargetMode="External"/><Relationship Id="rId10" Type="http://schemas.openxmlformats.org/officeDocument/2006/relationships/image" Target="../media/image29.png"/><Relationship Id="rId4" Type="http://schemas.openxmlformats.org/officeDocument/2006/relationships/hyperlink" Target="https://www.geeksforgeeks.org/python-gui-tkinter/" TargetMode="External"/><Relationship Id="rId9" Type="http://schemas.openxmlformats.org/officeDocument/2006/relationships/hyperlink" Target="https://www.youtube.com/playlist?list=PLfZw_tZWahjxJl81b1S-vYQwHs_9ZT77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0207F4D-5704-4C93-88B3-14D9DF7AB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90" y="2708920"/>
            <a:ext cx="11205220" cy="1728192"/>
          </a:xfrm>
          <a:solidFill>
            <a:schemeClr val="tx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de-DE" b="1" dirty="0"/>
              <a:t>Mit Python und </a:t>
            </a:r>
            <a:r>
              <a:rPr lang="de-DE" b="1" dirty="0" err="1">
                <a:solidFill>
                  <a:schemeClr val="tx2">
                    <a:lumMod val="75000"/>
                  </a:schemeClr>
                </a:solidFill>
              </a:rPr>
              <a:t>Tk</a:t>
            </a:r>
            <a:r>
              <a:rPr lang="de-DE" b="1" dirty="0" err="1"/>
              <a:t>inter</a:t>
            </a:r>
            <a:r>
              <a:rPr lang="de-DE" b="1" dirty="0"/>
              <a:t> grafische</a:t>
            </a:r>
            <a:br>
              <a:rPr lang="de-DE" b="1" dirty="0"/>
            </a:br>
            <a:r>
              <a:rPr lang="de-DE" b="1" dirty="0"/>
              <a:t>Benutzeroberflächen (GUIs) programmieren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AD8DCF0-0C2E-FEE8-8689-1E5B68EDC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711" y="462221"/>
            <a:ext cx="2485889" cy="152522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18B71D8-F3CF-C21B-C86D-5753EE44F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12" y="4700823"/>
            <a:ext cx="4200334" cy="1476073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26D20502-AC16-A769-0791-5EBA4D736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0" y="366905"/>
            <a:ext cx="1911479" cy="223652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960A9C8-E075-DD5B-32F2-C607BFEE6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176" y="4542599"/>
            <a:ext cx="4018434" cy="213439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12742AF-2D8C-69EB-F6CD-ED92363DE3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473" y="4970290"/>
            <a:ext cx="1874276" cy="93713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E110CF3-B1E5-0842-0081-EFDDB3B24E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1903" y="619991"/>
            <a:ext cx="2908194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741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47CF52-0433-4602-B72B-78389985B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968" y="274638"/>
            <a:ext cx="10221687" cy="1143000"/>
          </a:xfrm>
        </p:spPr>
        <p:txBody>
          <a:bodyPr>
            <a:normAutofit fontScale="90000"/>
          </a:bodyPr>
          <a:lstStyle/>
          <a:p>
            <a:r>
              <a:rPr lang="de-DE" dirty="0"/>
              <a:t>Exkurs: Was macht eine ergonomische GUI aus?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DF7C78-B880-444A-B5A6-90A56AAC0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600200"/>
            <a:ext cx="9803432" cy="5069160"/>
          </a:xfrm>
        </p:spPr>
        <p:txBody>
          <a:bodyPr>
            <a:normAutofit fontScale="70000" lnSpcReduction="20000"/>
          </a:bodyPr>
          <a:lstStyle/>
          <a:p>
            <a:r>
              <a:rPr lang="de-DE" dirty="0"/>
              <a:t>Selbstbeschreibungsfähigkeit (selbsterklärend)</a:t>
            </a:r>
          </a:p>
          <a:p>
            <a:r>
              <a:rPr lang="de-DE" dirty="0"/>
              <a:t>Wenig Fluchtlinien</a:t>
            </a:r>
          </a:p>
          <a:p>
            <a:r>
              <a:rPr lang="de-DE" dirty="0"/>
              <a:t>Farbgestaltung</a:t>
            </a:r>
          </a:p>
          <a:p>
            <a:pPr lvl="1"/>
            <a:r>
              <a:rPr lang="de-DE" dirty="0"/>
              <a:t>Farben sparsam verwenden</a:t>
            </a:r>
          </a:p>
          <a:p>
            <a:pPr lvl="1"/>
            <a:r>
              <a:rPr lang="de-DE" dirty="0"/>
              <a:t>Ungünstige Farbkombinationen vermeiden</a:t>
            </a:r>
          </a:p>
          <a:p>
            <a:pPr lvl="1"/>
            <a:r>
              <a:rPr lang="de-DE" dirty="0"/>
              <a:t>Farbfehlsichtigkeit berücksichtigen</a:t>
            </a:r>
          </a:p>
          <a:p>
            <a:r>
              <a:rPr lang="de-DE" dirty="0"/>
              <a:t>Erwartungs-/Erfahrungskonformität</a:t>
            </a:r>
          </a:p>
          <a:p>
            <a:r>
              <a:rPr lang="de-DE" dirty="0"/>
              <a:t>Schrift</a:t>
            </a:r>
          </a:p>
          <a:p>
            <a:pPr lvl="1"/>
            <a:r>
              <a:rPr lang="de-DE" b="1" i="1" dirty="0"/>
              <a:t>Kursiv</a:t>
            </a:r>
            <a:r>
              <a:rPr lang="de-DE" dirty="0"/>
              <a:t> und GROSSSCHREIBUNG vermeiden</a:t>
            </a:r>
          </a:p>
          <a:p>
            <a:pPr lvl="1"/>
            <a:r>
              <a:rPr lang="de-DE" dirty="0"/>
              <a:t>Serifenlos, gut lesbar, sinnvolle Größe</a:t>
            </a:r>
          </a:p>
          <a:p>
            <a:r>
              <a:rPr lang="de-DE" dirty="0"/>
              <a:t>Anordnung von Informationen</a:t>
            </a:r>
          </a:p>
          <a:p>
            <a:pPr lvl="1"/>
            <a:r>
              <a:rPr lang="de-DE" dirty="0"/>
              <a:t>Gruppierungen nach fachlichen Aspekten</a:t>
            </a:r>
          </a:p>
          <a:p>
            <a:pPr lvl="1"/>
            <a:r>
              <a:rPr lang="de-DE" dirty="0"/>
              <a:t>Sinnvolle Reihenfolge</a:t>
            </a:r>
          </a:p>
          <a:p>
            <a:pPr lvl="1"/>
            <a:r>
              <a:rPr lang="de-DE" dirty="0"/>
              <a:t>Nicht zu viel Platz verschwenden</a:t>
            </a:r>
          </a:p>
          <a:p>
            <a:r>
              <a:rPr lang="de-DE" dirty="0"/>
              <a:t>Grundsätze der Dialoggestaltung / Usability nach DIN ISO 9241-110</a:t>
            </a:r>
          </a:p>
          <a:p>
            <a:endParaRPr lang="de-D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597EDAD-49B0-439C-A1D7-F452D9DD7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129" y="1600200"/>
            <a:ext cx="4417249" cy="4026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F69BB1D9-0A70-4EDE-95A9-1B21023C1ED2}"/>
              </a:ext>
            </a:extLst>
          </p:cNvPr>
          <p:cNvSpPr txBox="1"/>
          <p:nvPr/>
        </p:nvSpPr>
        <p:spPr>
          <a:xfrm>
            <a:off x="8328248" y="5555778"/>
            <a:ext cx="24561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Kritikpunkte am Windows Drucken-Dialog</a:t>
            </a:r>
          </a:p>
        </p:txBody>
      </p:sp>
    </p:spTree>
    <p:extLst>
      <p:ext uri="{BB962C8B-B14F-4D97-AF65-F5344CB8AC3E}">
        <p14:creationId xmlns:p14="http://schemas.microsoft.com/office/powerpoint/2010/main" val="2071711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62ED7D-DECD-4277-BB7C-6D8F7CB06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Grafische Benutzeroberflächen (GUI) mit dem Modul </a:t>
            </a:r>
            <a:r>
              <a:rPr lang="de-DE" sz="4000" b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endParaRPr lang="de-DE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404A3A-9B5C-4865-936B-39FE8ECF0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556793"/>
            <a:ext cx="11593288" cy="2808311"/>
          </a:xfrm>
        </p:spPr>
        <p:txBody>
          <a:bodyPr>
            <a:normAutofit fontScale="70000" lnSpcReduction="20000"/>
          </a:bodyPr>
          <a:lstStyle/>
          <a:p>
            <a:r>
              <a:rPr lang="de-DE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lang="de-DE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ist ein Modul für das multiplattform GUI-Toolkit </a:t>
            </a:r>
            <a:r>
              <a:rPr lang="de-DE" b="1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Tk</a:t>
            </a:r>
            <a:r>
              <a:rPr lang="de-DE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für die Programmiersprache Python. Der Name steht als Abkürzung für </a:t>
            </a:r>
            <a:r>
              <a:rPr lang="de-DE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</a:t>
            </a:r>
            <a:r>
              <a:rPr lang="de-DE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ool</a:t>
            </a:r>
            <a:r>
              <a:rPr lang="de-DE" b="1" dirty="0">
                <a:solidFill>
                  <a:srgbClr val="FF0000"/>
                </a:solidFill>
                <a:latin typeface="arial" panose="020B0604020202020204" pitchFamily="34" charset="0"/>
              </a:rPr>
              <a:t>k</a:t>
            </a:r>
            <a:r>
              <a:rPr lang="de-DE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it </a:t>
            </a:r>
            <a:r>
              <a:rPr lang="de-DE" b="1" dirty="0">
                <a:solidFill>
                  <a:srgbClr val="FF0000"/>
                </a:solidFill>
                <a:latin typeface="arial" panose="020B0604020202020204" pitchFamily="34" charset="0"/>
              </a:rPr>
              <a:t>inter</a:t>
            </a:r>
            <a:r>
              <a:rPr lang="de-DE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face. </a:t>
            </a:r>
          </a:p>
          <a:p>
            <a:r>
              <a:rPr lang="de-DE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lang="de-DE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war das erste GUI-Toolkit für Python, weshalb es inzwischen auf Mac OS und Windows zum Lieferumfang von Python gehört.</a:t>
            </a:r>
          </a:p>
          <a:p>
            <a:r>
              <a:rPr lang="de-DE" dirty="0">
                <a:solidFill>
                  <a:srgbClr val="202124"/>
                </a:solidFill>
                <a:latin typeface="arial" panose="020B0604020202020204" pitchFamily="34" charset="0"/>
              </a:rPr>
              <a:t>Sämtliche Oberflächenelemente werden in </a:t>
            </a:r>
            <a:r>
              <a:rPr lang="de-DE" dirty="0" err="1">
                <a:solidFill>
                  <a:srgbClr val="202124"/>
                </a:solidFill>
                <a:latin typeface="arial" panose="020B0604020202020204" pitchFamily="34" charset="0"/>
              </a:rPr>
              <a:t>Tkinter</a:t>
            </a:r>
            <a:r>
              <a:rPr lang="de-DE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de-DE" b="1" dirty="0">
                <a:solidFill>
                  <a:srgbClr val="202124"/>
                </a:solidFill>
                <a:latin typeface="arial" panose="020B0604020202020204" pitchFamily="34" charset="0"/>
              </a:rPr>
              <a:t>Widgets</a:t>
            </a:r>
            <a:r>
              <a:rPr lang="de-DE" dirty="0">
                <a:solidFill>
                  <a:srgbClr val="202124"/>
                </a:solidFill>
                <a:latin typeface="arial" panose="020B0604020202020204" pitchFamily="34" charset="0"/>
              </a:rPr>
              <a:t> genannt, es gibt eine ganze Palette an Widgets, u.a.: </a:t>
            </a:r>
            <a:r>
              <a:rPr lang="de-DE" sz="3400" b="1" dirty="0">
                <a:solidFill>
                  <a:srgbClr val="20212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</a:t>
            </a:r>
            <a:r>
              <a:rPr lang="de-DE" sz="3400" dirty="0">
                <a:solidFill>
                  <a:srgbClr val="202124"/>
                </a:solidFill>
                <a:latin typeface="arial" panose="020B0604020202020204" pitchFamily="34" charset="0"/>
              </a:rPr>
              <a:t>, </a:t>
            </a:r>
            <a:r>
              <a:rPr lang="de-DE" sz="3400" b="1" dirty="0">
                <a:solidFill>
                  <a:srgbClr val="20212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Checkbutton</a:t>
            </a:r>
            <a:r>
              <a:rPr lang="de-DE" sz="3400" dirty="0">
                <a:solidFill>
                  <a:srgbClr val="202124"/>
                </a:solidFill>
                <a:latin typeface="arial" panose="020B0604020202020204" pitchFamily="34" charset="0"/>
              </a:rPr>
              <a:t>, </a:t>
            </a:r>
            <a:r>
              <a:rPr lang="de-DE" sz="3400" b="1" dirty="0">
                <a:solidFill>
                  <a:srgbClr val="20212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de-DE" sz="3400" dirty="0">
                <a:solidFill>
                  <a:srgbClr val="202124"/>
                </a:solidFill>
                <a:latin typeface="arial" panose="020B0604020202020204" pitchFamily="34" charset="0"/>
              </a:rPr>
              <a:t>, </a:t>
            </a:r>
            <a:r>
              <a:rPr lang="de-DE" sz="3400" b="1" dirty="0">
                <a:solidFill>
                  <a:srgbClr val="20212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Menu</a:t>
            </a:r>
            <a:r>
              <a:rPr lang="de-DE" sz="3400" dirty="0">
                <a:solidFill>
                  <a:srgbClr val="202124"/>
                </a:solidFill>
                <a:latin typeface="arial" panose="020B0604020202020204" pitchFamily="34" charset="0"/>
              </a:rPr>
              <a:t>, </a:t>
            </a:r>
            <a:r>
              <a:rPr lang="de-DE" sz="3400" b="1" dirty="0">
                <a:solidFill>
                  <a:srgbClr val="20212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Radiobutton</a:t>
            </a:r>
            <a:r>
              <a:rPr lang="de-DE" sz="3400" dirty="0">
                <a:solidFill>
                  <a:srgbClr val="202124"/>
                </a:solidFill>
                <a:latin typeface="arial" panose="020B0604020202020204" pitchFamily="34" charset="0"/>
              </a:rPr>
              <a:t>, </a:t>
            </a:r>
            <a:r>
              <a:rPr lang="de-DE" sz="3400" b="1" dirty="0">
                <a:solidFill>
                  <a:srgbClr val="20212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Combobox</a:t>
            </a:r>
            <a:r>
              <a:rPr lang="de-DE" sz="3400" dirty="0">
                <a:solidFill>
                  <a:srgbClr val="202124"/>
                </a:solidFill>
                <a:latin typeface="arial" panose="020B0604020202020204" pitchFamily="34" charset="0"/>
              </a:rPr>
              <a:t>, </a:t>
            </a:r>
            <a:r>
              <a:rPr lang="de-DE" sz="3400" b="1" dirty="0">
                <a:solidFill>
                  <a:srgbClr val="20212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3400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de-DE" dirty="0">
                <a:solidFill>
                  <a:srgbClr val="202124"/>
                </a:solidFill>
                <a:latin typeface="arial" panose="020B0604020202020204" pitchFamily="34" charset="0"/>
              </a:rPr>
              <a:t>(=mehrzeiliges Textfeld), </a:t>
            </a:r>
            <a:r>
              <a:rPr lang="de-DE" sz="3400" b="1" dirty="0">
                <a:solidFill>
                  <a:srgbClr val="20212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</a:t>
            </a:r>
            <a:r>
              <a:rPr lang="de-DE" dirty="0">
                <a:solidFill>
                  <a:srgbClr val="202124"/>
                </a:solidFill>
                <a:latin typeface="arial" panose="020B0604020202020204" pitchFamily="34" charset="0"/>
              </a:rPr>
              <a:t> (=einzeiliges Eingabefeld) , </a:t>
            </a:r>
            <a:r>
              <a:rPr lang="de-DE" sz="3500" b="1" dirty="0">
                <a:solidFill>
                  <a:srgbClr val="20212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</a:t>
            </a:r>
            <a:r>
              <a:rPr lang="de-DE" dirty="0">
                <a:solidFill>
                  <a:srgbClr val="202124"/>
                </a:solidFill>
                <a:latin typeface="arial" panose="020B0604020202020204" pitchFamily="34" charset="0"/>
              </a:rPr>
              <a:t> (=Fensterbereiche), </a:t>
            </a:r>
            <a:r>
              <a:rPr lang="de-DE" sz="3400" b="1" dirty="0" err="1">
                <a:solidFill>
                  <a:srgbClr val="20212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Scrollbar</a:t>
            </a:r>
            <a:r>
              <a:rPr lang="de-DE" dirty="0">
                <a:solidFill>
                  <a:srgbClr val="202124"/>
                </a:solidFill>
                <a:latin typeface="arial" panose="020B0604020202020204" pitchFamily="34" charset="0"/>
              </a:rPr>
              <a:t> </a:t>
            </a:r>
            <a:r>
              <a:rPr lang="de-DE" dirty="0" err="1">
                <a:solidFill>
                  <a:srgbClr val="202124"/>
                </a:solidFill>
                <a:latin typeface="arial" panose="020B0604020202020204" pitchFamily="34" charset="0"/>
              </a:rPr>
              <a:t>usw</a:t>
            </a:r>
            <a:r>
              <a:rPr lang="de-DE" dirty="0">
                <a:solidFill>
                  <a:srgbClr val="202124"/>
                </a:solidFill>
                <a:latin typeface="arial" panose="020B0604020202020204" pitchFamily="34" charset="0"/>
              </a:rPr>
              <a:t>… 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120E745-7055-4A1A-A6E7-144B4F856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096" y="4293096"/>
            <a:ext cx="5324960" cy="249289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E46E5E3-5259-47D4-8F11-F4CDBAB3D41F}"/>
              </a:ext>
            </a:extLst>
          </p:cNvPr>
          <p:cNvSpPr txBox="1"/>
          <p:nvPr/>
        </p:nvSpPr>
        <p:spPr>
          <a:xfrm>
            <a:off x="7703924" y="4623926"/>
            <a:ext cx="23397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/>
              <a:t>Mit dem gleichen Quellcode unterschiedliches, ans </a:t>
            </a:r>
            <a:br>
              <a:rPr lang="de-DE" sz="1600" i="1"/>
            </a:br>
            <a:r>
              <a:rPr lang="de-DE" sz="1600" i="1"/>
              <a:t>Betriebssystem</a:t>
            </a:r>
            <a:br>
              <a:rPr lang="de-DE" sz="1600" i="1"/>
            </a:br>
            <a:r>
              <a:rPr lang="de-DE" sz="1600" i="1"/>
              <a:t>angepasstes</a:t>
            </a:r>
          </a:p>
          <a:p>
            <a:pPr algn="ctr"/>
            <a:r>
              <a:rPr lang="de-DE" sz="1600" i="1"/>
              <a:t>Widget-Design je nach OS und Einstellung im OS</a:t>
            </a:r>
          </a:p>
        </p:txBody>
      </p:sp>
    </p:spTree>
    <p:extLst>
      <p:ext uri="{BB962C8B-B14F-4D97-AF65-F5344CB8AC3E}">
        <p14:creationId xmlns:p14="http://schemas.microsoft.com/office/powerpoint/2010/main" val="2132505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E24549-D7B9-1E93-D961-72DCA607C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04" y="131751"/>
            <a:ext cx="10369152" cy="1143000"/>
          </a:xfrm>
        </p:spPr>
        <p:txBody>
          <a:bodyPr>
            <a:normAutofit fontScale="90000"/>
          </a:bodyPr>
          <a:lstStyle/>
          <a:p>
            <a:r>
              <a:rPr lang="de-DE" dirty="0"/>
              <a:t>Beispiele GUI-Sketches / Wireframes / Mockups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F264EEC-EDE1-078E-E837-0F87A1A6F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89" y="4077072"/>
            <a:ext cx="3382126" cy="2731442"/>
          </a:xfrm>
          <a:prstGeom prst="rect">
            <a:avLst/>
          </a:prstGeom>
        </p:spPr>
      </p:pic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B38D932D-E390-0DDE-98EB-95B25F6FE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961" y="1414232"/>
            <a:ext cx="2451643" cy="22257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37597E3-FF84-1BD3-F628-C258BE4D8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82" y="1659248"/>
            <a:ext cx="3516994" cy="2225699"/>
          </a:xfrm>
          <a:prstGeom prst="rect">
            <a:avLst/>
          </a:prstGeom>
        </p:spPr>
      </p:pic>
      <p:pic>
        <p:nvPicPr>
          <p:cNvPr id="1026" name="Picture 2" descr="5 herramientas gratis para crear mockups">
            <a:extLst>
              <a:ext uri="{FF2B5EF4-FFF2-40B4-BE49-F238E27FC236}">
                <a16:creationId xmlns:a16="http://schemas.microsoft.com/office/drawing/2014/main" id="{2018485D-3436-632D-45B1-F830E338C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8" y="1274751"/>
            <a:ext cx="3382126" cy="3072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6A9E850-6ADE-B7D6-CCD9-6BA54535A94B}"/>
              </a:ext>
            </a:extLst>
          </p:cNvPr>
          <p:cNvSpPr txBox="1"/>
          <p:nvPr/>
        </p:nvSpPr>
        <p:spPr>
          <a:xfrm>
            <a:off x="683748" y="2388582"/>
            <a:ext cx="5922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Sketch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B25D716-97B2-C769-BDFA-0F283E36FE76}"/>
              </a:ext>
            </a:extLst>
          </p:cNvPr>
          <p:cNvSpPr txBox="1"/>
          <p:nvPr/>
        </p:nvSpPr>
        <p:spPr>
          <a:xfrm>
            <a:off x="7774383" y="1324230"/>
            <a:ext cx="9139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Wireframes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8EA99DB-BB7A-8D04-1EB4-D2EB27B51CE4}"/>
              </a:ext>
            </a:extLst>
          </p:cNvPr>
          <p:cNvSpPr txBox="1"/>
          <p:nvPr/>
        </p:nvSpPr>
        <p:spPr>
          <a:xfrm>
            <a:off x="3791744" y="5421462"/>
            <a:ext cx="752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Mockups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8D6A1FF-2B4A-33DB-4460-1B4209E143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950" y="4187846"/>
            <a:ext cx="3812544" cy="255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21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C2FBCA4-01FD-4D67-8E73-9A28A97A2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33" y="1340768"/>
            <a:ext cx="6353175" cy="381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FF62680-9F29-4513-B9F0-57B40D9C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Tkinter</a:t>
            </a:r>
            <a:r>
              <a:rPr lang="de-DE" dirty="0"/>
              <a:t> Widgets Überblick</a:t>
            </a:r>
          </a:p>
        </p:txBody>
      </p:sp>
      <p:pic>
        <p:nvPicPr>
          <p:cNvPr id="1030" name="Picture 6" descr="Using scrolled text widgets | Python GUI Programming Cookbook - Second  Edition">
            <a:extLst>
              <a:ext uri="{FF2B5EF4-FFF2-40B4-BE49-F238E27FC236}">
                <a16:creationId xmlns:a16="http://schemas.microsoft.com/office/drawing/2014/main" id="{A4443BF8-18E8-427C-AE62-D1F41598F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400" y="4804208"/>
            <a:ext cx="2952328" cy="2053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kinter Listbox">
            <a:extLst>
              <a:ext uri="{FF2B5EF4-FFF2-40B4-BE49-F238E27FC236}">
                <a16:creationId xmlns:a16="http://schemas.microsoft.com/office/drawing/2014/main" id="{14CE9F97-DD3D-45EB-B925-B46DD2224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5303410"/>
            <a:ext cx="1958715" cy="127995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egende: mit gebogener Linie 13">
            <a:extLst>
              <a:ext uri="{FF2B5EF4-FFF2-40B4-BE49-F238E27FC236}">
                <a16:creationId xmlns:a16="http://schemas.microsoft.com/office/drawing/2014/main" id="{AB680613-8C90-4181-BC35-4A28FE1D2488}"/>
              </a:ext>
            </a:extLst>
          </p:cNvPr>
          <p:cNvSpPr/>
          <p:nvPr/>
        </p:nvSpPr>
        <p:spPr>
          <a:xfrm>
            <a:off x="8763325" y="2907315"/>
            <a:ext cx="1224136" cy="37688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4937"/>
              <a:gd name="adj6" fmla="val -115045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tk.Frame</a:t>
            </a:r>
          </a:p>
        </p:txBody>
      </p:sp>
      <p:sp>
        <p:nvSpPr>
          <p:cNvPr id="10" name="Legende: mit gebogener Linie 9">
            <a:extLst>
              <a:ext uri="{FF2B5EF4-FFF2-40B4-BE49-F238E27FC236}">
                <a16:creationId xmlns:a16="http://schemas.microsoft.com/office/drawing/2014/main" id="{85D70183-AEFB-48ED-86A8-7BC344192FF8}"/>
              </a:ext>
            </a:extLst>
          </p:cNvPr>
          <p:cNvSpPr/>
          <p:nvPr/>
        </p:nvSpPr>
        <p:spPr>
          <a:xfrm>
            <a:off x="4184949" y="5943386"/>
            <a:ext cx="1301823" cy="37688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6783"/>
              <a:gd name="adj6" fmla="val -25843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tk.Scrollbar</a:t>
            </a:r>
          </a:p>
        </p:txBody>
      </p:sp>
      <p:sp>
        <p:nvSpPr>
          <p:cNvPr id="11" name="Legende: mit gebogener Linie 10">
            <a:extLst>
              <a:ext uri="{FF2B5EF4-FFF2-40B4-BE49-F238E27FC236}">
                <a16:creationId xmlns:a16="http://schemas.microsoft.com/office/drawing/2014/main" id="{81000EE2-DCC6-4B53-8205-A71F3F5A8541}"/>
              </a:ext>
            </a:extLst>
          </p:cNvPr>
          <p:cNvSpPr/>
          <p:nvPr/>
        </p:nvSpPr>
        <p:spPr>
          <a:xfrm>
            <a:off x="4177419" y="5391661"/>
            <a:ext cx="1089501" cy="37688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53966"/>
              <a:gd name="adj6" fmla="val -94430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tk.Listbox</a:t>
            </a:r>
          </a:p>
        </p:txBody>
      </p:sp>
      <p:sp>
        <p:nvSpPr>
          <p:cNvPr id="12" name="Legende: mit gebogener Linie 11">
            <a:extLst>
              <a:ext uri="{FF2B5EF4-FFF2-40B4-BE49-F238E27FC236}">
                <a16:creationId xmlns:a16="http://schemas.microsoft.com/office/drawing/2014/main" id="{E72AC3BD-4891-4E8B-931E-8FE28763960D}"/>
              </a:ext>
            </a:extLst>
          </p:cNvPr>
          <p:cNvSpPr/>
          <p:nvPr/>
        </p:nvSpPr>
        <p:spPr>
          <a:xfrm>
            <a:off x="8784150" y="2025581"/>
            <a:ext cx="1224136" cy="37688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2898"/>
              <a:gd name="adj6" fmla="val -66263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tk.Button</a:t>
            </a:r>
          </a:p>
        </p:txBody>
      </p:sp>
      <p:sp>
        <p:nvSpPr>
          <p:cNvPr id="13" name="Legende: mit gebogener Linie 12">
            <a:extLst>
              <a:ext uri="{FF2B5EF4-FFF2-40B4-BE49-F238E27FC236}">
                <a16:creationId xmlns:a16="http://schemas.microsoft.com/office/drawing/2014/main" id="{415A8379-8700-4805-BFFA-576054AAA63B}"/>
              </a:ext>
            </a:extLst>
          </p:cNvPr>
          <p:cNvSpPr/>
          <p:nvPr/>
        </p:nvSpPr>
        <p:spPr>
          <a:xfrm>
            <a:off x="3611724" y="1305515"/>
            <a:ext cx="1224136" cy="37688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0956"/>
              <a:gd name="adj6" fmla="val -108948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tk.Menu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EDCFFA-DE58-4868-A9A0-710A10309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193" y="3429001"/>
            <a:ext cx="256222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Legende: mit gebogener Linie 14">
            <a:extLst>
              <a:ext uri="{FF2B5EF4-FFF2-40B4-BE49-F238E27FC236}">
                <a16:creationId xmlns:a16="http://schemas.microsoft.com/office/drawing/2014/main" id="{6D8F9D3F-A753-45E9-ABCD-8F404C8F1C78}"/>
              </a:ext>
            </a:extLst>
          </p:cNvPr>
          <p:cNvSpPr/>
          <p:nvPr/>
        </p:nvSpPr>
        <p:spPr>
          <a:xfrm>
            <a:off x="8784150" y="1229194"/>
            <a:ext cx="1224136" cy="37688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40878"/>
              <a:gd name="adj6" fmla="val -263338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/>
              <a:t>tk.Label</a:t>
            </a:r>
          </a:p>
        </p:txBody>
      </p:sp>
    </p:spTree>
    <p:extLst>
      <p:ext uri="{BB962C8B-B14F-4D97-AF65-F5344CB8AC3E}">
        <p14:creationId xmlns:p14="http://schemas.microsoft.com/office/powerpoint/2010/main" val="3843492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62ED7D-DECD-4277-BB7C-6D8F7CB06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616" y="152272"/>
            <a:ext cx="7283152" cy="1143000"/>
          </a:xfrm>
        </p:spPr>
        <p:txBody>
          <a:bodyPr>
            <a:normAutofit fontScale="90000"/>
          </a:bodyPr>
          <a:lstStyle/>
          <a:p>
            <a:r>
              <a:rPr lang="de-DE"/>
              <a:t>Grundaufbau einer </a:t>
            </a:r>
            <a:br>
              <a:rPr lang="de-DE"/>
            </a:br>
            <a:r>
              <a:rPr lang="de-DE"/>
              <a:t>Applikation mit </a:t>
            </a:r>
            <a:r>
              <a:rPr lang="de-DE" sz="4000" b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endParaRPr lang="de-DE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404A3A-9B5C-4865-936B-39FE8ECF0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351664"/>
            <a:ext cx="11881320" cy="3301472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de-DE" dirty="0"/>
              <a:t>Modul </a:t>
            </a:r>
            <a:r>
              <a:rPr lang="de-DE" dirty="0" err="1"/>
              <a:t>Tkinter</a:t>
            </a:r>
            <a:r>
              <a:rPr lang="de-DE" dirty="0"/>
              <a:t> importieren z.B.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</a:p>
          <a:p>
            <a:pPr marL="514350" indent="-514350">
              <a:buFont typeface="+mj-lt"/>
              <a:buAutoNum type="arabicParenR"/>
            </a:pPr>
            <a:r>
              <a:rPr lang="de-DE" dirty="0" err="1"/>
              <a:t>Tk</a:t>
            </a:r>
            <a:r>
              <a:rPr lang="de-DE" dirty="0"/>
              <a:t>-Objekt erzeugen (das Hauptfenster):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514350" indent="-514350">
              <a:buFont typeface="+mj-lt"/>
              <a:buAutoNum type="arabicParenR"/>
            </a:pPr>
            <a:r>
              <a:rPr lang="de-DE" dirty="0"/>
              <a:t>Widget-Objekte und dazugehörige Events (z.B. was passiert beim Klick) erzeugen</a:t>
            </a:r>
          </a:p>
          <a:p>
            <a:pPr marL="514350" indent="-514350">
              <a:buFont typeface="+mj-lt"/>
              <a:buAutoNum type="arabicParenR"/>
            </a:pPr>
            <a:r>
              <a:rPr lang="de-DE" dirty="0"/>
              <a:t>Widgets </a:t>
            </a:r>
            <a:r>
              <a:rPr lang="de-DE" dirty="0" err="1"/>
              <a:t>postionieren</a:t>
            </a:r>
            <a:r>
              <a:rPr lang="de-DE" dirty="0"/>
              <a:t> (mit .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de-DE" dirty="0"/>
              <a:t>, .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pack</a:t>
            </a:r>
            <a:r>
              <a:rPr lang="de-DE" dirty="0"/>
              <a:t> oder .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de-DE" dirty="0"/>
              <a:t>)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dirty="0">
                <a:sym typeface="Wingdings" panose="05000000000000000000" pitchFamily="2" charset="2"/>
              </a:rPr>
              <a:t> Pixelgenaues Platzieren der Widgets mit x- und y-Koordinate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.pack() 	</a:t>
            </a:r>
            <a:r>
              <a:rPr lang="de-DE" dirty="0">
                <a:sym typeface="Wingdings" panose="05000000000000000000" pitchFamily="2" charset="2"/>
              </a:rPr>
              <a:t> Automatisches vertikales Verteilen der Widgets im Fenster</a:t>
            </a:r>
          </a:p>
          <a:p>
            <a:pPr marL="914400" lvl="1" indent="-514350">
              <a:buFont typeface="Arial" panose="020B0604020202020204" pitchFamily="34" charset="0"/>
              <a:buChar char="•"/>
            </a:pP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(spalte,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zeile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dirty="0">
                <a:sym typeface="Wingdings" panose="05000000000000000000" pitchFamily="2" charset="2"/>
              </a:rPr>
              <a:t> Platzieren der Widgets in einer Tabelle</a:t>
            </a:r>
            <a:endParaRPr lang="de-DE" dirty="0"/>
          </a:p>
          <a:p>
            <a:pPr marL="514350" indent="-514350">
              <a:buFont typeface="+mj-lt"/>
              <a:buAutoNum type="arabicParenR"/>
            </a:pP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win.mainloop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/>
              <a:t>damit das Programm nach dem Zeichnen der GUI dort anhält, und auf "Events" reagiert (die so genannte Event-Loop), z.B. Schließen des Fensters oder Klicken eines Buttons etc. Ohne .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mainloop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/>
              <a:t>würde das Programm enden und das Fenster schließen!</a:t>
            </a:r>
          </a:p>
          <a:p>
            <a:pPr lvl="1"/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B620826-2287-47FD-332D-0CAE12FF8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710674"/>
            <a:ext cx="9144000" cy="199505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12206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58267-03C2-4635-8DAA-791C8E79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7608" y="274638"/>
            <a:ext cx="7992888" cy="1143000"/>
          </a:xfrm>
        </p:spPr>
        <p:txBody>
          <a:bodyPr>
            <a:normAutofit/>
          </a:bodyPr>
          <a:lstStyle/>
          <a:p>
            <a:r>
              <a:rPr lang="de-DE"/>
              <a:t>Tk-Fenster und Button erzeugen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9C148F-D0FF-4920-9037-C4FC500ED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443881"/>
            <a:ext cx="11665296" cy="2764903"/>
          </a:xfrm>
        </p:spPr>
        <p:txBody>
          <a:bodyPr>
            <a:normAutofit fontScale="62500" lnSpcReduction="20000"/>
          </a:bodyPr>
          <a:lstStyle/>
          <a:p>
            <a:r>
              <a:rPr lang="de-DE" dirty="0"/>
              <a:t>Empfehlung: Mit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de-DE" dirty="0"/>
              <a:t>sämtliche Klassen und Methoden des Moduls importieren</a:t>
            </a:r>
          </a:p>
          <a:p>
            <a:r>
              <a:rPr lang="de-DE" dirty="0"/>
              <a:t>Nach Erzeugen eines Fensters mit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/>
              <a:t>lassen sich Methoden zum anpassen aufrufen (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.title() </a:t>
            </a:r>
            <a:r>
              <a:rPr lang="de-DE" dirty="0"/>
              <a:t>und 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wm_geometry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dirty="0"/>
              <a:t>)</a:t>
            </a:r>
          </a:p>
          <a:p>
            <a:r>
              <a:rPr lang="de-DE" dirty="0"/>
              <a:t>Für das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dirty="0"/>
              <a:t>-Objekt (das Fenster) sind Namen wie 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de-DE" dirty="0"/>
              <a:t>,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</a:t>
            </a:r>
            <a:r>
              <a:rPr lang="de-DE" dirty="0"/>
              <a:t> oder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dirty="0"/>
              <a:t> üblich.</a:t>
            </a:r>
          </a:p>
          <a:p>
            <a:r>
              <a:rPr lang="de-DE" dirty="0"/>
              <a:t>Mit 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Button() </a:t>
            </a:r>
            <a:r>
              <a:rPr lang="de-DE" dirty="0"/>
              <a:t>erzeugt man einen Button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btnClose</a:t>
            </a:r>
            <a:r>
              <a:rPr lang="de-DE" dirty="0"/>
              <a:t> der hier mit der Methode 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sz="3100" dirty="0"/>
              <a:t>mit x/y-Koordinate </a:t>
            </a:r>
            <a:r>
              <a:rPr lang="de-DE" dirty="0"/>
              <a:t>im Fenster positioniert wird.</a:t>
            </a:r>
          </a:p>
          <a:p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window.mainloop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dirty="0"/>
              <a:t>zeichnet das GUI und wartet dann auf Events (in unserem Beispiel auf den Button-Klick)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1164FE5-6FA3-452B-B31E-85E00F8F42E9}"/>
              </a:ext>
            </a:extLst>
          </p:cNvPr>
          <p:cNvSpPr txBox="1"/>
          <p:nvPr/>
        </p:nvSpPr>
        <p:spPr>
          <a:xfrm>
            <a:off x="2083523" y="4077072"/>
            <a:ext cx="8024954" cy="267765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4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 </a:t>
            </a:r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de-DE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komplett importieren</a:t>
            </a:r>
          </a:p>
          <a:p>
            <a:endParaRPr lang="de-DE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  </a:t>
            </a:r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Neues </a:t>
            </a:r>
            <a:r>
              <a:rPr lang="de-DE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()-Objekt (Fenster)</a:t>
            </a:r>
          </a:p>
          <a:p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win.title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de-DE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Meine Applikation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       </a:t>
            </a:r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Fenster-Titel</a:t>
            </a:r>
          </a:p>
          <a:p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win.wm_geometry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de-DE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400x200+500+400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  </a:t>
            </a:r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Fenstergröße und -position</a:t>
            </a:r>
          </a:p>
          <a:p>
            <a:endParaRPr lang="de-DE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btnClose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Button(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de-DE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Beenden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window.destroy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Button mit Aufruf der Methode .</a:t>
            </a:r>
            <a:r>
              <a:rPr lang="de-DE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destroy</a:t>
            </a:r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endParaRPr lang="de-DE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btnClose.place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(x=160, y=80)</a:t>
            </a:r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Button-Position mit .</a:t>
            </a:r>
            <a:r>
              <a:rPr lang="de-DE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genau festlegen</a:t>
            </a:r>
          </a:p>
          <a:p>
            <a:endParaRPr lang="de-DE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win.mainloop</a:t>
            </a:r>
            <a: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  </a:t>
            </a:r>
            <a:r>
              <a:rPr lang="de-DE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Programm stoppen, GUI zeichnen und Events abwarten</a:t>
            </a:r>
          </a:p>
        </p:txBody>
      </p:sp>
    </p:spTree>
    <p:extLst>
      <p:ext uri="{BB962C8B-B14F-4D97-AF65-F5344CB8AC3E}">
        <p14:creationId xmlns:p14="http://schemas.microsoft.com/office/powerpoint/2010/main" val="870763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5D512-F02A-4A51-A0A6-D10A3684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Tk-Fenster mit Button und</a:t>
            </a:r>
            <a:br>
              <a:rPr lang="de-DE"/>
            </a:br>
            <a:r>
              <a:rPr lang="de-DE"/>
              <a:t>formatiertem Textfeld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AE6E6D-D831-421B-9044-61487AF39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417638"/>
            <a:ext cx="11665296" cy="2011362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Das Widget 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Entry() </a:t>
            </a:r>
            <a:r>
              <a:rPr lang="de-DE" dirty="0"/>
              <a:t>kann zur einzeiligen Texteingabe und –Ausgabe genutzt werden.</a:t>
            </a:r>
          </a:p>
          <a:p>
            <a:r>
              <a:rPr lang="de-DE" dirty="0"/>
              <a:t>Beim Erzeugen des leeren Textfelds kann man die Breite in Zeichen angeben, sowie die Ausrichtung: 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Entry(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=20,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justify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3F18B13-87A0-4073-8904-9CFF85FC24D8}"/>
              </a:ext>
            </a:extLst>
          </p:cNvPr>
          <p:cNvSpPr txBox="1"/>
          <p:nvPr/>
        </p:nvSpPr>
        <p:spPr>
          <a:xfrm>
            <a:off x="2423592" y="3356992"/>
            <a:ext cx="7416824" cy="34778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1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  </a:t>
            </a:r>
            <a:r>
              <a:rPr lang="de-DE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Alle Methoden und Klassen importieren</a:t>
            </a:r>
          </a:p>
          <a:p>
            <a:endParaRPr lang="de-DE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1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1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klick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():    </a:t>
            </a:r>
            <a:r>
              <a:rPr lang="de-DE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Prozedur zum Text einfügen, wird vom Button aufgerufen</a:t>
            </a:r>
          </a:p>
          <a:p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entry.insert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(END, "</a:t>
            </a:r>
            <a:r>
              <a:rPr lang="de-DE" sz="11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Hallo Welt"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de-DE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Ausgabe</a:t>
            </a:r>
          </a:p>
          <a:p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  </a:t>
            </a:r>
            <a:r>
              <a:rPr lang="de-DE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Fenster erzeugen</a:t>
            </a:r>
          </a:p>
          <a:p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win.title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de-DE" sz="11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Spezialanwendung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 </a:t>
            </a:r>
            <a:r>
              <a:rPr lang="de-DE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Titel mit title()-Methode zuweisen</a:t>
            </a:r>
          </a:p>
          <a:p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win.wm_geometry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de-DE" sz="11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300x100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    </a:t>
            </a:r>
            <a:r>
              <a:rPr lang="de-DE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Größe angeben</a:t>
            </a:r>
          </a:p>
          <a:p>
            <a:endParaRPr lang="de-DE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Entry(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=20, 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justify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 </a:t>
            </a:r>
            <a:r>
              <a:rPr lang="de-DE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20 Zeichen breit, zentriert </a:t>
            </a:r>
          </a:p>
          <a:p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entry.configure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=("</a:t>
            </a:r>
            <a:r>
              <a:rPr lang="de-DE" sz="11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Calibri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14))    </a:t>
            </a:r>
            <a:r>
              <a:rPr lang="de-DE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Schriftart im Textfeld</a:t>
            </a:r>
          </a:p>
          <a:p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entry.pack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=20)  </a:t>
            </a:r>
            <a:r>
              <a:rPr lang="de-DE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Layout-Manager "pack" mit 20px vertikalem "</a:t>
            </a:r>
            <a:r>
              <a:rPr lang="de-DE" sz="11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padding</a:t>
            </a:r>
            <a:r>
              <a:rPr lang="de-DE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endParaRPr lang="de-DE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Button(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de-DE" sz="11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Klick mich, Du Nase!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klick)</a:t>
            </a:r>
          </a:p>
          <a:p>
            <a:r>
              <a:rPr lang="de-DE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Button mit Aufruf des Commandos (Prozedur) klick()</a:t>
            </a:r>
          </a:p>
          <a:p>
            <a:endParaRPr lang="de-DE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btn.pack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de-DE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Layout-Manager "pack" um den Button zu zeichnen</a:t>
            </a:r>
          </a:p>
          <a:p>
            <a:endParaRPr lang="de-DE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win.mainloop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de-DE" sz="11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BD86191-D709-314E-AB61-4D2C16AD6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249" y="5712254"/>
            <a:ext cx="2222773" cy="97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31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B5360-B9CF-3CC9-17A0-759EAC2CC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531" y="274638"/>
            <a:ext cx="8472941" cy="1143000"/>
          </a:xfrm>
        </p:spPr>
        <p:txBody>
          <a:bodyPr>
            <a:normAutofit fontScale="90000"/>
          </a:bodyPr>
          <a:lstStyle/>
          <a:p>
            <a:r>
              <a:rPr lang="de-DE" dirty="0"/>
              <a:t>Das Hauptfenster </a:t>
            </a:r>
            <a:r>
              <a:rPr lang="de-DE" b="1" dirty="0" err="1">
                <a:latin typeface="Consolas" panose="020B0609020204030204" pitchFamily="49" charset="0"/>
              </a:rPr>
              <a:t>Tk</a:t>
            </a:r>
            <a:r>
              <a:rPr lang="de-DE" b="1" dirty="0">
                <a:latin typeface="Consolas" panose="020B0609020204030204" pitchFamily="49" charset="0"/>
              </a:rPr>
              <a:t>() </a:t>
            </a:r>
            <a:r>
              <a:rPr lang="de-DE" dirty="0"/>
              <a:t>und seine aufrufbaren Methoden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EE9954-9E28-ADB2-9BC7-EBD084FE7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417638"/>
            <a:ext cx="11737304" cy="5440362"/>
          </a:xfrm>
        </p:spPr>
        <p:txBody>
          <a:bodyPr>
            <a:normAutofit fontScale="77500" lnSpcReduction="20000"/>
          </a:bodyPr>
          <a:lstStyle/>
          <a:p>
            <a:r>
              <a:rPr lang="de-DE" sz="2900" b="1" dirty="0" err="1">
                <a:latin typeface="Consolas" panose="020B0609020204030204" pitchFamily="49" charset="0"/>
              </a:rPr>
              <a:t>win</a:t>
            </a:r>
            <a:r>
              <a:rPr lang="de-DE" sz="2900" b="1" dirty="0">
                <a:latin typeface="Consolas" panose="020B0609020204030204" pitchFamily="49" charset="0"/>
              </a:rPr>
              <a:t> = </a:t>
            </a:r>
            <a:r>
              <a:rPr lang="de-DE" sz="2900" b="1" dirty="0" err="1">
                <a:latin typeface="Consolas" panose="020B0609020204030204" pitchFamily="49" charset="0"/>
              </a:rPr>
              <a:t>Tk</a:t>
            </a:r>
            <a:r>
              <a:rPr lang="de-DE" sz="2900" b="1" dirty="0">
                <a:latin typeface="Consolas" panose="020B0609020204030204" pitchFamily="49" charset="0"/>
              </a:rPr>
              <a:t>() </a:t>
            </a:r>
            <a:r>
              <a:rPr lang="de-DE" dirty="0">
                <a:sym typeface="Wingdings" panose="05000000000000000000" pitchFamily="2" charset="2"/>
              </a:rPr>
              <a:t> Erzeugt das Fensterobjekt</a:t>
            </a:r>
          </a:p>
          <a:p>
            <a:r>
              <a:rPr lang="de-DE" sz="29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win.title</a:t>
            </a:r>
            <a:r>
              <a:rPr lang="de-DE" sz="2900" b="1" dirty="0">
                <a:latin typeface="Consolas" panose="020B0609020204030204" pitchFamily="49" charset="0"/>
                <a:sym typeface="Wingdings" panose="05000000000000000000" pitchFamily="2" charset="2"/>
              </a:rPr>
              <a:t>("Applikation") </a:t>
            </a:r>
            <a:r>
              <a:rPr lang="de-DE" dirty="0">
                <a:sym typeface="Wingdings" panose="05000000000000000000" pitchFamily="2" charset="2"/>
              </a:rPr>
              <a:t> Der Fenstertitel</a:t>
            </a:r>
          </a:p>
          <a:p>
            <a:r>
              <a:rPr lang="de-DE" sz="31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win.wm_geometry</a:t>
            </a:r>
            <a:r>
              <a:rPr lang="de-DE" sz="3100" b="1" dirty="0">
                <a:latin typeface="Consolas" panose="020B0609020204030204" pitchFamily="49" charset="0"/>
                <a:sym typeface="Wingdings" panose="05000000000000000000" pitchFamily="2" charset="2"/>
              </a:rPr>
              <a:t>("300x200") </a:t>
            </a:r>
            <a:r>
              <a:rPr lang="de-DE" dirty="0">
                <a:sym typeface="Wingdings" panose="05000000000000000000" pitchFamily="2" charset="2"/>
              </a:rPr>
              <a:t> Bestimmt die Größe des Fensters in Pixeln</a:t>
            </a:r>
          </a:p>
          <a:p>
            <a:r>
              <a:rPr lang="fr-FR" sz="29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win.option_add</a:t>
            </a:r>
            <a:r>
              <a:rPr lang="fr-FR" sz="2900" b="1" dirty="0">
                <a:latin typeface="Consolas" panose="020B0609020204030204" pitchFamily="49" charset="0"/>
                <a:sym typeface="Wingdings" panose="05000000000000000000" pitchFamily="2" charset="2"/>
              </a:rPr>
              <a:t>("*font", "Calibri 12")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Legt</a:t>
            </a:r>
            <a:r>
              <a:rPr lang="fr-FR" dirty="0">
                <a:sym typeface="Wingdings" panose="05000000000000000000" pitchFamily="2" charset="2"/>
              </a:rPr>
              <a:t> den </a:t>
            </a:r>
            <a:r>
              <a:rPr lang="fr-FR" dirty="0" err="1">
                <a:sym typeface="Wingdings" panose="05000000000000000000" pitchFamily="2" charset="2"/>
              </a:rPr>
              <a:t>Standardfont</a:t>
            </a:r>
            <a:r>
              <a:rPr lang="fr-FR" dirty="0">
                <a:sym typeface="Wingdings" panose="05000000000000000000" pitchFamily="2" charset="2"/>
              </a:rPr>
              <a:t> des </a:t>
            </a:r>
            <a:r>
              <a:rPr lang="fr-FR" dirty="0" err="1">
                <a:sym typeface="Wingdings" panose="05000000000000000000" pitchFamily="2" charset="2"/>
              </a:rPr>
              <a:t>Fensters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fest</a:t>
            </a:r>
            <a:endParaRPr lang="fr-FR" dirty="0">
              <a:sym typeface="Wingdings" panose="05000000000000000000" pitchFamily="2" charset="2"/>
            </a:endParaRPr>
          </a:p>
          <a:p>
            <a:r>
              <a:rPr lang="en-US" sz="29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win.iconbitmap</a:t>
            </a:r>
            <a:r>
              <a:rPr lang="en-US" sz="2900" b="1" dirty="0">
                <a:latin typeface="Consolas" panose="020B0609020204030204" pitchFamily="49" charset="0"/>
                <a:sym typeface="Wingdings" panose="05000000000000000000" pitchFamily="2" charset="2"/>
              </a:rPr>
              <a:t>("myicon.ico") </a:t>
            </a:r>
            <a:r>
              <a:rPr lang="en-US" dirty="0">
                <a:sym typeface="Wingdings" panose="05000000000000000000" pitchFamily="2" charset="2"/>
              </a:rPr>
              <a:t> Feder-Icon </a:t>
            </a:r>
            <a:r>
              <a:rPr lang="en-US" dirty="0" err="1">
                <a:sym typeface="Wingdings" panose="05000000000000000000" pitchFamily="2" charset="2"/>
              </a:rPr>
              <a:t>austauschen</a:t>
            </a:r>
            <a:r>
              <a:rPr lang="en-US" dirty="0">
                <a:sym typeface="Wingdings" panose="05000000000000000000" pitchFamily="2" charset="2"/>
              </a:rPr>
              <a:t>, muss </a:t>
            </a:r>
            <a:r>
              <a:rPr lang="en-US" dirty="0" err="1">
                <a:sym typeface="Wingdings" panose="05000000000000000000" pitchFamily="2" charset="2"/>
              </a:rPr>
              <a:t>im</a:t>
            </a:r>
            <a:r>
              <a:rPr lang="en-US" dirty="0">
                <a:sym typeface="Wingdings" panose="05000000000000000000" pitchFamily="2" charset="2"/>
              </a:rPr>
              <a:t> .</a:t>
            </a:r>
            <a:r>
              <a:rPr lang="en-US" dirty="0" err="1">
                <a:sym typeface="Wingdings" panose="05000000000000000000" pitchFamily="2" charset="2"/>
              </a:rPr>
              <a:t>ico</a:t>
            </a:r>
            <a:r>
              <a:rPr lang="en-US" dirty="0">
                <a:sym typeface="Wingdings" panose="05000000000000000000" pitchFamily="2" charset="2"/>
              </a:rPr>
              <a:t> – Format (24-Bit Bitmap </a:t>
            </a:r>
            <a:r>
              <a:rPr lang="en-US" dirty="0" err="1">
                <a:sym typeface="Wingdings" panose="05000000000000000000" pitchFamily="2" charset="2"/>
              </a:rPr>
              <a:t>umbenannt</a:t>
            </a:r>
            <a:r>
              <a:rPr lang="en-US" dirty="0">
                <a:sym typeface="Wingdings" panose="05000000000000000000" pitchFamily="2" charset="2"/>
              </a:rPr>
              <a:t>) </a:t>
            </a:r>
            <a:r>
              <a:rPr lang="en-US" dirty="0" err="1">
                <a:sym typeface="Wingdings" panose="05000000000000000000" pitchFamily="2" charset="2"/>
              </a:rPr>
              <a:t>vorliegen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sollte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quadratisch</a:t>
            </a:r>
            <a:r>
              <a:rPr lang="en-US" dirty="0">
                <a:sym typeface="Wingdings" panose="05000000000000000000" pitchFamily="2" charset="2"/>
              </a:rPr>
              <a:t> sein</a:t>
            </a:r>
          </a:p>
          <a:p>
            <a:r>
              <a:rPr lang="en-US" sz="29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win.resizable</a:t>
            </a:r>
            <a:r>
              <a:rPr lang="en-US" sz="2900" b="1" dirty="0">
                <a:latin typeface="Consolas" panose="020B0609020204030204" pitchFamily="49" charset="0"/>
                <a:sym typeface="Wingdings" panose="05000000000000000000" pitchFamily="2" charset="2"/>
              </a:rPr>
              <a:t>(width=False, height=False) </a:t>
            </a:r>
            <a:r>
              <a:rPr lang="en-US" sz="3100" dirty="0">
                <a:sym typeface="Wingdings" panose="05000000000000000000" pitchFamily="2" charset="2"/>
              </a:rPr>
              <a:t> </a:t>
            </a:r>
            <a:r>
              <a:rPr lang="en-US" sz="3100" dirty="0" err="1">
                <a:sym typeface="Wingdings" panose="05000000000000000000" pitchFamily="2" charset="2"/>
              </a:rPr>
              <a:t>Schränkt</a:t>
            </a:r>
            <a:r>
              <a:rPr lang="en-US" sz="3100" dirty="0">
                <a:sym typeface="Wingdings" panose="05000000000000000000" pitchFamily="2" charset="2"/>
              </a:rPr>
              <a:t> die </a:t>
            </a:r>
            <a:r>
              <a:rPr lang="en-US" sz="3100" dirty="0" err="1">
                <a:sym typeface="Wingdings" panose="05000000000000000000" pitchFamily="2" charset="2"/>
              </a:rPr>
              <a:t>Größen-Veränderbarkeit</a:t>
            </a:r>
            <a:r>
              <a:rPr lang="en-US" sz="3100" dirty="0">
                <a:sym typeface="Wingdings" panose="05000000000000000000" pitchFamily="2" charset="2"/>
              </a:rPr>
              <a:t> des Fensters in </a:t>
            </a:r>
            <a:r>
              <a:rPr lang="en-US" sz="3100" dirty="0" err="1">
                <a:sym typeface="Wingdings" panose="05000000000000000000" pitchFamily="2" charset="2"/>
              </a:rPr>
              <a:t>Breite</a:t>
            </a:r>
            <a:r>
              <a:rPr lang="en-US" sz="3100" dirty="0">
                <a:sym typeface="Wingdings" panose="05000000000000000000" pitchFamily="2" charset="2"/>
              </a:rPr>
              <a:t> und/</a:t>
            </a:r>
            <a:r>
              <a:rPr lang="en-US" sz="3100" dirty="0" err="1">
                <a:sym typeface="Wingdings" panose="05000000000000000000" pitchFamily="2" charset="2"/>
              </a:rPr>
              <a:t>oder</a:t>
            </a:r>
            <a:r>
              <a:rPr lang="en-US" sz="3100" dirty="0">
                <a:sym typeface="Wingdings" panose="05000000000000000000" pitchFamily="2" charset="2"/>
              </a:rPr>
              <a:t> </a:t>
            </a:r>
            <a:r>
              <a:rPr lang="en-US" sz="3100" dirty="0" err="1">
                <a:sym typeface="Wingdings" panose="05000000000000000000" pitchFamily="2" charset="2"/>
              </a:rPr>
              <a:t>Höhe</a:t>
            </a:r>
            <a:r>
              <a:rPr lang="en-US" sz="3100" dirty="0">
                <a:sym typeface="Wingdings" panose="05000000000000000000" pitchFamily="2" charset="2"/>
              </a:rPr>
              <a:t> </a:t>
            </a:r>
            <a:r>
              <a:rPr lang="en-US" sz="3100" dirty="0" err="1">
                <a:sym typeface="Wingdings" panose="05000000000000000000" pitchFamily="2" charset="2"/>
              </a:rPr>
              <a:t>ein</a:t>
            </a:r>
            <a:endParaRPr lang="en-US" sz="31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Fenster-</a:t>
            </a:r>
            <a:r>
              <a:rPr lang="en-US" dirty="0" err="1">
                <a:sym typeface="Wingdings" panose="05000000000000000000" pitchFamily="2" charset="2"/>
              </a:rPr>
              <a:t>Eigenschaften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festlegen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en-US" sz="29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win.wm_attributes</a:t>
            </a:r>
            <a:r>
              <a:rPr lang="en-US" sz="2900" b="1" dirty="0">
                <a:latin typeface="Consolas" panose="020B0609020204030204" pitchFamily="49" charset="0"/>
                <a:sym typeface="Wingdings" panose="05000000000000000000" pitchFamily="2" charset="2"/>
              </a:rPr>
              <a:t>('-</a:t>
            </a:r>
            <a:r>
              <a:rPr lang="en-US" sz="29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toolwindow</a:t>
            </a:r>
            <a:r>
              <a:rPr lang="en-US" sz="2900" b="1" dirty="0">
                <a:latin typeface="Consolas" panose="020B0609020204030204" pitchFamily="49" charset="0"/>
                <a:sym typeface="Wingdings" panose="05000000000000000000" pitchFamily="2" charset="2"/>
              </a:rPr>
              <a:t>', 'True') </a:t>
            </a:r>
            <a:br>
              <a:rPr lang="en-US" sz="2900" b="1" dirty="0">
                <a:latin typeface="Consolas" panose="020B0609020204030204" pitchFamily="49" charset="0"/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 Fenster </a:t>
            </a:r>
            <a:r>
              <a:rPr lang="en-US" dirty="0" err="1">
                <a:sym typeface="Wingdings" panose="05000000000000000000" pitchFamily="2" charset="2"/>
              </a:rPr>
              <a:t>nur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mit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Schließsymbol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sz="29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win.wm_attributes</a:t>
            </a:r>
            <a:r>
              <a:rPr lang="en-US" sz="2900" b="1" dirty="0">
                <a:latin typeface="Consolas" panose="020B0609020204030204" pitchFamily="49" charset="0"/>
                <a:sym typeface="Wingdings" panose="05000000000000000000" pitchFamily="2" charset="2"/>
              </a:rPr>
              <a:t>('-topmost', 'True') </a:t>
            </a:r>
            <a:br>
              <a:rPr lang="en-US" sz="2900" b="1" dirty="0">
                <a:latin typeface="Consolas" panose="020B0609020204030204" pitchFamily="49" charset="0"/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 Fenster </a:t>
            </a:r>
            <a:r>
              <a:rPr lang="en-US" dirty="0" err="1">
                <a:sym typeface="Wingdings" panose="05000000000000000000" pitchFamily="2" charset="2"/>
              </a:rPr>
              <a:t>immer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im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Vordergrund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sz="29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win.wm_attributes</a:t>
            </a:r>
            <a:r>
              <a:rPr lang="en-US" sz="2900" b="1" dirty="0">
                <a:latin typeface="Consolas" panose="020B0609020204030204" pitchFamily="49" charset="0"/>
                <a:sym typeface="Wingdings" panose="05000000000000000000" pitchFamily="2" charset="2"/>
              </a:rPr>
              <a:t>('-</a:t>
            </a:r>
            <a:r>
              <a:rPr lang="en-US" sz="29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fullscreen</a:t>
            </a:r>
            <a:r>
              <a:rPr lang="en-US" sz="2900" b="1" dirty="0">
                <a:latin typeface="Consolas" panose="020B0609020204030204" pitchFamily="49" charset="0"/>
                <a:sym typeface="Wingdings" panose="05000000000000000000" pitchFamily="2" charset="2"/>
              </a:rPr>
              <a:t>', 'True') </a:t>
            </a:r>
            <a:br>
              <a:rPr lang="en-US" sz="2900" b="1" dirty="0">
                <a:latin typeface="Consolas" panose="020B0609020204030204" pitchFamily="49" charset="0"/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 Fenster </a:t>
            </a:r>
            <a:r>
              <a:rPr lang="en-US" dirty="0" err="1">
                <a:sym typeface="Wingdings" panose="05000000000000000000" pitchFamily="2" charset="2"/>
              </a:rPr>
              <a:t>im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Vollbild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016F328-331D-67F2-4678-910E9926E9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29" b="60222"/>
          <a:stretch/>
        </p:blipFill>
        <p:spPr>
          <a:xfrm>
            <a:off x="7857522" y="5140104"/>
            <a:ext cx="2376264" cy="60051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6FFF1A0-5390-E488-CC06-B26A2C4461E4}"/>
              </a:ext>
            </a:extLst>
          </p:cNvPr>
          <p:cNvSpPr txBox="1"/>
          <p:nvPr/>
        </p:nvSpPr>
        <p:spPr>
          <a:xfrm>
            <a:off x="8544272" y="5740620"/>
            <a:ext cx="12073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Ein "</a:t>
            </a:r>
            <a:r>
              <a:rPr lang="de-DE" sz="1100" dirty="0" err="1"/>
              <a:t>Toolwindow</a:t>
            </a:r>
            <a:r>
              <a:rPr lang="de-DE" sz="11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933227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84A912-7786-0B47-0F03-DBC5330D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544" y="116632"/>
            <a:ext cx="8615444" cy="994122"/>
          </a:xfrm>
        </p:spPr>
        <p:txBody>
          <a:bodyPr>
            <a:noAutofit/>
          </a:bodyPr>
          <a:lstStyle/>
          <a:p>
            <a:r>
              <a:rPr lang="de-DE" sz="3600" dirty="0"/>
              <a:t>Die Widget-Klassen</a:t>
            </a:r>
            <a:br>
              <a:rPr lang="de-DE" sz="3600" dirty="0"/>
            </a:br>
            <a:r>
              <a:rPr lang="de-DE" sz="3600" dirty="0"/>
              <a:t> </a:t>
            </a:r>
            <a:r>
              <a:rPr lang="de-DE" sz="3600" b="1" dirty="0"/>
              <a:t>Label</a:t>
            </a:r>
            <a:r>
              <a:rPr lang="de-DE" sz="3600" dirty="0"/>
              <a:t>(), </a:t>
            </a:r>
            <a:r>
              <a:rPr lang="de-DE" sz="3600" b="1" dirty="0"/>
              <a:t>Entry</a:t>
            </a:r>
            <a:r>
              <a:rPr lang="de-DE" sz="3600" dirty="0"/>
              <a:t>() und </a:t>
            </a:r>
            <a:r>
              <a:rPr lang="de-DE" sz="3600" b="1" dirty="0"/>
              <a:t>Button</a:t>
            </a:r>
            <a:r>
              <a:rPr lang="de-DE" sz="3600" dirty="0"/>
              <a:t>()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3B23B5-2E4A-ED21-F3B0-BC6701217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268760"/>
            <a:ext cx="11737304" cy="5616624"/>
          </a:xfrm>
        </p:spPr>
        <p:txBody>
          <a:bodyPr>
            <a:normAutofit fontScale="77500" lnSpcReduction="20000"/>
          </a:bodyPr>
          <a:lstStyle/>
          <a:p>
            <a:r>
              <a:rPr lang="de-DE" sz="2400" b="1" dirty="0">
                <a:latin typeface="Consolas" panose="020B0609020204030204" pitchFamily="49" charset="0"/>
              </a:rPr>
              <a:t>Label(</a:t>
            </a:r>
            <a:r>
              <a:rPr lang="de-DE" sz="2400" b="1" dirty="0" err="1">
                <a:latin typeface="Consolas" panose="020B0609020204030204" pitchFamily="49" charset="0"/>
              </a:rPr>
              <a:t>win</a:t>
            </a:r>
            <a:r>
              <a:rPr lang="de-DE" sz="2400" b="1" dirty="0">
                <a:latin typeface="Consolas" panose="020B0609020204030204" pitchFamily="49" charset="0"/>
              </a:rPr>
              <a:t>, …) </a:t>
            </a:r>
            <a:r>
              <a:rPr lang="de-DE" sz="2800" dirty="0"/>
              <a:t>kann man für Beschriftungen nutzen, mögliche Argumente sind:</a:t>
            </a:r>
          </a:p>
          <a:p>
            <a:pPr lvl="1"/>
            <a:r>
              <a:rPr lang="de-DE" sz="2000" b="1" dirty="0" err="1">
                <a:latin typeface="Consolas" panose="020B0609020204030204" pitchFamily="49" charset="0"/>
              </a:rPr>
              <a:t>text</a:t>
            </a:r>
            <a:r>
              <a:rPr lang="de-DE" sz="2000" b="1" dirty="0">
                <a:latin typeface="Consolas" panose="020B0609020204030204" pitchFamily="49" charset="0"/>
              </a:rPr>
              <a:t> = "</a:t>
            </a:r>
            <a:r>
              <a:rPr lang="de-DE" sz="2000" b="1" dirty="0" err="1">
                <a:latin typeface="Consolas" panose="020B0609020204030204" pitchFamily="49" charset="0"/>
              </a:rPr>
              <a:t>Labeltext</a:t>
            </a:r>
            <a:r>
              <a:rPr lang="de-DE" sz="2000" b="1" dirty="0">
                <a:latin typeface="Consolas" panose="020B0609020204030204" pitchFamily="49" charset="0"/>
              </a:rPr>
              <a:t>" </a:t>
            </a:r>
            <a:r>
              <a:rPr lang="de-DE" sz="2400" dirty="0">
                <a:sym typeface="Wingdings" panose="05000000000000000000" pitchFamily="2" charset="2"/>
              </a:rPr>
              <a:t> Der Text der angezeigt wird</a:t>
            </a:r>
          </a:p>
          <a:p>
            <a:pPr lvl="1"/>
            <a:r>
              <a:rPr lang="de-DE" sz="20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font</a:t>
            </a:r>
            <a:r>
              <a:rPr lang="de-DE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 = "Arial 11 </a:t>
            </a:r>
            <a:r>
              <a:rPr lang="de-DE" sz="20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bold</a:t>
            </a:r>
            <a:r>
              <a:rPr lang="de-DE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" </a:t>
            </a:r>
            <a:r>
              <a:rPr lang="de-DE" sz="2400" dirty="0">
                <a:sym typeface="Wingdings" panose="05000000000000000000" pitchFamily="2" charset="2"/>
              </a:rPr>
              <a:t> Schriftart im Label</a:t>
            </a:r>
          </a:p>
          <a:p>
            <a:r>
              <a:rPr lang="de-DE" sz="2400" b="1" dirty="0">
                <a:latin typeface="Consolas" panose="020B0609020204030204" pitchFamily="49" charset="0"/>
                <a:sym typeface="Wingdings" panose="05000000000000000000" pitchFamily="2" charset="2"/>
              </a:rPr>
              <a:t>Entry(</a:t>
            </a:r>
            <a:r>
              <a:rPr lang="de-DE" sz="24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win</a:t>
            </a:r>
            <a:r>
              <a:rPr lang="de-DE" sz="2400" b="1" dirty="0">
                <a:latin typeface="Consolas" panose="020B0609020204030204" pitchFamily="49" charset="0"/>
                <a:sym typeface="Wingdings" panose="05000000000000000000" pitchFamily="2" charset="2"/>
              </a:rPr>
              <a:t>, …) </a:t>
            </a:r>
            <a:r>
              <a:rPr lang="de-DE" sz="2800" dirty="0">
                <a:sym typeface="Wingdings" panose="05000000000000000000" pitchFamily="2" charset="2"/>
              </a:rPr>
              <a:t>kann zur Ein- und Ausgabe genutzt werden</a:t>
            </a:r>
            <a:br>
              <a:rPr lang="de-DE" sz="2800" dirty="0">
                <a:sym typeface="Wingdings" panose="05000000000000000000" pitchFamily="2" charset="2"/>
              </a:rPr>
            </a:br>
            <a:r>
              <a:rPr lang="de-DE" sz="1600" b="1" dirty="0">
                <a:latin typeface="Consolas" panose="020B0609020204030204" pitchFamily="49" charset="0"/>
                <a:sym typeface="Wingdings" panose="05000000000000000000" pitchFamily="2" charset="2"/>
              </a:rPr>
              <a:t>Beispiel: entry1 = Entry(</a:t>
            </a:r>
            <a:r>
              <a:rPr lang="de-DE" sz="16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win</a:t>
            </a:r>
            <a:r>
              <a:rPr lang="de-DE" sz="1600" b="1" dirty="0">
                <a:latin typeface="Consolas" panose="020B0609020204030204" pitchFamily="49" charset="0"/>
                <a:sym typeface="Wingdings" panose="05000000000000000000" pitchFamily="2" charset="2"/>
              </a:rPr>
              <a:t>, </a:t>
            </a:r>
            <a:r>
              <a:rPr lang="de-DE" sz="16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width</a:t>
            </a:r>
            <a:r>
              <a:rPr lang="de-DE" sz="1600" b="1" dirty="0">
                <a:latin typeface="Consolas" panose="020B0609020204030204" pitchFamily="49" charset="0"/>
                <a:sym typeface="Wingdings" panose="05000000000000000000" pitchFamily="2" charset="2"/>
              </a:rPr>
              <a:t>=8, </a:t>
            </a:r>
            <a:r>
              <a:rPr lang="de-DE" sz="16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justify</a:t>
            </a:r>
            <a:r>
              <a:rPr lang="de-DE" sz="1600" b="1" dirty="0">
                <a:latin typeface="Consolas" panose="020B0609020204030204" pitchFamily="49" charset="0"/>
                <a:sym typeface="Wingdings" panose="05000000000000000000" pitchFamily="2" charset="2"/>
              </a:rPr>
              <a:t>="</a:t>
            </a:r>
            <a:r>
              <a:rPr lang="de-DE" sz="16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center</a:t>
            </a:r>
            <a:r>
              <a:rPr lang="de-DE" sz="1600" b="1" dirty="0">
                <a:latin typeface="Consolas" panose="020B0609020204030204" pitchFamily="49" charset="0"/>
                <a:sym typeface="Wingdings" panose="05000000000000000000" pitchFamily="2" charset="2"/>
              </a:rPr>
              <a:t>")</a:t>
            </a:r>
            <a:endParaRPr lang="de-DE" sz="2000" b="1" dirty="0"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lvl="1"/>
            <a:r>
              <a:rPr lang="de-DE" sz="20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width</a:t>
            </a:r>
            <a:r>
              <a:rPr lang="de-DE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 = 8 </a:t>
            </a:r>
            <a:r>
              <a:rPr lang="de-DE" sz="2400" dirty="0">
                <a:sym typeface="Wingdings" panose="05000000000000000000" pitchFamily="2" charset="2"/>
              </a:rPr>
              <a:t> Das Feld ist 8 Zeichen breit</a:t>
            </a:r>
          </a:p>
          <a:p>
            <a:pPr lvl="1"/>
            <a:r>
              <a:rPr lang="de-DE" sz="20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justify</a:t>
            </a:r>
            <a:r>
              <a:rPr lang="de-DE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 = "</a:t>
            </a:r>
            <a:r>
              <a:rPr lang="de-DE" sz="20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center</a:t>
            </a:r>
            <a:r>
              <a:rPr lang="de-DE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" </a:t>
            </a:r>
            <a:r>
              <a:rPr lang="de-DE" sz="2400" dirty="0">
                <a:sym typeface="Wingdings" panose="05000000000000000000" pitchFamily="2" charset="2"/>
              </a:rPr>
              <a:t> Der Text im Feld ist zentriert</a:t>
            </a:r>
          </a:p>
          <a:p>
            <a:pPr lvl="1"/>
            <a:r>
              <a:rPr lang="de-DE" sz="20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justify</a:t>
            </a:r>
            <a:r>
              <a:rPr lang="de-DE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 = "</a:t>
            </a:r>
            <a:r>
              <a:rPr lang="de-DE" sz="20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right</a:t>
            </a:r>
            <a:r>
              <a:rPr lang="de-DE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" </a:t>
            </a:r>
            <a:r>
              <a:rPr lang="de-DE" sz="2400" dirty="0">
                <a:sym typeface="Wingdings" panose="05000000000000000000" pitchFamily="2" charset="2"/>
              </a:rPr>
              <a:t> Der Text im Feld ist rechtsbündig</a:t>
            </a:r>
          </a:p>
          <a:p>
            <a:pPr lvl="1"/>
            <a:r>
              <a:rPr lang="de-DE" sz="21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state</a:t>
            </a:r>
            <a:r>
              <a:rPr lang="de-DE" sz="2100" b="1" dirty="0">
                <a:latin typeface="Consolas" panose="020B0609020204030204" pitchFamily="49" charset="0"/>
                <a:sym typeface="Wingdings" panose="05000000000000000000" pitchFamily="2" charset="2"/>
              </a:rPr>
              <a:t> = "</a:t>
            </a:r>
            <a:r>
              <a:rPr lang="de-DE" sz="21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readonly</a:t>
            </a:r>
            <a:r>
              <a:rPr lang="de-DE" sz="2100" b="1" dirty="0">
                <a:latin typeface="Consolas" panose="020B0609020204030204" pitchFamily="49" charset="0"/>
                <a:sym typeface="Wingdings" panose="05000000000000000000" pitchFamily="2" charset="2"/>
              </a:rPr>
              <a:t>" </a:t>
            </a:r>
            <a:r>
              <a:rPr lang="de-DE" sz="2400" dirty="0">
                <a:sym typeface="Wingdings" panose="05000000000000000000" pitchFamily="2" charset="2"/>
              </a:rPr>
              <a:t> Das Feld ist schreibgeschützt</a:t>
            </a:r>
          </a:p>
          <a:p>
            <a:pPr lvl="1"/>
            <a:r>
              <a:rPr lang="de-DE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entry1.config(</a:t>
            </a:r>
            <a:r>
              <a:rPr lang="de-DE" sz="20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font</a:t>
            </a:r>
            <a:r>
              <a:rPr lang="de-DE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=("Bahnschrift",10))  </a:t>
            </a:r>
            <a:r>
              <a:rPr lang="de-DE" sz="2400" dirty="0">
                <a:sym typeface="Wingdings" panose="05000000000000000000" pitchFamily="2" charset="2"/>
              </a:rPr>
              <a:t> Schriftart im Feld</a:t>
            </a:r>
          </a:p>
          <a:p>
            <a:pPr lvl="1"/>
            <a:r>
              <a:rPr lang="de-DE" sz="2100" b="1" dirty="0">
                <a:latin typeface="Consolas" panose="020B0609020204030204" pitchFamily="49" charset="0"/>
                <a:sym typeface="Wingdings" panose="05000000000000000000" pitchFamily="2" charset="2"/>
              </a:rPr>
              <a:t>entry1.config(</a:t>
            </a:r>
            <a:r>
              <a:rPr lang="de-DE" sz="21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state</a:t>
            </a:r>
            <a:r>
              <a:rPr lang="de-DE" sz="2100" b="1" dirty="0">
                <a:latin typeface="Consolas" panose="020B0609020204030204" pitchFamily="49" charset="0"/>
                <a:sym typeface="Wingdings" panose="05000000000000000000" pitchFamily="2" charset="2"/>
              </a:rPr>
              <a:t>="normal") </a:t>
            </a:r>
            <a:r>
              <a:rPr lang="de-DE" sz="2400" dirty="0">
                <a:sym typeface="Wingdings" panose="05000000000000000000" pitchFamily="2" charset="2"/>
              </a:rPr>
              <a:t> Schreibschutz abschalten</a:t>
            </a:r>
          </a:p>
          <a:p>
            <a:pPr lvl="1"/>
            <a:r>
              <a:rPr lang="de-DE" sz="2100" b="1" dirty="0">
                <a:latin typeface="Consolas" panose="020B0609020204030204" pitchFamily="49" charset="0"/>
                <a:sym typeface="Wingdings" panose="05000000000000000000" pitchFamily="2" charset="2"/>
              </a:rPr>
              <a:t>entry1.config(</a:t>
            </a:r>
            <a:r>
              <a:rPr lang="de-DE" sz="21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state</a:t>
            </a:r>
            <a:r>
              <a:rPr lang="de-DE" sz="2100" b="1" dirty="0">
                <a:latin typeface="Consolas" panose="020B0609020204030204" pitchFamily="49" charset="0"/>
                <a:sym typeface="Wingdings" panose="05000000000000000000" pitchFamily="2" charset="2"/>
              </a:rPr>
              <a:t>="</a:t>
            </a:r>
            <a:r>
              <a:rPr lang="de-DE" sz="21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readonly</a:t>
            </a:r>
            <a:r>
              <a:rPr lang="de-DE" sz="2100" b="1" dirty="0">
                <a:latin typeface="Consolas" panose="020B0609020204030204" pitchFamily="49" charset="0"/>
                <a:sym typeface="Wingdings" panose="05000000000000000000" pitchFamily="2" charset="2"/>
              </a:rPr>
              <a:t>") </a:t>
            </a:r>
            <a:r>
              <a:rPr lang="de-DE" sz="2400" dirty="0">
                <a:sym typeface="Wingdings" panose="05000000000000000000" pitchFamily="2" charset="2"/>
              </a:rPr>
              <a:t> Schreibschutz wieder einschalten</a:t>
            </a:r>
          </a:p>
          <a:p>
            <a:pPr lvl="1"/>
            <a:r>
              <a:rPr lang="de-DE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a = entry1.get() </a:t>
            </a:r>
            <a:r>
              <a:rPr lang="de-DE" sz="2400" dirty="0">
                <a:sym typeface="Wingdings" panose="05000000000000000000" pitchFamily="2" charset="2"/>
              </a:rPr>
              <a:t>liest den Inhalt des </a:t>
            </a:r>
            <a:r>
              <a:rPr lang="de-DE" sz="2400" dirty="0" err="1">
                <a:sym typeface="Wingdings" panose="05000000000000000000" pitchFamily="2" charset="2"/>
              </a:rPr>
              <a:t>Entryfeldes</a:t>
            </a:r>
            <a:r>
              <a:rPr lang="de-DE" sz="2400" dirty="0">
                <a:sym typeface="Wingdings" panose="05000000000000000000" pitchFamily="2" charset="2"/>
              </a:rPr>
              <a:t> in die Variable a</a:t>
            </a:r>
          </a:p>
          <a:p>
            <a:pPr lvl="1"/>
            <a:r>
              <a:rPr lang="de-DE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entry1.delete(0, END) </a:t>
            </a:r>
            <a:r>
              <a:rPr lang="de-DE" sz="2400" dirty="0">
                <a:sym typeface="Wingdings" panose="05000000000000000000" pitchFamily="2" charset="2"/>
              </a:rPr>
              <a:t> Löscht den gesamten Inhalt</a:t>
            </a:r>
          </a:p>
          <a:p>
            <a:pPr lvl="1"/>
            <a:r>
              <a:rPr lang="de-DE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entry1.insert(0, b) </a:t>
            </a:r>
            <a:r>
              <a:rPr lang="de-DE" sz="2400" dirty="0">
                <a:sym typeface="Wingdings" panose="05000000000000000000" pitchFamily="2" charset="2"/>
              </a:rPr>
              <a:t> Schreibt die Variable b in das </a:t>
            </a:r>
            <a:r>
              <a:rPr lang="de-DE" sz="2400" dirty="0" err="1">
                <a:sym typeface="Wingdings" panose="05000000000000000000" pitchFamily="2" charset="2"/>
              </a:rPr>
              <a:t>Entryfeld</a:t>
            </a:r>
            <a:r>
              <a:rPr lang="de-DE" sz="2400" dirty="0">
                <a:sym typeface="Wingdings" panose="05000000000000000000" pitchFamily="2" charset="2"/>
              </a:rPr>
              <a:t>, auch f-Strings sind erlaubt!</a:t>
            </a:r>
          </a:p>
          <a:p>
            <a:r>
              <a:rPr lang="de-DE" sz="2400" b="1" dirty="0">
                <a:latin typeface="Consolas" panose="020B0609020204030204" pitchFamily="49" charset="0"/>
                <a:sym typeface="Wingdings" panose="05000000000000000000" pitchFamily="2" charset="2"/>
              </a:rPr>
              <a:t>Button(</a:t>
            </a:r>
            <a:r>
              <a:rPr lang="de-DE" sz="24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win</a:t>
            </a:r>
            <a:r>
              <a:rPr lang="de-DE" sz="2400" b="1" dirty="0">
                <a:latin typeface="Consolas" panose="020B0609020204030204" pitchFamily="49" charset="0"/>
                <a:sym typeface="Wingdings" panose="05000000000000000000" pitchFamily="2" charset="2"/>
              </a:rPr>
              <a:t>, …) </a:t>
            </a:r>
            <a:r>
              <a:rPr lang="de-DE" sz="2800" dirty="0">
                <a:sym typeface="Wingdings" panose="05000000000000000000" pitchFamily="2" charset="2"/>
              </a:rPr>
              <a:t>erzeugt einen anklickbaren Button</a:t>
            </a:r>
          </a:p>
          <a:p>
            <a:pPr lvl="1"/>
            <a:r>
              <a:rPr lang="de-DE" sz="21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text</a:t>
            </a:r>
            <a:r>
              <a:rPr lang="de-DE" sz="2100" b="1" dirty="0">
                <a:latin typeface="Consolas" panose="020B0609020204030204" pitchFamily="49" charset="0"/>
                <a:sym typeface="Wingdings" panose="05000000000000000000" pitchFamily="2" charset="2"/>
              </a:rPr>
              <a:t> = "</a:t>
            </a:r>
            <a:r>
              <a:rPr lang="de-DE" sz="21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Klickmich</a:t>
            </a:r>
            <a:r>
              <a:rPr lang="de-DE" sz="2100" b="1" dirty="0">
                <a:latin typeface="Consolas" panose="020B0609020204030204" pitchFamily="49" charset="0"/>
                <a:sym typeface="Wingdings" panose="05000000000000000000" pitchFamily="2" charset="2"/>
              </a:rPr>
              <a:t>" </a:t>
            </a:r>
            <a:r>
              <a:rPr lang="de-DE" sz="2400" dirty="0">
                <a:sym typeface="Wingdings" panose="05000000000000000000" pitchFamily="2" charset="2"/>
              </a:rPr>
              <a:t> Die Button-Beschriftung</a:t>
            </a:r>
          </a:p>
          <a:p>
            <a:pPr lvl="1"/>
            <a:r>
              <a:rPr lang="de-DE" sz="21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command</a:t>
            </a:r>
            <a:r>
              <a:rPr lang="de-DE" sz="2100" b="1" dirty="0">
                <a:latin typeface="Consolas" panose="020B0609020204030204" pitchFamily="49" charset="0"/>
                <a:sym typeface="Wingdings" panose="05000000000000000000" pitchFamily="2" charset="2"/>
              </a:rPr>
              <a:t> = berechne  </a:t>
            </a:r>
            <a:r>
              <a:rPr lang="de-DE" sz="2400" dirty="0">
                <a:sym typeface="Wingdings" panose="05000000000000000000" pitchFamily="2" charset="2"/>
              </a:rPr>
              <a:t> Führt beim Klicken die Funktion berechne() aus</a:t>
            </a:r>
          </a:p>
          <a:p>
            <a:pPr lvl="1"/>
            <a:r>
              <a:rPr lang="de-DE" sz="2000" b="1" dirty="0" err="1">
                <a:latin typeface="Consolas" panose="020B0609020204030204" pitchFamily="49" charset="0"/>
                <a:sym typeface="Wingdings" panose="05000000000000000000" pitchFamily="2" charset="2"/>
              </a:rPr>
              <a:t>width</a:t>
            </a:r>
            <a:r>
              <a:rPr lang="de-DE" sz="2000" b="1" dirty="0">
                <a:latin typeface="Consolas" panose="020B0609020204030204" pitchFamily="49" charset="0"/>
                <a:sym typeface="Wingdings" panose="05000000000000000000" pitchFamily="2" charset="2"/>
              </a:rPr>
              <a:t> = 12 </a:t>
            </a:r>
            <a:r>
              <a:rPr lang="de-DE" sz="2400" dirty="0">
                <a:sym typeface="Wingdings" panose="05000000000000000000" pitchFamily="2" charset="2"/>
              </a:rPr>
              <a:t> Breite des Buttons 12 Zeichen</a:t>
            </a:r>
          </a:p>
          <a:p>
            <a:endParaRPr lang="de-DE" sz="2800" dirty="0">
              <a:sym typeface="Wingdings" panose="05000000000000000000" pitchFamily="2" charset="2"/>
            </a:endParaRPr>
          </a:p>
          <a:p>
            <a:pPr lvl="1"/>
            <a:endParaRPr lang="de-DE" sz="24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60764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C039B7-73D2-4452-BC07-62253787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592" y="274638"/>
            <a:ext cx="8280920" cy="1143000"/>
          </a:xfrm>
        </p:spPr>
        <p:txBody>
          <a:bodyPr>
            <a:noAutofit/>
          </a:bodyPr>
          <a:lstStyle/>
          <a:p>
            <a:r>
              <a:rPr lang="de-DE" sz="3600" b="1" dirty="0">
                <a:latin typeface="Consolas" panose="020B0609020204030204" pitchFamily="49" charset="0"/>
              </a:rPr>
              <a:t>Entry</a:t>
            </a:r>
            <a:r>
              <a:rPr lang="de-DE" sz="3600" dirty="0"/>
              <a:t> und </a:t>
            </a:r>
            <a:r>
              <a:rPr lang="de-DE" sz="3600" b="1" dirty="0">
                <a:latin typeface="Consolas" panose="020B0609020204030204" pitchFamily="49" charset="0"/>
              </a:rPr>
              <a:t>Label </a:t>
            </a:r>
            <a:r>
              <a:rPr lang="de-DE" sz="3600" dirty="0"/>
              <a:t>- Widgets mit dem -.</a:t>
            </a:r>
            <a:r>
              <a:rPr lang="de-DE" sz="3600" b="1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place</a:t>
            </a:r>
            <a:r>
              <a:rPr lang="de-DE" sz="3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</a:t>
            </a:r>
            <a:r>
              <a:rPr lang="de-DE" sz="3600" dirty="0"/>
              <a:t>- Layoutmanager platzieren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F83AB9-97A3-4ED2-8F4F-AD1616F9E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484786"/>
            <a:ext cx="11737304" cy="2520279"/>
          </a:xfrm>
        </p:spPr>
        <p:txBody>
          <a:bodyPr>
            <a:normAutofit/>
          </a:bodyPr>
          <a:lstStyle/>
          <a:p>
            <a:r>
              <a:rPr lang="de-DE" dirty="0"/>
              <a:t>Zum Platzieren (zeichnen) der Widgets gibt es 3 Möglichkeiten ("Layout-Manager"), nämlich 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dirty="0"/>
              <a:t>, 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pack()</a:t>
            </a:r>
            <a:r>
              <a:rPr lang="de-DE" dirty="0"/>
              <a:t> und </a:t>
            </a:r>
            <a:r>
              <a:rPr lang="de-DE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de-DE" dirty="0"/>
              <a:t>,</a:t>
            </a:r>
            <a:r>
              <a:rPr lang="de-DE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man sollte in einem Fenster-Objekt nur eine der drei verwenden.</a:t>
            </a:r>
          </a:p>
          <a:p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(x=…, y=…) </a:t>
            </a:r>
            <a:r>
              <a:rPr lang="de-DE" dirty="0"/>
              <a:t>platziert Elemente pixelgenau im Fenster.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AC4F6D4-DF11-45C2-9AD1-81EB68D9BF15}"/>
              </a:ext>
            </a:extLst>
          </p:cNvPr>
          <p:cNvSpPr txBox="1"/>
          <p:nvPr/>
        </p:nvSpPr>
        <p:spPr>
          <a:xfrm>
            <a:off x="1919537" y="3789040"/>
            <a:ext cx="5474068" cy="280076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 err="1">
                <a:latin typeface="Consolas" panose="020B0609020204030204" pitchFamily="49" charset="0"/>
              </a:rPr>
              <a:t>from</a:t>
            </a:r>
            <a:r>
              <a:rPr lang="de-DE" sz="1100" b="1" dirty="0">
                <a:latin typeface="Consolas" panose="020B0609020204030204" pitchFamily="49" charset="0"/>
              </a:rPr>
              <a:t> </a:t>
            </a:r>
            <a:r>
              <a:rPr lang="de-DE" sz="1100" b="1" dirty="0" err="1">
                <a:latin typeface="Consolas" panose="020B0609020204030204" pitchFamily="49" charset="0"/>
              </a:rPr>
              <a:t>tkinter</a:t>
            </a:r>
            <a:r>
              <a:rPr lang="de-DE" sz="1100" b="1" dirty="0">
                <a:latin typeface="Consolas" panose="020B0609020204030204" pitchFamily="49" charset="0"/>
              </a:rPr>
              <a:t> </a:t>
            </a:r>
            <a:r>
              <a:rPr lang="de-DE" sz="1100" b="1" dirty="0" err="1">
                <a:latin typeface="Consolas" panose="020B0609020204030204" pitchFamily="49" charset="0"/>
              </a:rPr>
              <a:t>import</a:t>
            </a:r>
            <a:r>
              <a:rPr lang="de-DE" sz="1100" b="1" dirty="0">
                <a:latin typeface="Consolas" panose="020B0609020204030204" pitchFamily="49" charset="0"/>
              </a:rPr>
              <a:t> *</a:t>
            </a:r>
          </a:p>
          <a:p>
            <a:br>
              <a:rPr lang="de-DE" sz="1100" b="1" dirty="0">
                <a:latin typeface="Consolas" panose="020B0609020204030204" pitchFamily="49" charset="0"/>
              </a:rPr>
            </a:br>
            <a:r>
              <a:rPr lang="de-DE" sz="1100" b="1" dirty="0" err="1">
                <a:latin typeface="Consolas" panose="020B0609020204030204" pitchFamily="49" charset="0"/>
              </a:rPr>
              <a:t>win</a:t>
            </a:r>
            <a:r>
              <a:rPr lang="de-DE" sz="1100" b="1" dirty="0">
                <a:latin typeface="Consolas" panose="020B0609020204030204" pitchFamily="49" charset="0"/>
              </a:rPr>
              <a:t> = </a:t>
            </a:r>
            <a:r>
              <a:rPr lang="de-DE" sz="1100" b="1" dirty="0" err="1">
                <a:latin typeface="Consolas" panose="020B0609020204030204" pitchFamily="49" charset="0"/>
              </a:rPr>
              <a:t>Tk</a:t>
            </a:r>
            <a:r>
              <a:rPr lang="de-DE" sz="1100" b="1" dirty="0">
                <a:latin typeface="Consolas" panose="020B0609020204030204" pitchFamily="49" charset="0"/>
              </a:rPr>
              <a:t>()</a:t>
            </a:r>
          </a:p>
          <a:p>
            <a:r>
              <a:rPr lang="de-DE" sz="1100" b="1" dirty="0" err="1">
                <a:latin typeface="Consolas" panose="020B0609020204030204" pitchFamily="49" charset="0"/>
              </a:rPr>
              <a:t>win.wm_geometry</a:t>
            </a:r>
            <a:r>
              <a:rPr lang="de-DE" sz="1100" b="1" dirty="0">
                <a:latin typeface="Consolas" panose="020B0609020204030204" pitchFamily="49" charset="0"/>
              </a:rPr>
              <a:t>("250x130")</a:t>
            </a:r>
          </a:p>
          <a:p>
            <a:r>
              <a:rPr lang="de-DE" sz="1100" b="1" dirty="0" err="1">
                <a:latin typeface="Consolas" panose="020B0609020204030204" pitchFamily="49" charset="0"/>
              </a:rPr>
              <a:t>win.title</a:t>
            </a:r>
            <a:r>
              <a:rPr lang="de-DE" sz="1100" b="1" dirty="0">
                <a:latin typeface="Consolas" panose="020B0609020204030204" pitchFamily="49" charset="0"/>
              </a:rPr>
              <a:t>("</a:t>
            </a:r>
            <a:r>
              <a:rPr lang="de-DE" sz="1100" b="1" dirty="0" err="1">
                <a:latin typeface="Consolas" panose="020B0609020204030204" pitchFamily="49" charset="0"/>
              </a:rPr>
              <a:t>place</a:t>
            </a:r>
            <a:r>
              <a:rPr lang="de-DE" sz="1100" b="1" dirty="0">
                <a:latin typeface="Consolas" panose="020B0609020204030204" pitchFamily="49" charset="0"/>
              </a:rPr>
              <a:t>-Demo")</a:t>
            </a:r>
          </a:p>
          <a:p>
            <a:r>
              <a:rPr lang="de-DE" sz="1100" b="1" dirty="0" err="1">
                <a:latin typeface="Consolas" panose="020B0609020204030204" pitchFamily="49" charset="0"/>
              </a:rPr>
              <a:t>win.wm_attributes</a:t>
            </a:r>
            <a:r>
              <a:rPr lang="de-DE" sz="1100" b="1" dirty="0">
                <a:latin typeface="Consolas" panose="020B0609020204030204" pitchFamily="49" charset="0"/>
              </a:rPr>
              <a:t>('-</a:t>
            </a:r>
            <a:r>
              <a:rPr lang="de-DE" sz="1100" b="1" dirty="0" err="1">
                <a:latin typeface="Consolas" panose="020B0609020204030204" pitchFamily="49" charset="0"/>
              </a:rPr>
              <a:t>toolwindow</a:t>
            </a:r>
            <a:r>
              <a:rPr lang="de-DE" sz="1100" b="1" dirty="0">
                <a:latin typeface="Consolas" panose="020B0609020204030204" pitchFamily="49" charset="0"/>
              </a:rPr>
              <a:t>', 'True') </a:t>
            </a:r>
            <a:r>
              <a:rPr lang="de-DE" sz="1100" b="1" dirty="0">
                <a:solidFill>
                  <a:srgbClr val="FF0000"/>
                </a:solidFill>
                <a:latin typeface="Consolas" panose="020B0609020204030204" pitchFamily="49" charset="0"/>
              </a:rPr>
              <a:t># Einfaches Fenster</a:t>
            </a:r>
          </a:p>
          <a:p>
            <a:br>
              <a:rPr lang="de-DE" sz="1100" b="1" dirty="0">
                <a:latin typeface="Consolas" panose="020B0609020204030204" pitchFamily="49" charset="0"/>
              </a:rPr>
            </a:br>
            <a:r>
              <a:rPr lang="de-DE" sz="1100" b="1" dirty="0">
                <a:latin typeface="Consolas" panose="020B0609020204030204" pitchFamily="49" charset="0"/>
              </a:rPr>
              <a:t>lbl1 = Label(</a:t>
            </a:r>
            <a:r>
              <a:rPr lang="de-DE" sz="1100" b="1" dirty="0" err="1">
                <a:latin typeface="Consolas" panose="020B0609020204030204" pitchFamily="49" charset="0"/>
              </a:rPr>
              <a:t>win</a:t>
            </a:r>
            <a:r>
              <a:rPr lang="de-DE" sz="1100" b="1" dirty="0">
                <a:latin typeface="Consolas" panose="020B0609020204030204" pitchFamily="49" charset="0"/>
              </a:rPr>
              <a:t>, </a:t>
            </a:r>
            <a:r>
              <a:rPr lang="de-DE" sz="1100" b="1" dirty="0" err="1">
                <a:latin typeface="Consolas" panose="020B0609020204030204" pitchFamily="49" charset="0"/>
              </a:rPr>
              <a:t>text</a:t>
            </a:r>
            <a:r>
              <a:rPr lang="de-DE" sz="1100" b="1" dirty="0">
                <a:latin typeface="Consolas" panose="020B0609020204030204" pitchFamily="49" charset="0"/>
              </a:rPr>
              <a:t>="Meine Anwendung", </a:t>
            </a:r>
            <a:r>
              <a:rPr lang="de-DE" sz="1100" b="1" dirty="0" err="1">
                <a:latin typeface="Consolas" panose="020B0609020204030204" pitchFamily="49" charset="0"/>
              </a:rPr>
              <a:t>font</a:t>
            </a:r>
            <a:r>
              <a:rPr lang="de-DE" sz="1100" b="1" dirty="0">
                <a:latin typeface="Consolas" panose="020B0609020204030204" pitchFamily="49" charset="0"/>
              </a:rPr>
              <a:t>="Arial 16 </a:t>
            </a:r>
            <a:r>
              <a:rPr lang="de-DE" sz="1100" b="1" dirty="0" err="1">
                <a:latin typeface="Consolas" panose="020B0609020204030204" pitchFamily="49" charset="0"/>
              </a:rPr>
              <a:t>bold</a:t>
            </a:r>
            <a:r>
              <a:rPr lang="de-DE" sz="1100" b="1" dirty="0">
                <a:latin typeface="Consolas" panose="020B0609020204030204" pitchFamily="49" charset="0"/>
              </a:rPr>
              <a:t>")</a:t>
            </a:r>
          </a:p>
          <a:p>
            <a:r>
              <a:rPr lang="de-DE" sz="1100" b="1" dirty="0">
                <a:latin typeface="Consolas" panose="020B0609020204030204" pitchFamily="49" charset="0"/>
              </a:rPr>
              <a:t>lbl2 = Label(</a:t>
            </a:r>
            <a:r>
              <a:rPr lang="de-DE" sz="1100" b="1" dirty="0" err="1">
                <a:latin typeface="Consolas" panose="020B0609020204030204" pitchFamily="49" charset="0"/>
              </a:rPr>
              <a:t>win</a:t>
            </a:r>
            <a:r>
              <a:rPr lang="de-DE" sz="1100" b="1" dirty="0">
                <a:latin typeface="Consolas" panose="020B0609020204030204" pitchFamily="49" charset="0"/>
              </a:rPr>
              <a:t>, </a:t>
            </a:r>
            <a:r>
              <a:rPr lang="de-DE" sz="1100" b="1" dirty="0" err="1">
                <a:latin typeface="Consolas" panose="020B0609020204030204" pitchFamily="49" charset="0"/>
              </a:rPr>
              <a:t>text</a:t>
            </a:r>
            <a:r>
              <a:rPr lang="de-DE" sz="1100" b="1" dirty="0">
                <a:latin typeface="Consolas" panose="020B0609020204030204" pitchFamily="49" charset="0"/>
              </a:rPr>
              <a:t>="Eingabe:")</a:t>
            </a:r>
          </a:p>
          <a:p>
            <a:r>
              <a:rPr lang="de-DE" sz="1100" b="1" dirty="0">
                <a:latin typeface="Consolas" panose="020B0609020204030204" pitchFamily="49" charset="0"/>
              </a:rPr>
              <a:t>ent1 = Entry(</a:t>
            </a:r>
            <a:r>
              <a:rPr lang="de-DE" sz="1100" b="1" dirty="0" err="1">
                <a:latin typeface="Consolas" panose="020B0609020204030204" pitchFamily="49" charset="0"/>
              </a:rPr>
              <a:t>win</a:t>
            </a:r>
            <a:r>
              <a:rPr lang="de-DE" sz="1100" b="1" dirty="0">
                <a:latin typeface="Consolas" panose="020B0609020204030204" pitchFamily="49" charset="0"/>
              </a:rPr>
              <a:t>, </a:t>
            </a:r>
            <a:r>
              <a:rPr lang="de-DE" sz="1100" b="1" dirty="0" err="1">
                <a:latin typeface="Consolas" panose="020B0609020204030204" pitchFamily="49" charset="0"/>
              </a:rPr>
              <a:t>width</a:t>
            </a:r>
            <a:r>
              <a:rPr lang="de-DE" sz="1100" b="1" dirty="0">
                <a:latin typeface="Consolas" panose="020B0609020204030204" pitchFamily="49" charset="0"/>
              </a:rPr>
              <a:t>=16)</a:t>
            </a:r>
          </a:p>
          <a:p>
            <a:br>
              <a:rPr lang="de-DE" sz="1100" b="1" dirty="0">
                <a:latin typeface="Consolas" panose="020B0609020204030204" pitchFamily="49" charset="0"/>
              </a:rPr>
            </a:br>
            <a:r>
              <a:rPr lang="de-DE" sz="1100" b="1" dirty="0">
                <a:solidFill>
                  <a:srgbClr val="00B050"/>
                </a:solidFill>
                <a:latin typeface="Consolas" panose="020B0609020204030204" pitchFamily="49" charset="0"/>
              </a:rPr>
              <a:t>lbl1.place(x=20, y=20) </a:t>
            </a:r>
            <a:r>
              <a:rPr lang="de-DE" sz="1100" b="1" dirty="0">
                <a:solidFill>
                  <a:srgbClr val="FF0000"/>
                </a:solidFill>
                <a:latin typeface="Consolas" panose="020B0609020204030204" pitchFamily="49" charset="0"/>
              </a:rPr>
              <a:t># Platzieren mit Angabe der x/y-Koordinate</a:t>
            </a:r>
          </a:p>
          <a:p>
            <a:r>
              <a:rPr lang="de-DE" sz="1100" b="1" dirty="0">
                <a:solidFill>
                  <a:srgbClr val="00B050"/>
                </a:solidFill>
                <a:latin typeface="Consolas" panose="020B0609020204030204" pitchFamily="49" charset="0"/>
              </a:rPr>
              <a:t>lbl2.place(x=20, y=70)</a:t>
            </a:r>
          </a:p>
          <a:p>
            <a:r>
              <a:rPr lang="de-DE" sz="1100" b="1" dirty="0">
                <a:solidFill>
                  <a:srgbClr val="00B050"/>
                </a:solidFill>
                <a:latin typeface="Consolas" panose="020B0609020204030204" pitchFamily="49" charset="0"/>
              </a:rPr>
              <a:t>ent1.place(x=80, y=70)</a:t>
            </a:r>
          </a:p>
          <a:p>
            <a:br>
              <a:rPr lang="de-DE" sz="1100" b="1" dirty="0">
                <a:latin typeface="Consolas" panose="020B0609020204030204" pitchFamily="49" charset="0"/>
              </a:rPr>
            </a:br>
            <a:r>
              <a:rPr lang="de-DE" sz="1100" b="1" dirty="0" err="1">
                <a:latin typeface="Consolas" panose="020B0609020204030204" pitchFamily="49" charset="0"/>
              </a:rPr>
              <a:t>win.mainloop</a:t>
            </a:r>
            <a:r>
              <a:rPr lang="de-DE" sz="1100" b="1" dirty="0"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99EC1A-237F-2E22-63DA-E36735DE2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153" y="4396102"/>
            <a:ext cx="300037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20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C039B7-73D2-4452-BC07-62253787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648" y="274638"/>
            <a:ext cx="7776864" cy="1143000"/>
          </a:xfrm>
        </p:spPr>
        <p:txBody>
          <a:bodyPr>
            <a:noAutofit/>
          </a:bodyPr>
          <a:lstStyle/>
          <a:p>
            <a:r>
              <a:rPr lang="de-DE" sz="3600" b="1" dirty="0">
                <a:latin typeface="Consolas" panose="020B0609020204030204" pitchFamily="49" charset="0"/>
              </a:rPr>
              <a:t>Entry</a:t>
            </a:r>
            <a:r>
              <a:rPr lang="de-DE" sz="3600" dirty="0"/>
              <a:t> und </a:t>
            </a:r>
            <a:r>
              <a:rPr lang="de-DE" sz="3600" b="1" dirty="0">
                <a:latin typeface="Consolas" panose="020B0609020204030204" pitchFamily="49" charset="0"/>
              </a:rPr>
              <a:t>Label </a:t>
            </a:r>
            <a:r>
              <a:rPr lang="de-DE" sz="3600" dirty="0"/>
              <a:t>- Widgets mit dem </a:t>
            </a:r>
            <a:r>
              <a:rPr lang="de-DE" sz="36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.pack()</a:t>
            </a:r>
            <a:r>
              <a:rPr lang="de-DE" sz="3600" dirty="0"/>
              <a:t>- Layoutmanager platzieren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F83AB9-97A3-4ED2-8F4F-AD1616F9E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1340768"/>
            <a:ext cx="11665296" cy="3384375"/>
          </a:xfrm>
        </p:spPr>
        <p:txBody>
          <a:bodyPr>
            <a:normAutofit fontScale="92500" lnSpcReduction="10000"/>
          </a:bodyPr>
          <a:lstStyle/>
          <a:p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.pack() </a:t>
            </a:r>
            <a:r>
              <a:rPr lang="de-DE" dirty="0"/>
              <a:t>platziert Elemente standardmäßig Zentriert und Oben (</a:t>
            </a:r>
            <a:r>
              <a:rPr lang="de-DE" dirty="0" err="1"/>
              <a:t>center</a:t>
            </a:r>
            <a:r>
              <a:rPr lang="de-DE" dirty="0"/>
              <a:t> bzw. top), was oft recht sinnvoll ist.</a:t>
            </a:r>
          </a:p>
          <a:p>
            <a:r>
              <a:rPr lang="de-DE" dirty="0"/>
              <a:t>Weitere Widgets werden mit 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.pack() </a:t>
            </a:r>
            <a:r>
              <a:rPr lang="de-DE" dirty="0"/>
              <a:t>dann darunter platziert.</a:t>
            </a:r>
          </a:p>
          <a:p>
            <a:r>
              <a:rPr lang="de-DE" dirty="0"/>
              <a:t>Entscheidend für die Platzierung ist dabei die Reihenfolge des Aufrufs von 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.pack()</a:t>
            </a:r>
          </a:p>
          <a:p>
            <a:r>
              <a:rPr lang="de-DE" dirty="0"/>
              <a:t>Durch Nutzung der Optionen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=LEFT </a:t>
            </a:r>
            <a:r>
              <a:rPr lang="de-DE" dirty="0"/>
              <a:t>und </a:t>
            </a:r>
            <a:r>
              <a:rPr lang="de-DE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=RIGHT </a:t>
            </a:r>
            <a:r>
              <a:rPr lang="de-DE" dirty="0"/>
              <a:t>kann man Label und Text-Elemente sinnvoll nebeneinander platzieren: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AC4F6D4-DF11-45C2-9AD1-81EB68D9BF15}"/>
              </a:ext>
            </a:extLst>
          </p:cNvPr>
          <p:cNvSpPr txBox="1"/>
          <p:nvPr/>
        </p:nvSpPr>
        <p:spPr>
          <a:xfrm>
            <a:off x="2423593" y="4581128"/>
            <a:ext cx="4993676" cy="229293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</a:p>
          <a:p>
            <a:endParaRPr lang="de-DE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  </a:t>
            </a:r>
          </a:p>
          <a:p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window.title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("pack-Demo")    </a:t>
            </a:r>
          </a:p>
          <a:p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window.wm_geometry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("250x150")</a:t>
            </a:r>
          </a:p>
          <a:p>
            <a:endParaRPr lang="de-DE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lbl1 = Label(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="Eingabe:")  # Label erzeugen</a:t>
            </a:r>
          </a:p>
          <a:p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ent1 = Text(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=15)	     # Textfeld erzeugen</a:t>
            </a:r>
          </a:p>
          <a:p>
            <a:endParaRPr lang="de-DE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lbl1.pack(</a:t>
            </a:r>
            <a:r>
              <a:rPr lang="de-DE" sz="1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lang="de-DE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=LEFT, </a:t>
            </a:r>
            <a:r>
              <a:rPr lang="de-DE" sz="1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padx</a:t>
            </a:r>
            <a:r>
              <a:rPr lang="de-DE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=20)     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Label nach links</a:t>
            </a:r>
          </a:p>
          <a:p>
            <a:r>
              <a:rPr lang="de-DE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ent1.pack(</a:t>
            </a:r>
            <a:r>
              <a:rPr lang="de-DE" sz="1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lang="de-DE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=RIGHT, </a:t>
            </a:r>
            <a:r>
              <a:rPr lang="de-DE" sz="1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padx</a:t>
            </a:r>
            <a:r>
              <a:rPr lang="de-DE" sz="1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=20)    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Textfeld nach rechts</a:t>
            </a:r>
          </a:p>
          <a:p>
            <a:endParaRPr lang="de-DE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window.mainloop</a:t>
            </a:r>
            <a:r>
              <a:rPr lang="de-DE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A58124A-A1FB-45E8-A153-FBB6EF2CE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168" y="4773058"/>
            <a:ext cx="257175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23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BB437-2EFE-400C-AF24-FD4AA186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Noch mehr Widgets hinzufügen mit unterschiedlichen Frames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306456-374E-4738-AA1A-DA58CCA6C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1417639"/>
            <a:ext cx="11881320" cy="1431277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Hat man mehrere Widgets unterschiedlicher Anzahl nebeneinander angeordnet, so erzeugt man am besten für jede neue Widget-Gruppe ein </a:t>
            </a:r>
            <a:r>
              <a:rPr lang="de-DE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Frame() </a:t>
            </a:r>
            <a:r>
              <a:rPr lang="de-DE" dirty="0"/>
              <a:t>-Objekt. </a:t>
            </a:r>
          </a:p>
          <a:p>
            <a:r>
              <a:rPr lang="de-DE" dirty="0"/>
              <a:t>Die Frames sind dann, was 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pack()</a:t>
            </a:r>
            <a:r>
              <a:rPr lang="de-DE" dirty="0"/>
              <a:t>angeht, weitgehend unabhängig und teilen sich den Platz im gesamten root-</a:t>
            </a:r>
            <a:r>
              <a:rPr lang="de-DE" dirty="0" err="1"/>
              <a:t>Window</a:t>
            </a:r>
            <a:r>
              <a:rPr lang="de-DE" dirty="0"/>
              <a:t> auf.</a:t>
            </a:r>
          </a:p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3E80266-951A-4921-885A-623C7BC043CE}"/>
              </a:ext>
            </a:extLst>
          </p:cNvPr>
          <p:cNvSpPr txBox="1"/>
          <p:nvPr/>
        </p:nvSpPr>
        <p:spPr>
          <a:xfrm>
            <a:off x="2423592" y="2887682"/>
            <a:ext cx="6264696" cy="39703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</a:p>
          <a:p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()   </a:t>
            </a:r>
          </a:p>
          <a:p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window.title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("Label, Textfeld, Button mit 2 Frames")    </a:t>
            </a:r>
          </a:p>
          <a:p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window.wm_geometry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("400x150")</a:t>
            </a:r>
          </a:p>
          <a:p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window.option_add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("*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", "Lucida 20")     # Setzen eines Default Fonts</a:t>
            </a:r>
          </a:p>
          <a:p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window.wm_attributes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('-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toolwindow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', 'True') # Löschen des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Icons</a:t>
            </a:r>
          </a:p>
          <a:p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frame1 = Frame(</a:t>
            </a:r>
            <a:r>
              <a:rPr lang="de-DE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# Frame für Label und Textfeld</a:t>
            </a:r>
          </a:p>
          <a:p>
            <a:r>
              <a:rPr lang="de-DE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frame1.pack()           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# Frame positionieren</a:t>
            </a:r>
          </a:p>
          <a:p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lbl1 = Label(</a:t>
            </a:r>
            <a:r>
              <a:rPr lang="de-DE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frame1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="Eingabe:")   # Label erzeugen in frame1</a:t>
            </a: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ent1 = Entry(</a:t>
            </a:r>
            <a:r>
              <a:rPr lang="de-DE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frame1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=10) 	 #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Entryfeld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erzeugen in frame1</a:t>
            </a:r>
          </a:p>
          <a:p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lbl1.pack(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=LEFT,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=10)     # Label nach links</a:t>
            </a: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ent1.pack(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=RIGHT)             #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Entryfeld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nach rechts</a:t>
            </a:r>
          </a:p>
          <a:p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frame2 = Frame(</a:t>
            </a:r>
            <a:r>
              <a:rPr lang="de-DE" sz="105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# Frame für den Button</a:t>
            </a:r>
          </a:p>
          <a:p>
            <a:r>
              <a:rPr lang="de-DE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frame2.pack()           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# Frame positionieren</a:t>
            </a:r>
          </a:p>
          <a:p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btn1 = Button(</a:t>
            </a:r>
            <a:r>
              <a:rPr lang="de-DE" sz="105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frame2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="Start", </a:t>
            </a:r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=10)</a:t>
            </a:r>
          </a:p>
          <a:p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btn1.pack() # Button erzeugen und positionieren (im frame2)</a:t>
            </a:r>
          </a:p>
          <a:p>
            <a:endParaRPr lang="de-DE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window.mainloop</a:t>
            </a:r>
            <a:r>
              <a:rPr lang="de-DE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7981EFF-0CA1-493E-B08D-A5B8B7BAE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156" y="5085184"/>
            <a:ext cx="3046995" cy="143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189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179BE0-919F-4781-A5E5-0F82233DF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3600"/>
              <a:t>Beispiel-Applikation </a:t>
            </a:r>
            <a:br>
              <a:rPr lang="de-DE" sz="3600"/>
            </a:br>
            <a:r>
              <a:rPr lang="de-DE" sz="3600"/>
              <a:t>mit Ein- und Ausgabe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1F6581-8409-41A2-99C7-A35DF6ED7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417638"/>
            <a:ext cx="9793088" cy="5440362"/>
          </a:xfrm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9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verarbeitung</a:t>
            </a: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9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celsius</a:t>
            </a: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9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(txt1.get())  # Auslesen aus Entry-Feld txt1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9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fahrenheit</a:t>
            </a: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9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round</a:t>
            </a: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9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celsius</a:t>
            </a: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1.8 + 32, 2)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txt2.delete(0, END)  	# Textfeld löschen ab Zeile 1, Zeichen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txt2.insert(END, </a:t>
            </a:r>
            <a:r>
              <a:rPr lang="de-DE" sz="9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9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fahrenheit</a:t>
            </a: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# Ergebnis ins Textfeld schreiben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window.title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("Umrechnung Celsius in Fahrenheit")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window.wm_geometry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("350x180")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window.option_add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("*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"Lucida 18")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window.wm_attributes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('-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toolwindow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'True')</a:t>
            </a:r>
          </a:p>
          <a:p>
            <a:pPr marL="0" indent="0">
              <a:spcBef>
                <a:spcPts val="0"/>
              </a:spcBef>
              <a:buNone/>
            </a:pPr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frm1 = Frame(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 # Frame für Label und Textfeld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frm1.pack()           # Frame positionieren</a:t>
            </a:r>
          </a:p>
          <a:p>
            <a:pPr marL="0" indent="0">
              <a:spcBef>
                <a:spcPts val="0"/>
              </a:spcBef>
              <a:buNone/>
            </a:pPr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lbl1 = Label(frm1,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="Celsius:",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=9,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anchor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=W) # Label erzeugen in frm1 und mit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anchor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nach "Westen", also links ausrichten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txt1 = Entry(frm1, </a:t>
            </a:r>
            <a:r>
              <a:rPr lang="de-DE" sz="9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=6) 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         # Entry-Textfeld erzeugen in frm1</a:t>
            </a:r>
          </a:p>
          <a:p>
            <a:pPr marL="0" indent="0">
              <a:spcBef>
                <a:spcPts val="0"/>
              </a:spcBef>
              <a:buNone/>
            </a:pPr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lbl1.pack(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=LEFT,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=10)     # Label nach links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txt1.pack(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=RIGHT)             # Textfeld nach rechts</a:t>
            </a:r>
          </a:p>
          <a:p>
            <a:pPr marL="0" indent="0">
              <a:spcBef>
                <a:spcPts val="0"/>
              </a:spcBef>
              <a:buNone/>
            </a:pPr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frm2 = Frame(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 # Frame für den Button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frm2.pack()           # Frame positionieren</a:t>
            </a:r>
          </a:p>
          <a:p>
            <a:pPr marL="0" indent="0">
              <a:spcBef>
                <a:spcPts val="0"/>
              </a:spcBef>
              <a:buNone/>
            </a:pPr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btn1 = Button(frm2,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="Start",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=10,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9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verarbeitung</a:t>
            </a: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btn1.pack() # Button erzeugen und positionieren (im frm2)</a:t>
            </a:r>
          </a:p>
          <a:p>
            <a:pPr marL="0" indent="0">
              <a:spcBef>
                <a:spcPts val="0"/>
              </a:spcBef>
              <a:buNone/>
            </a:pPr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frm3 = Frame(</a:t>
            </a:r>
            <a:r>
              <a:rPr lang="de-DE" sz="9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# Frame für Label und Textfeld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frm3.pack()           # Frame positionieren</a:t>
            </a:r>
          </a:p>
          <a:p>
            <a:pPr marL="0" indent="0">
              <a:spcBef>
                <a:spcPts val="0"/>
              </a:spcBef>
              <a:buNone/>
            </a:pPr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lbl2 = Label(</a:t>
            </a: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frm3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="Fahrenheit:",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=9,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anchor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=W)   # Label erzeugen in frm3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txt2 = Entry(</a:t>
            </a:r>
            <a:r>
              <a:rPr lang="de-DE" sz="9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frm3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=6) #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Entryfeld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erzeugen in frm3</a:t>
            </a:r>
          </a:p>
          <a:p>
            <a:pPr marL="0" indent="0">
              <a:spcBef>
                <a:spcPts val="0"/>
              </a:spcBef>
              <a:buNone/>
            </a:pPr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lbl2.pack(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=LEFT,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=10)     # Label nach links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txt2.pack(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=RIGHT)             # Textfeld nach rechts</a:t>
            </a:r>
          </a:p>
          <a:p>
            <a:pPr marL="0" indent="0">
              <a:spcBef>
                <a:spcPts val="0"/>
              </a:spcBef>
              <a:buNone/>
            </a:pPr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window.mainloop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312DE3-FB7A-4AF0-8021-0EC7801E2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120" y="4293096"/>
            <a:ext cx="3327276" cy="203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60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3AAFFA-FD39-42A4-86C2-5F28D418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GUI mit Combobox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DEC62F-9EEB-4E9D-9360-4508D0CB0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1556792"/>
            <a:ext cx="7344816" cy="3744416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Einer </a:t>
            </a:r>
            <a:r>
              <a:rPr lang="de-DE" b="1" dirty="0"/>
              <a:t>Combobox</a:t>
            </a:r>
            <a:r>
              <a:rPr lang="de-DE" dirty="0"/>
              <a:t> muss man mit </a:t>
            </a:r>
            <a:r>
              <a:rPr lang="de-DE" sz="28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value</a:t>
            </a:r>
            <a:r>
              <a:rPr lang="de-DE" sz="28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=[…] </a:t>
            </a:r>
            <a:r>
              <a:rPr lang="de-DE" dirty="0"/>
              <a:t>eine Liste mitgeben, die die darzustellenden Optionswerte zeigen.</a:t>
            </a:r>
          </a:p>
          <a:p>
            <a:r>
              <a:rPr lang="de-DE" dirty="0"/>
              <a:t>Mit </a:t>
            </a:r>
            <a:r>
              <a:rPr lang="de-DE" sz="28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.</a:t>
            </a:r>
            <a:r>
              <a:rPr lang="de-DE" sz="28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current</a:t>
            </a:r>
            <a:r>
              <a:rPr lang="de-DE" sz="28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(0) </a:t>
            </a:r>
            <a:r>
              <a:rPr lang="de-DE" dirty="0"/>
              <a:t>kann man die Standardauswahl auf den ersten Wert (oder einen anderen) setzen.</a:t>
            </a:r>
          </a:p>
          <a:p>
            <a:r>
              <a:rPr lang="de-DE" dirty="0"/>
              <a:t>Mit </a:t>
            </a:r>
            <a:r>
              <a:rPr lang="de-DE" sz="28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.</a:t>
            </a:r>
            <a:r>
              <a:rPr lang="de-DE" sz="28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get</a:t>
            </a:r>
            <a:r>
              <a:rPr lang="de-DE" sz="28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() </a:t>
            </a:r>
            <a:r>
              <a:rPr lang="de-DE" dirty="0"/>
              <a:t>kann man die Combobox auslesen (also genauso wie ein Entry-Widget)</a:t>
            </a:r>
          </a:p>
          <a:p>
            <a:r>
              <a:rPr lang="de-DE" b="1" dirty="0"/>
              <a:t>Combobox ist ein </a:t>
            </a:r>
            <a:r>
              <a:rPr lang="de-DE" b="1" dirty="0" err="1"/>
              <a:t>ttk</a:t>
            </a:r>
            <a:r>
              <a:rPr lang="de-DE" b="1" dirty="0"/>
              <a:t>-Widget</a:t>
            </a:r>
            <a:r>
              <a:rPr lang="de-DE" dirty="0"/>
              <a:t>, deshalb muss zusätzlich </a:t>
            </a:r>
            <a:r>
              <a:rPr lang="de-DE" sz="28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from</a:t>
            </a:r>
            <a:r>
              <a:rPr lang="de-DE" sz="28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tkinter</a:t>
            </a:r>
            <a:r>
              <a:rPr lang="de-DE" sz="28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import</a:t>
            </a:r>
            <a:r>
              <a:rPr lang="de-DE" sz="28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</a:t>
            </a:r>
            <a:r>
              <a:rPr lang="de-DE" sz="28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ttk</a:t>
            </a:r>
            <a:r>
              <a:rPr lang="de-DE" sz="28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</a:t>
            </a:r>
            <a:r>
              <a:rPr lang="de-DE" dirty="0"/>
              <a:t>erfolgen!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FD45C63-7C03-48F2-9EFE-3D2AA4ED6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026" y="4797151"/>
            <a:ext cx="4346990" cy="1974613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D1C65F7-C5B0-4318-BB05-4722C183BB0A}"/>
              </a:ext>
            </a:extLst>
          </p:cNvPr>
          <p:cNvSpPr txBox="1"/>
          <p:nvPr/>
        </p:nvSpPr>
        <p:spPr>
          <a:xfrm>
            <a:off x="7664050" y="1446093"/>
            <a:ext cx="4248472" cy="452431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</a:p>
          <a:p>
            <a:r>
              <a:rPr lang="de-DE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ttk</a:t>
            </a:r>
            <a:endParaRPr lang="de-DE" sz="12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ausgabe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combo.get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endParaRPr lang="de-D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root =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root.title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("Combodemo")</a:t>
            </a:r>
          </a:p>
          <a:p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root.wm_geometry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("300x100+2561+300")</a:t>
            </a:r>
          </a:p>
          <a:p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root.option_add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("*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"Calibri 14")</a:t>
            </a:r>
          </a:p>
          <a:p>
            <a:endParaRPr lang="de-D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optionen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=["Montag", "Dienstag",\</a:t>
            </a:r>
          </a:p>
          <a:p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"Mittwoch", "Donnerstag", "Freitag"]</a:t>
            </a:r>
          </a:p>
          <a:p>
            <a:r>
              <a:rPr lang="de-DE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combo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ttk.Combobox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(root, </a:t>
            </a:r>
            <a:r>
              <a:rPr lang="de-DE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=9,\    </a:t>
            </a:r>
            <a:b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optionen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combo.pack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padx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=40, </a:t>
            </a:r>
            <a:r>
              <a:rPr lang="de-DE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=10)</a:t>
            </a:r>
          </a:p>
          <a:p>
            <a:r>
              <a:rPr lang="de-DE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combo.current</a:t>
            </a:r>
            <a:r>
              <a:rPr lang="de-DE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endParaRPr lang="de-D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Button(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="Action!", 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ausgabe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btn.pack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=10)</a:t>
            </a:r>
          </a:p>
          <a:p>
            <a:endParaRPr lang="de-D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root.mainloop</a:t>
            </a:r>
            <a:r>
              <a:rPr lang="de-DE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de-D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732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BBAF46-AA9B-857C-0DD3-C95E5217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Lambda-Funktionsaufrufe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4D188C-A2AD-3AC3-0281-3254A1ED6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268760"/>
            <a:ext cx="11737304" cy="2376264"/>
          </a:xfrm>
        </p:spPr>
        <p:txBody>
          <a:bodyPr>
            <a:normAutofit fontScale="77500" lnSpcReduction="20000"/>
          </a:bodyPr>
          <a:lstStyle/>
          <a:p>
            <a:r>
              <a:rPr lang="de-DE" dirty="0"/>
              <a:t>Button-Command-Events (und auch andere TK-Events) lassen sich eigentlich nur ohne Argument aufrufen, was manchmal unkomfortabel ist, z.B. </a:t>
            </a:r>
            <a:r>
              <a:rPr lang="de-DE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de-DE" sz="2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klick</a:t>
            </a:r>
            <a:endParaRPr lang="de-DE" dirty="0"/>
          </a:p>
          <a:p>
            <a:r>
              <a:rPr lang="de-DE" dirty="0"/>
              <a:t>Mit Hilfe einer sogen. Lambda Funktion (quasi eine Art </a:t>
            </a:r>
            <a:r>
              <a:rPr lang="de-DE" dirty="0" err="1"/>
              <a:t>Einzeilen</a:t>
            </a:r>
            <a:r>
              <a:rPr lang="de-DE" dirty="0"/>
              <a:t>-Funktion) kann man aber auch Button-</a:t>
            </a:r>
            <a:r>
              <a:rPr lang="de-DE" dirty="0" err="1"/>
              <a:t>Commands</a:t>
            </a:r>
            <a:r>
              <a:rPr lang="de-DE" dirty="0"/>
              <a:t> mit Argument aufrufen, z.B. eine Funktion von mehreren Buttons aufrufen (siehe unten)</a:t>
            </a:r>
          </a:p>
          <a:p>
            <a:r>
              <a:rPr lang="de-DE" dirty="0"/>
              <a:t>Der Aufruf erfolgt dann mit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funktion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(arg1, …)</a:t>
            </a:r>
            <a:endParaRPr lang="de-DE" sz="3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FE2B40F-8253-9F24-7251-8D6CD9398505}"/>
              </a:ext>
            </a:extLst>
          </p:cNvPr>
          <p:cNvSpPr txBox="1"/>
          <p:nvPr/>
        </p:nvSpPr>
        <p:spPr>
          <a:xfrm>
            <a:off x="2351584" y="3573016"/>
            <a:ext cx="7056784" cy="316240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         #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komplett importieren</a:t>
            </a:r>
          </a:p>
          <a:p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messagebox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# muss extra importiert werden (Subklasse)</a:t>
            </a:r>
          </a:p>
          <a:p>
            <a:endParaRPr lang="de-DE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  </a:t>
            </a:r>
          </a:p>
          <a:p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window.title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("Lambda-Demo")</a:t>
            </a:r>
          </a:p>
          <a:p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window.wm_geometry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("250x150") </a:t>
            </a:r>
          </a:p>
          <a:p>
            <a:endParaRPr lang="de-DE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klickinfo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(x): 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# Diese Funktion wird von beiden Buttons mit Argumenten aufgerufen</a:t>
            </a:r>
          </a:p>
          <a:p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messagebox.showinfo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("Button Nr.", x)</a:t>
            </a:r>
          </a:p>
          <a:p>
            <a:endParaRPr lang="de-DE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btn1 = Button(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"Button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klickinfo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# Button1 mit Lambda-Funktionsaufruf von klick(x) mit Argument 1</a:t>
            </a:r>
          </a:p>
          <a:p>
            <a:endParaRPr lang="de-DE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btn2 = Button(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"Button 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Two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de-DE" sz="105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klickinfo</a:t>
            </a:r>
            <a:r>
              <a:rPr lang="de-DE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(2))</a:t>
            </a:r>
          </a:p>
          <a:p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# Button2 mit Lambda-Funktionsaufruf von klick(x) mit Argument 2</a:t>
            </a:r>
          </a:p>
          <a:p>
            <a:endParaRPr lang="de-DE" sz="10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btn1.pack(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=20)</a:t>
            </a:r>
          </a:p>
          <a:p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btn2.pack(</a:t>
            </a:r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=20)</a:t>
            </a:r>
          </a:p>
          <a:p>
            <a:r>
              <a:rPr lang="de-DE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window.mainloop</a:t>
            </a:r>
            <a:r>
              <a:rPr lang="de-DE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1846155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66FCC1-416D-453B-9178-2E1697977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de-DE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de-DE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r>
              <a:rPr lang="de-DE" dirty="0"/>
              <a:t>- Layoutmanager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AC66CD-91DA-4F8A-8FF4-8608DF39C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340769"/>
            <a:ext cx="11809312" cy="4536504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Layoutmanager zum Platzieren von Widgets:</a:t>
            </a:r>
          </a:p>
          <a:p>
            <a:pPr lvl="1"/>
            <a:r>
              <a:rPr lang="de-DE" sz="19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.</a:t>
            </a:r>
            <a:r>
              <a:rPr lang="de-DE" sz="19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place</a:t>
            </a:r>
            <a:r>
              <a:rPr lang="de-DE" sz="19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(x=…, y=….) </a:t>
            </a:r>
            <a:r>
              <a:rPr lang="de-DE" dirty="0">
                <a:sym typeface="Wingdings" panose="05000000000000000000" pitchFamily="2" charset="2"/>
              </a:rPr>
              <a:t> Pixelgenaues Platzieren</a:t>
            </a:r>
          </a:p>
          <a:p>
            <a:pPr lvl="1"/>
            <a:r>
              <a:rPr lang="de-DE" sz="19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.pack()</a:t>
            </a:r>
            <a:r>
              <a:rPr lang="de-DE" dirty="0">
                <a:sym typeface="Wingdings" panose="05000000000000000000" pitchFamily="2" charset="2"/>
              </a:rPr>
              <a:t>	 (Halb-)automatisches Platzieren</a:t>
            </a:r>
          </a:p>
          <a:p>
            <a:pPr lvl="1"/>
            <a:r>
              <a:rPr lang="de-DE" sz="19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.</a:t>
            </a:r>
            <a:r>
              <a:rPr lang="de-DE" sz="19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grid</a:t>
            </a:r>
            <a:r>
              <a:rPr lang="de-DE" sz="19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19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column</a:t>
            </a:r>
            <a:r>
              <a:rPr lang="de-DE" sz="19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=…, </a:t>
            </a:r>
            <a:r>
              <a:rPr lang="de-DE" sz="19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row</a:t>
            </a:r>
            <a:r>
              <a:rPr lang="de-DE" sz="19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=…) </a:t>
            </a:r>
            <a:r>
              <a:rPr lang="de-DE" dirty="0">
                <a:sym typeface="Wingdings" panose="05000000000000000000" pitchFamily="2" charset="2"/>
              </a:rPr>
              <a:t> Platzieren im Raster / Tabelle</a:t>
            </a:r>
          </a:p>
          <a:p>
            <a:r>
              <a:rPr lang="de-DE" sz="26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.</a:t>
            </a:r>
            <a:r>
              <a:rPr lang="de-DE" sz="26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grid</a:t>
            </a:r>
            <a:r>
              <a:rPr lang="de-DE" sz="26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(…) </a:t>
            </a:r>
            <a:r>
              <a:rPr lang="de-DE" dirty="0">
                <a:sym typeface="Wingdings" panose="05000000000000000000" pitchFamily="2" charset="2"/>
              </a:rPr>
              <a:t>eignet sich besonders fürs Ausrichten an Fluchtlinien und auch zum Erzeugen von Tabellen.</a:t>
            </a:r>
          </a:p>
          <a:p>
            <a:r>
              <a:rPr lang="de-DE" dirty="0">
                <a:sym typeface="Wingdings" panose="05000000000000000000" pitchFamily="2" charset="2"/>
              </a:rPr>
              <a:t>Mit </a:t>
            </a:r>
            <a:r>
              <a:rPr lang="de-DE" sz="26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.</a:t>
            </a:r>
            <a:r>
              <a:rPr lang="de-DE" sz="26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grid</a:t>
            </a:r>
            <a:r>
              <a:rPr lang="de-DE" sz="26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(</a:t>
            </a:r>
            <a:r>
              <a:rPr lang="de-DE" sz="26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column</a:t>
            </a:r>
            <a:r>
              <a:rPr lang="de-DE" sz="26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=x, </a:t>
            </a:r>
            <a:r>
              <a:rPr lang="de-DE" sz="26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row</a:t>
            </a:r>
            <a:r>
              <a:rPr lang="de-DE" sz="26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=y) </a:t>
            </a:r>
            <a:r>
              <a:rPr lang="de-DE" dirty="0">
                <a:sym typeface="Wingdings" panose="05000000000000000000" pitchFamily="2" charset="2"/>
              </a:rPr>
              <a:t>kann jedes Widget in einer bestimmten Tabellenzelle platziert, wobei die erste Spalte (</a:t>
            </a:r>
            <a:r>
              <a:rPr lang="de-DE" dirty="0" err="1">
                <a:sym typeface="Wingdings" panose="05000000000000000000" pitchFamily="2" charset="2"/>
              </a:rPr>
              <a:t>column</a:t>
            </a:r>
            <a:r>
              <a:rPr lang="de-DE" dirty="0">
                <a:sym typeface="Wingdings" panose="05000000000000000000" pitchFamily="2" charset="2"/>
              </a:rPr>
              <a:t>) und die erste Reihe (</a:t>
            </a:r>
            <a:r>
              <a:rPr lang="de-DE" dirty="0" err="1">
                <a:sym typeface="Wingdings" panose="05000000000000000000" pitchFamily="2" charset="2"/>
              </a:rPr>
              <a:t>row</a:t>
            </a:r>
            <a:r>
              <a:rPr lang="de-DE" dirty="0">
                <a:sym typeface="Wingdings" panose="05000000000000000000" pitchFamily="2" charset="2"/>
              </a:rPr>
              <a:t>) der Tabelle links oben mit 0 beginnt. In jeder Zelle nur ein Widget!</a:t>
            </a:r>
            <a:endParaRPr lang="de-DE" dirty="0"/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ED317C70-A225-475A-A558-00923A9C2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568229"/>
              </p:ext>
            </p:extLst>
          </p:nvPr>
        </p:nvGraphicFramePr>
        <p:xfrm>
          <a:off x="2783632" y="5520684"/>
          <a:ext cx="6840759" cy="10626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0253">
                  <a:extLst>
                    <a:ext uri="{9D8B030D-6E8A-4147-A177-3AD203B41FA5}">
                      <a16:colId xmlns:a16="http://schemas.microsoft.com/office/drawing/2014/main" val="1085223669"/>
                    </a:ext>
                  </a:extLst>
                </a:gridCol>
                <a:gridCol w="2280253">
                  <a:extLst>
                    <a:ext uri="{9D8B030D-6E8A-4147-A177-3AD203B41FA5}">
                      <a16:colId xmlns:a16="http://schemas.microsoft.com/office/drawing/2014/main" val="3240168499"/>
                    </a:ext>
                  </a:extLst>
                </a:gridCol>
                <a:gridCol w="2280253">
                  <a:extLst>
                    <a:ext uri="{9D8B030D-6E8A-4147-A177-3AD203B41FA5}">
                      <a16:colId xmlns:a16="http://schemas.microsoft.com/office/drawing/2014/main" val="3709774806"/>
                    </a:ext>
                  </a:extLst>
                </a:gridCol>
              </a:tblGrid>
              <a:tr h="531339">
                <a:tc>
                  <a:txBody>
                    <a:bodyPr/>
                    <a:lstStyle/>
                    <a:p>
                      <a:pPr algn="ctr"/>
                      <a:r>
                        <a:rPr lang="de-DE" sz="2000" b="1"/>
                        <a:t>column=0, row=0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1"/>
                        <a:t>column=1, row=0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1"/>
                        <a:t>column=2, row=0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43105"/>
                  </a:ext>
                </a:extLst>
              </a:tr>
              <a:tr h="5313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1" dirty="0" err="1"/>
                        <a:t>column</a:t>
                      </a:r>
                      <a:r>
                        <a:rPr lang="de-DE" sz="2000" b="1" dirty="0"/>
                        <a:t>=0, </a:t>
                      </a:r>
                      <a:r>
                        <a:rPr lang="de-DE" sz="2000" b="1" dirty="0" err="1"/>
                        <a:t>row</a:t>
                      </a:r>
                      <a:r>
                        <a:rPr lang="de-DE" sz="2000" b="1" dirty="0"/>
                        <a:t>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1"/>
                        <a:t>column=1, row=1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1" dirty="0" err="1"/>
                        <a:t>column</a:t>
                      </a:r>
                      <a:r>
                        <a:rPr lang="de-DE" sz="2000" b="1" dirty="0"/>
                        <a:t>=2, </a:t>
                      </a:r>
                      <a:r>
                        <a:rPr lang="de-DE" sz="2000" b="1" dirty="0" err="1"/>
                        <a:t>row</a:t>
                      </a:r>
                      <a:r>
                        <a:rPr lang="de-DE" sz="2000" b="1" dirty="0"/>
                        <a:t>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600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704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677EB9-1BB6-4A38-BA54-58E141F3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Beispielcode </a:t>
            </a:r>
            <a:r>
              <a:rPr lang="de-DE" sz="4000" b="1">
                <a:latin typeface="Courier New" panose="02070309020205020404" pitchFamily="49" charset="0"/>
                <a:cs typeface="Courier New" panose="02070309020205020404" pitchFamily="49" charset="0"/>
              </a:rPr>
              <a:t>.grid()</a:t>
            </a:r>
            <a:endParaRPr lang="de-DE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45D5B0-1764-4818-A824-8E8BDF265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254775"/>
            <a:ext cx="7488832" cy="3542377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Mittels der Option </a:t>
            </a:r>
            <a:r>
              <a:rPr lang="de-DE" sz="24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sticky</a:t>
            </a:r>
            <a:r>
              <a:rPr lang="de-DE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= </a:t>
            </a:r>
            <a:r>
              <a:rPr lang="de-DE" dirty="0"/>
              <a:t>kann ein Widget in einer Zelle ausgerichtet platziert werden, es wird dabei die "Himmelsrichtung" angegeben, also z.B. </a:t>
            </a:r>
            <a:r>
              <a:rPr lang="de-DE" sz="24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sticky</a:t>
            </a:r>
            <a:r>
              <a:rPr lang="de-DE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=W</a:t>
            </a:r>
            <a:r>
              <a:rPr lang="de-DE" dirty="0"/>
              <a:t> für ganz links (Westen)</a:t>
            </a:r>
          </a:p>
          <a:p>
            <a:r>
              <a:rPr lang="de-DE" dirty="0"/>
              <a:t>Hier ein Beispielcode für eine Applikation mit 3 Entry-Widgets (einer davon für die Ausgabe), einer Combobox und einem Button:</a:t>
            </a:r>
          </a:p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D2E0E8F-E725-4DEF-9699-D57486F5D710}"/>
              </a:ext>
            </a:extLst>
          </p:cNvPr>
          <p:cNvSpPr txBox="1"/>
          <p:nvPr/>
        </p:nvSpPr>
        <p:spPr>
          <a:xfrm>
            <a:off x="7858540" y="1274595"/>
            <a:ext cx="4032448" cy="521681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</a:p>
          <a:p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ttk</a:t>
            </a:r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berechne():</a:t>
            </a: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rechnung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=ent1.get()+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combo.get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()+ent2.get()</a:t>
            </a: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erg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rechnung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ent3.delete(0,END)</a:t>
            </a: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ent3.insert(END,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erg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root =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root.title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("4 Rechenarten")</a:t>
            </a:r>
          </a:p>
          <a:p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root.wm_geometry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("500x150+2561+300")</a:t>
            </a:r>
          </a:p>
          <a:p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root.option_add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("*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"Calibri 14")</a:t>
            </a:r>
          </a:p>
          <a:p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lbl1 = Label(root,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="Eine Zahl eingeben:",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=10)</a:t>
            </a: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lbl1.grid(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sticky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=W)</a:t>
            </a: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lbl2 = Label(root,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="Noch eine Zahl:")</a:t>
            </a: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lbl2.grid(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sticky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=W)</a:t>
            </a: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lbl3 = Label(root,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="Ergebnis:")</a:t>
            </a: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lbl3.grid(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sticky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=10)</a:t>
            </a:r>
          </a:p>
          <a:p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ent1 = Entry(root)</a:t>
            </a: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ent1.grid(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sticky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=W)</a:t>
            </a: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ent2 = Entry(root)</a:t>
            </a: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ent2.grid(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sticky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=W)</a:t>
            </a: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ent3 = Entry(root)</a:t>
            </a:r>
          </a:p>
          <a:p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ent3.grid(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sticky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=W)</a:t>
            </a:r>
          </a:p>
          <a:p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Button(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="Berechne",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=berechne)</a:t>
            </a:r>
          </a:p>
          <a:p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btn.grid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=2,row=1,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padx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=20)</a:t>
            </a:r>
          </a:p>
          <a:p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optionen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=["+", "-", "*", "/"]</a:t>
            </a:r>
          </a:p>
          <a:p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combo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ttk.Combobox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(root,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optionen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combo.grid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padx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=20, </a:t>
            </a:r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sticky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=W)</a:t>
            </a:r>
          </a:p>
          <a:p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combo.current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(0)</a:t>
            </a:r>
          </a:p>
          <a:p>
            <a:endParaRPr lang="de-DE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root.mainloop</a:t>
            </a:r>
            <a:r>
              <a:rPr lang="de-DE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A027C64-D291-4384-86C4-CDE84E394C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3" r="1499" b="5146"/>
          <a:stretch/>
        </p:blipFill>
        <p:spPr>
          <a:xfrm>
            <a:off x="1271464" y="4797375"/>
            <a:ext cx="4924476" cy="17156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06495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416CE5-EA79-4614-9777-7F38F2524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648" y="160337"/>
            <a:ext cx="7283152" cy="1143000"/>
          </a:xfrm>
        </p:spPr>
        <p:txBody>
          <a:bodyPr/>
          <a:lstStyle/>
          <a:p>
            <a:r>
              <a:rPr lang="de-DE"/>
              <a:t>Tinker-GUI als OOP-Programm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FBBF99-B576-4074-B67F-E14ED9CB5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1226089"/>
            <a:ext cx="6912768" cy="5471574"/>
          </a:xfrm>
        </p:spPr>
        <p:txBody>
          <a:bodyPr>
            <a:normAutofit/>
          </a:bodyPr>
          <a:lstStyle/>
          <a:p>
            <a:r>
              <a:rPr lang="de-DE" dirty="0"/>
              <a:t>Gesamte GUI in eine Klasse verpacken</a:t>
            </a:r>
          </a:p>
          <a:p>
            <a:r>
              <a:rPr lang="de-DE" dirty="0"/>
              <a:t>Sämtliche Widgets in die 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__(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de-DE" dirty="0"/>
              <a:t>(Konstruktor)</a:t>
            </a:r>
          </a:p>
          <a:p>
            <a:r>
              <a:rPr lang="de-DE" dirty="0"/>
              <a:t>Sämtliche Objekte / Widgets mit 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self.name </a:t>
            </a:r>
            <a:r>
              <a:rPr lang="de-DE" dirty="0"/>
              <a:t>ansprechen, z.B. </a:t>
            </a:r>
            <a:br>
              <a:rPr lang="de-DE" dirty="0"/>
            </a:b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self.entry1 = Entry(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self.win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dirty="0"/>
              <a:t>Im Hauptprogramm erfolgt dann nur der Klassenaufruf und die </a:t>
            </a:r>
            <a:r>
              <a:rPr lang="de-DE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win.mainloop</a:t>
            </a:r>
            <a:r>
              <a:rPr lang="de-DE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4C28CE4-4C20-4CBF-A17A-61408C614E46}"/>
              </a:ext>
            </a:extLst>
          </p:cNvPr>
          <p:cNvSpPr txBox="1"/>
          <p:nvPr/>
        </p:nvSpPr>
        <p:spPr>
          <a:xfrm>
            <a:off x="7032104" y="1340768"/>
            <a:ext cx="4860032" cy="501675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</a:p>
          <a:p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ttk</a:t>
            </a:r>
            <a:endParaRPr lang="de-DE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Rechner: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self.win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Tk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self.win.title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("4 Rechenarten")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self.win.wm_geometry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("500x150+2561+300")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self.win.option_add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("*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"Calibri 14")</a:t>
            </a:r>
          </a:p>
          <a:p>
            <a:endParaRPr lang="de-DE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self.lbl1 = Label(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self.win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="Eine Zahl eingeben:",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=10)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self.lbl1.grid(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sticky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self.lbl2 = Label(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self.win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="Noch eine Zahl:")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self.lbl2.grid(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sticky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self.lbl3 = Label(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self.win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="Ergebnis:")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self.lbl3.grid(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sticky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pady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=10)</a:t>
            </a:r>
          </a:p>
          <a:p>
            <a:endParaRPr lang="de-DE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self.ent1 = Entry(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self.win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self.ent1.grid(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sticky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self.ent2 = Entry(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self.win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self.ent2.grid(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sticky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self.ent3 = Entry(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self.win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self.ent3.grid(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sticky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=W)</a:t>
            </a:r>
          </a:p>
          <a:p>
            <a:endParaRPr lang="de-DE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self.btn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Button(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self.win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="Berechne",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self.berechne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self.btn.grid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=2,row=1,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padx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=20)</a:t>
            </a:r>
          </a:p>
          <a:p>
            <a:endParaRPr lang="de-DE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optionen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=["+", "-", "*", "/"]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self.combo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ttk.Combobox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self.win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optionen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self.combo.grid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padx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=20,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sticky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=W)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self.combo.current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(0)    </a:t>
            </a:r>
          </a:p>
          <a:p>
            <a:endParaRPr lang="de-DE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berechne(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rechnung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=self.ent1.get()+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self.combo.get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()+self.ent2.get()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erg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rechnung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self.ent3.delete(0,END)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self.ent3.insert(END, </a:t>
            </a:r>
            <a:r>
              <a:rPr lang="de-DE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erg</a:t>
            </a:r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de-DE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r1 = Rechner()</a:t>
            </a:r>
          </a:p>
          <a:p>
            <a:r>
              <a:rPr lang="de-DE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r1.win.mainloop()</a:t>
            </a:r>
          </a:p>
        </p:txBody>
      </p:sp>
    </p:spTree>
    <p:extLst>
      <p:ext uri="{BB962C8B-B14F-4D97-AF65-F5344CB8AC3E}">
        <p14:creationId xmlns:p14="http://schemas.microsoft.com/office/powerpoint/2010/main" val="1024538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ABF51A-633C-4EB7-BEE0-A7262F8D9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531" y="274638"/>
            <a:ext cx="7968885" cy="1143000"/>
          </a:xfrm>
        </p:spPr>
        <p:txBody>
          <a:bodyPr>
            <a:normAutofit fontScale="90000"/>
          </a:bodyPr>
          <a:lstStyle/>
          <a:p>
            <a:r>
              <a:rPr lang="de-DE" dirty="0"/>
              <a:t>Tipp: Eigenschaften/Optionen </a:t>
            </a:r>
            <a:br>
              <a:rPr lang="de-DE" dirty="0"/>
            </a:br>
            <a:r>
              <a:rPr lang="de-DE" dirty="0"/>
              <a:t>eines Widgets anzeigen lassen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B2EC95-1DC7-4D8F-8F28-08538614D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600200"/>
            <a:ext cx="7848872" cy="2908920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Mit Hilfe einer Schleife können wir uns alle Attribute eines Widgets im Terminal ausgeben lassen.</a:t>
            </a:r>
          </a:p>
          <a:p>
            <a:r>
              <a:rPr lang="de-DE" dirty="0"/>
              <a:t>Die Attribute sind intern in einem Dictionary abgelegt und werden dann als Schlüssel-Werte Paare ausgegeben.</a:t>
            </a:r>
          </a:p>
          <a:p>
            <a:r>
              <a:rPr lang="de-DE" dirty="0"/>
              <a:t>Dadurch kann man </a:t>
            </a:r>
            <a:r>
              <a:rPr lang="de-DE" dirty="0" err="1"/>
              <a:t>tw</a:t>
            </a:r>
            <a:r>
              <a:rPr lang="de-DE" dirty="0"/>
              <a:t>. auch ohne Dokumentation ersehen, welche Eigenschaften eines Widgets unter welchem Attribut anpassbar sind.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AD0DF34-3454-4C4B-B09A-A924FA72F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34" y="4653136"/>
            <a:ext cx="7584390" cy="169577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1D76755-9960-4542-A1A1-C6001732B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240" y="1600201"/>
            <a:ext cx="3600400" cy="500543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24393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27415D-2BCE-493F-B4CD-086C2ED3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Links </a:t>
            </a:r>
            <a:r>
              <a:rPr lang="de-DE" dirty="0" err="1"/>
              <a:t>Tkinter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5C0DED-612B-4C77-BF63-019248EDA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1270856"/>
            <a:ext cx="11593288" cy="5587144"/>
          </a:xfrm>
        </p:spPr>
        <p:txBody>
          <a:bodyPr>
            <a:normAutofit lnSpcReduction="10000"/>
          </a:bodyPr>
          <a:lstStyle/>
          <a:p>
            <a:r>
              <a:rPr lang="de-DE" sz="2800" dirty="0">
                <a:hlinkClick r:id="rId2"/>
              </a:rPr>
              <a:t>https://wiki.python.org/moin/GuiProgramming</a:t>
            </a:r>
            <a:br>
              <a:rPr lang="de-DE" sz="2800" dirty="0">
                <a:hlinkClick r:id="rId3"/>
              </a:rPr>
            </a:br>
            <a:r>
              <a:rPr lang="de-DE" sz="2800" dirty="0"/>
              <a:t>(Liste von GUI-Toolkits/Modulen für Python)</a:t>
            </a:r>
            <a:endParaRPr lang="de-DE" sz="2800" dirty="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de-DE" sz="2800" dirty="0">
                <a:hlinkClick r:id="rId3"/>
              </a:rPr>
              <a:t>https://www.delftstack.com/de/howto/python-tkinter/</a:t>
            </a:r>
            <a:r>
              <a:rPr lang="de-DE" sz="2800" dirty="0"/>
              <a:t> (Lehrreiche FAQ)</a:t>
            </a:r>
          </a:p>
          <a:p>
            <a:r>
              <a:rPr lang="de-DE" sz="2800" dirty="0">
                <a:hlinkClick r:id="rId4"/>
              </a:rPr>
              <a:t>https://www.geeksforgeeks.org/python-gui-tkinter/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 dirty="0">
                <a:hlinkClick r:id="rId5"/>
              </a:rPr>
              <a:t>https://www.studytonight.com/tkinter/python-tkinter-widgets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1800" dirty="0"/>
              <a:t>(Übersichtliche Erklärungen der wichtigsten Widgets und deren Optionen)</a:t>
            </a:r>
          </a:p>
          <a:p>
            <a:r>
              <a:rPr lang="de-DE" sz="2800" dirty="0">
                <a:hlinkClick r:id="rId6"/>
              </a:rPr>
              <a:t>https://www.python-kurs.eu/python_tkinter.php</a:t>
            </a:r>
            <a:r>
              <a:rPr lang="de-DE" sz="2800" dirty="0"/>
              <a:t> (</a:t>
            </a:r>
            <a:r>
              <a:rPr lang="de-DE" sz="2800" dirty="0" err="1"/>
              <a:t>Tkinter</a:t>
            </a:r>
            <a:r>
              <a:rPr lang="de-DE" sz="2800" dirty="0"/>
              <a:t> Tutorial)</a:t>
            </a:r>
          </a:p>
          <a:p>
            <a:r>
              <a:rPr lang="de-DE" sz="2800" dirty="0">
                <a:hlinkClick r:id="rId7"/>
              </a:rPr>
              <a:t>https://visualtk.com/</a:t>
            </a:r>
            <a:r>
              <a:rPr lang="de-DE" sz="2800" dirty="0"/>
              <a:t> (Online GUI-Designer)</a:t>
            </a:r>
          </a:p>
          <a:p>
            <a:r>
              <a:rPr lang="de-DE" sz="2800" dirty="0">
                <a:hlinkClick r:id="rId8"/>
              </a:rPr>
              <a:t>https://customtkinter.tomschimansky.com/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 dirty="0"/>
              <a:t>(Custom </a:t>
            </a:r>
            <a:r>
              <a:rPr lang="de-DE" sz="2800" dirty="0" err="1"/>
              <a:t>Tkinter</a:t>
            </a:r>
            <a:r>
              <a:rPr lang="de-DE" sz="2800" dirty="0"/>
              <a:t>, Alternative zu </a:t>
            </a:r>
            <a:r>
              <a:rPr lang="de-DE" sz="2800" dirty="0" err="1"/>
              <a:t>Tkinter</a:t>
            </a:r>
            <a:r>
              <a:rPr lang="de-DE" sz="2800" dirty="0"/>
              <a:t> für </a:t>
            </a:r>
            <a:br>
              <a:rPr lang="de-DE" sz="2800" dirty="0"/>
            </a:br>
            <a:r>
              <a:rPr lang="de-DE" sz="2800" dirty="0"/>
              <a:t>modernes GUI-Design)</a:t>
            </a:r>
          </a:p>
          <a:p>
            <a:r>
              <a:rPr lang="de-DE" sz="1400" dirty="0">
                <a:hlinkClick r:id="rId9"/>
              </a:rPr>
              <a:t>https://www.youtube.com/playlist?list=PLfZw_tZWahjxJl81b1S-vYQwHs_9ZT77f</a:t>
            </a:r>
            <a:r>
              <a:rPr lang="de-DE" sz="1400" dirty="0"/>
              <a:t> </a:t>
            </a:r>
            <a:br>
              <a:rPr lang="de-DE" sz="1400" dirty="0"/>
            </a:br>
            <a:r>
              <a:rPr lang="de-DE" sz="2800" dirty="0"/>
              <a:t>(Playlist zu Custom </a:t>
            </a:r>
            <a:r>
              <a:rPr lang="de-DE" sz="2800" dirty="0" err="1"/>
              <a:t>Tkinter</a:t>
            </a:r>
            <a:r>
              <a:rPr lang="de-DE" sz="2800" dirty="0"/>
              <a:t>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0B0B01B-AB5B-731B-DE79-346EA50648D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749" t="5239" r="4367" b="12772"/>
          <a:stretch/>
        </p:blipFill>
        <p:spPr>
          <a:xfrm>
            <a:off x="6960096" y="4568528"/>
            <a:ext cx="5112568" cy="213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680937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3817</Words>
  <Application>Microsoft Office PowerPoint</Application>
  <PresentationFormat>Breitbild</PresentationFormat>
  <Paragraphs>375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8" baseType="lpstr">
      <vt:lpstr>Wingdings</vt:lpstr>
      <vt:lpstr>Consolas</vt:lpstr>
      <vt:lpstr>Courier New</vt:lpstr>
      <vt:lpstr>Calibri</vt:lpstr>
      <vt:lpstr>arial</vt:lpstr>
      <vt:lpstr>arial</vt:lpstr>
      <vt:lpstr>Larissa</vt:lpstr>
      <vt:lpstr>Mit Python und Tkinter grafische Benutzeroberflächen (GUIs) programmieren</vt:lpstr>
      <vt:lpstr>Exkurs: Was macht eine ergonomische GUI aus?</vt:lpstr>
      <vt:lpstr>Grafische Benutzeroberflächen (GUI) mit dem Modul tkinter</vt:lpstr>
      <vt:lpstr>Beispiele GUI-Sketches / Wireframes / Mockups</vt:lpstr>
      <vt:lpstr>Tkinter Widgets Überblick</vt:lpstr>
      <vt:lpstr>Grundaufbau einer  Applikation mit tkinter</vt:lpstr>
      <vt:lpstr>Tk-Fenster und Button erzeugen</vt:lpstr>
      <vt:lpstr>Tk-Fenster mit Button und formatiertem Textfeld</vt:lpstr>
      <vt:lpstr>Das Hauptfenster Tk() und seine aufrufbaren Methoden</vt:lpstr>
      <vt:lpstr>Die Widget-Klassen  Label(), Entry() und Button()</vt:lpstr>
      <vt:lpstr>Entry und Label - Widgets mit dem -.place()- Layoutmanager platzieren</vt:lpstr>
      <vt:lpstr>Entry und Label - Widgets mit dem .pack()- Layoutmanager platzieren</vt:lpstr>
      <vt:lpstr>Noch mehr Widgets hinzufügen mit unterschiedlichen Frames</vt:lpstr>
      <vt:lpstr>Beispiel-Applikation  mit Ein- und Ausgabe</vt:lpstr>
      <vt:lpstr>GUI mit Combobox</vt:lpstr>
      <vt:lpstr>Lambda-Funktionsaufrufe</vt:lpstr>
      <vt:lpstr>.grid(…)- Layoutmanager</vt:lpstr>
      <vt:lpstr>Beispielcode .grid()</vt:lpstr>
      <vt:lpstr>Tinker-GUI als OOP-Programm</vt:lpstr>
      <vt:lpstr>Tipp: Eigenschaften/Optionen  eines Widgets anzeigen lassen</vt:lpstr>
      <vt:lpstr>Links Tkinter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3</dc:title>
  <dc:creator>Roth</dc:creator>
  <cp:lastModifiedBy>Michael Roth</cp:lastModifiedBy>
  <cp:revision>927</cp:revision>
  <dcterms:created xsi:type="dcterms:W3CDTF">2019-09-11T12:06:55Z</dcterms:created>
  <dcterms:modified xsi:type="dcterms:W3CDTF">2026-01-14T18:21:08Z</dcterms:modified>
</cp:coreProperties>
</file>