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5"/>
  </p:notesMasterIdLst>
  <p:sldIdLst>
    <p:sldId id="256" r:id="rId2"/>
    <p:sldId id="262" r:id="rId3"/>
    <p:sldId id="367" r:id="rId4"/>
    <p:sldId id="287" r:id="rId5"/>
    <p:sldId id="265" r:id="rId6"/>
    <p:sldId id="336" r:id="rId7"/>
    <p:sldId id="314" r:id="rId8"/>
    <p:sldId id="261" r:id="rId9"/>
    <p:sldId id="271" r:id="rId10"/>
    <p:sldId id="266" r:id="rId11"/>
    <p:sldId id="269" r:id="rId12"/>
    <p:sldId id="270" r:id="rId13"/>
    <p:sldId id="272" r:id="rId14"/>
    <p:sldId id="263" r:id="rId15"/>
    <p:sldId id="260" r:id="rId16"/>
    <p:sldId id="370" r:id="rId17"/>
    <p:sldId id="264" r:id="rId18"/>
    <p:sldId id="273" r:id="rId19"/>
    <p:sldId id="317" r:id="rId20"/>
    <p:sldId id="326" r:id="rId21"/>
    <p:sldId id="274" r:id="rId22"/>
    <p:sldId id="309" r:id="rId23"/>
    <p:sldId id="318" r:id="rId24"/>
    <p:sldId id="275" r:id="rId25"/>
    <p:sldId id="276" r:id="rId26"/>
    <p:sldId id="280" r:id="rId27"/>
    <p:sldId id="277" r:id="rId28"/>
    <p:sldId id="401" r:id="rId29"/>
    <p:sldId id="290" r:id="rId30"/>
    <p:sldId id="291" r:id="rId31"/>
    <p:sldId id="310" r:id="rId32"/>
    <p:sldId id="278" r:id="rId33"/>
    <p:sldId id="371" r:id="rId34"/>
    <p:sldId id="316" r:id="rId35"/>
    <p:sldId id="368" r:id="rId36"/>
    <p:sldId id="319" r:id="rId37"/>
    <p:sldId id="320" r:id="rId38"/>
    <p:sldId id="268" r:id="rId39"/>
    <p:sldId id="321" r:id="rId40"/>
    <p:sldId id="323" r:id="rId41"/>
    <p:sldId id="279" r:id="rId42"/>
    <p:sldId id="322" r:id="rId43"/>
    <p:sldId id="369" r:id="rId44"/>
    <p:sldId id="372" r:id="rId45"/>
    <p:sldId id="381" r:id="rId46"/>
    <p:sldId id="396" r:id="rId47"/>
    <p:sldId id="397" r:id="rId48"/>
    <p:sldId id="374" r:id="rId49"/>
    <p:sldId id="412" r:id="rId50"/>
    <p:sldId id="283" r:id="rId51"/>
    <p:sldId id="284" r:id="rId52"/>
    <p:sldId id="373" r:id="rId53"/>
    <p:sldId id="293" r:id="rId54"/>
    <p:sldId id="295" r:id="rId55"/>
    <p:sldId id="296" r:id="rId56"/>
    <p:sldId id="297" r:id="rId57"/>
    <p:sldId id="282" r:id="rId58"/>
    <p:sldId id="288" r:id="rId59"/>
    <p:sldId id="289" r:id="rId60"/>
    <p:sldId id="406" r:id="rId61"/>
    <p:sldId id="405" r:id="rId62"/>
    <p:sldId id="308" r:id="rId63"/>
    <p:sldId id="409" r:id="rId64"/>
    <p:sldId id="411" r:id="rId65"/>
    <p:sldId id="410" r:id="rId66"/>
    <p:sldId id="414" r:id="rId67"/>
    <p:sldId id="285" r:id="rId68"/>
    <p:sldId id="421" r:id="rId69"/>
    <p:sldId id="422" r:id="rId70"/>
    <p:sldId id="420" r:id="rId71"/>
    <p:sldId id="423" r:id="rId72"/>
    <p:sldId id="357" r:id="rId73"/>
    <p:sldId id="415" r:id="rId74"/>
    <p:sldId id="358" r:id="rId75"/>
    <p:sldId id="359" r:id="rId76"/>
    <p:sldId id="391" r:id="rId77"/>
    <p:sldId id="408" r:id="rId78"/>
    <p:sldId id="407" r:id="rId79"/>
    <p:sldId id="416" r:id="rId80"/>
    <p:sldId id="413" r:id="rId81"/>
    <p:sldId id="292" r:id="rId82"/>
    <p:sldId id="298" r:id="rId83"/>
    <p:sldId id="394" r:id="rId84"/>
    <p:sldId id="395" r:id="rId85"/>
    <p:sldId id="404" r:id="rId86"/>
    <p:sldId id="375" r:id="rId87"/>
    <p:sldId id="385" r:id="rId88"/>
    <p:sldId id="332" r:id="rId89"/>
    <p:sldId id="393" r:id="rId90"/>
    <p:sldId id="376" r:id="rId91"/>
    <p:sldId id="377" r:id="rId92"/>
    <p:sldId id="337" r:id="rId93"/>
    <p:sldId id="311" r:id="rId94"/>
    <p:sldId id="312" r:id="rId95"/>
    <p:sldId id="313" r:id="rId96"/>
    <p:sldId id="382" r:id="rId97"/>
    <p:sldId id="383" r:id="rId98"/>
    <p:sldId id="402" r:id="rId99"/>
    <p:sldId id="378" r:id="rId100"/>
    <p:sldId id="379" r:id="rId101"/>
    <p:sldId id="380" r:id="rId102"/>
    <p:sldId id="398" r:id="rId103"/>
    <p:sldId id="399" r:id="rId104"/>
    <p:sldId id="400" r:id="rId105"/>
    <p:sldId id="335" r:id="rId106"/>
    <p:sldId id="364" r:id="rId107"/>
    <p:sldId id="417" r:id="rId108"/>
    <p:sldId id="388" r:id="rId109"/>
    <p:sldId id="361" r:id="rId110"/>
    <p:sldId id="387" r:id="rId111"/>
    <p:sldId id="362" r:id="rId112"/>
    <p:sldId id="365" r:id="rId113"/>
    <p:sldId id="389" r:id="rId114"/>
    <p:sldId id="390" r:id="rId115"/>
    <p:sldId id="418" r:id="rId116"/>
    <p:sldId id="419" r:id="rId117"/>
    <p:sldId id="403" r:id="rId118"/>
    <p:sldId id="386" r:id="rId119"/>
    <p:sldId id="257" r:id="rId120"/>
    <p:sldId id="366" r:id="rId121"/>
    <p:sldId id="315" r:id="rId122"/>
    <p:sldId id="331" r:id="rId123"/>
    <p:sldId id="360" r:id="rId124"/>
  </p:sldIdLst>
  <p:sldSz cx="9144000" cy="6858000" type="screen4x3"/>
  <p:notesSz cx="6858000" cy="9144000"/>
  <p:embeddedFontLst>
    <p:embeddedFont>
      <p:font typeface="aa QWERTZ-Tasten" panose="02000500000000000000" pitchFamily="2" charset="0"/>
      <p:regular r:id="rId126"/>
    </p:embeddedFont>
    <p:embeddedFont>
      <p:font typeface="Consolas" panose="020B0609020204030204" pitchFamily="49" charset="0"/>
      <p:regular r:id="rId127"/>
      <p:bold r:id="rId128"/>
      <p:italic r:id="rId129"/>
      <p:boldItalic r:id="rId130"/>
    </p:embeddedFont>
    <p:embeddedFont>
      <p:font typeface="Roboto" panose="02000000000000000000" pitchFamily="2" charset="0"/>
      <p:regular r:id="rId131"/>
      <p:bold r:id="rId132"/>
      <p:italic r:id="rId133"/>
      <p:boldItalic r:id="rId134"/>
    </p:embeddedFont>
    <p:embeddedFont>
      <p:font typeface="Source Code Pro" panose="020B0509030403020204" pitchFamily="49" charset="0"/>
      <p:regular r:id="rId135"/>
      <p:bold r:id="rId136"/>
      <p:italic r:id="rId137"/>
      <p:boldItalic r:id="rId138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41" autoAdjust="0"/>
    <p:restoredTop sz="94646"/>
  </p:normalViewPr>
  <p:slideViewPr>
    <p:cSldViewPr>
      <p:cViewPr varScale="1">
        <p:scale>
          <a:sx n="79" d="100"/>
          <a:sy n="79" d="100"/>
        </p:scale>
        <p:origin x="1194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13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font" Target="fonts/font3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9.fntdata"/><Relationship Id="rId139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font" Target="fonts/font4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5.fntdata"/><Relationship Id="rId135" Type="http://schemas.openxmlformats.org/officeDocument/2006/relationships/font" Target="fonts/font10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notesMaster" Target="notesMasters/notesMaster1.xml"/><Relationship Id="rId141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6.fntdata"/><Relationship Id="rId136" Type="http://schemas.openxmlformats.org/officeDocument/2006/relationships/font" Target="fonts/font11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fonts/font1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7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8.fntdata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18.05.2025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0588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18.05.2025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18.05.2025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18.05.2025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18.05.2025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18.05.2025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18.05.2025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18.05.2025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18.05.2025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18.05.2025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18.05.2025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18.05.2025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18.05.2025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27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hyperlink" Target="https://www.youtube.com/watch?v=i_23KUAEtUM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api.coindesk.com/v1/bpi/currentprice.js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micropython/" TargetMode="Externa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obbyelektroniker/Micropython-Grundlagen" TargetMode="External"/><Relationship Id="rId4" Type="http://schemas.openxmlformats.org/officeDocument/2006/relationships/hyperlink" Target="https://micropython.org/" TargetMode="Externa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://www.apachefriends.org/" TargetMode="Externa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0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1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lab.readthedocs.io/" TargetMode="External"/><Relationship Id="rId2" Type="http://schemas.openxmlformats.org/officeDocument/2006/relationships/hyperlink" Target="https://visualstudio.microsoft.com/de/vs/community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pi.org/project/spyder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studio.pl/" TargetMode="External"/><Relationship Id="rId13" Type="http://schemas.openxmlformats.org/officeDocument/2006/relationships/hyperlink" Target="https://databasedata.blue-l.de/" TargetMode="External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migano.de/testdaten.php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www.foxpoint.de/randomAdresses/" TargetMode="External"/><Relationship Id="rId5" Type="http://schemas.openxmlformats.org/officeDocument/2006/relationships/hyperlink" Target="https://www.heidisql.com/" TargetMode="External"/><Relationship Id="rId10" Type="http://schemas.openxmlformats.org/officeDocument/2006/relationships/hyperlink" Target="https://www.mockaroo.com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sqlitebrowser.org/" TargetMode="External"/><Relationship Id="rId14" Type="http://schemas.openxmlformats.org/officeDocument/2006/relationships/image" Target="../media/image61.png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dirty="0"/>
              <a:t>Multiplattform (Windows, MacOS, Linux, iOS, Android, Taschenrechner u.v.a.), Bestandteil der 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3.13.3 (Stand Mai 2025)</a:t>
            </a:r>
          </a:p>
          <a:p>
            <a:pPr lvl="1"/>
            <a:r>
              <a:rPr lang="de-DE" sz="1600" dirty="0"/>
              <a:t>Version 3.14 -&gt;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3.14 </a:t>
            </a:r>
            <a:r>
              <a:rPr lang="de-DE" sz="1600"/>
              <a:t>erscheint offiziell am 1.10.2025</a:t>
            </a:r>
            <a:endParaRPr lang="de-DE" sz="16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Python 3.xx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8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/>
                        <a:t>Modulo </a:t>
                      </a:r>
                      <a:br>
                        <a:rPr lang="de-DE" sz="1800"/>
                      </a:br>
                      <a:r>
                        <a:rPr lang="de-DE" sz="1800"/>
                        <a:t>(=Rest einer Division)</a:t>
                      </a:r>
                      <a:endParaRPr lang="de-DE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2120" y="3933056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lnSpcReduction="1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/>
              <a:t>) oder </a:t>
            </a:r>
            <a:r>
              <a:rPr lang="de-DE" dirty="0"/>
              <a:t>einem </a:t>
            </a:r>
            <a:r>
              <a:rPr lang="de-DE" sz="2800" b="1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/>
              <a:t> (oder beidem) kombiniert </a:t>
            </a:r>
            <a:r>
              <a:rPr lang="de-DE" dirty="0"/>
              <a:t>werden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ist </a:t>
            </a:r>
            <a:r>
              <a:rPr lang="de-DE" sz="22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kleiner 0')</a:t>
            </a:r>
            <a:endParaRPr lang="de-DE" sz="22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ist </a:t>
            </a:r>
            <a:r>
              <a:rPr lang="de-DE" sz="22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größer 200")</a:t>
            </a:r>
            <a:endParaRPr lang="de-DE" sz="22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liegt zwischen 0 </a:t>
            </a:r>
            <a:r>
              <a:rPr lang="de-DE" sz="22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und 200") </a:t>
            </a:r>
            <a:endParaRPr lang="de-DE" sz="22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br>
              <a:rPr lang="de-DE" sz="40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/>
              <a:t>In vielen Programmiersprachen gibt es auch mehrfache Verzweigungen, diese werden oft mit dem switch/case-Befehl (C/C#/Java) realisiert.</a:t>
            </a:r>
          </a:p>
          <a:p>
            <a:r>
              <a:rPr lang="de-DE"/>
              <a:t>In Python wurde das bislang mit </a:t>
            </a:r>
            <a:r>
              <a:rPr lang="de-DE" sz="3000" b="1">
                <a:latin typeface="Courier New" panose="02070309020205020404" pitchFamily="49" charset="0"/>
                <a:cs typeface="Courier New" panose="02070309020205020404" pitchFamily="49" charset="0"/>
              </a:rPr>
              <a:t>if…elif </a:t>
            </a:r>
            <a:r>
              <a:rPr lang="de-DE"/>
              <a:t>realisiert, seit Python 3.10 gibt es die match…case Mehrfachverzweigung.</a:t>
            </a:r>
          </a:p>
          <a:p>
            <a:r>
              <a:rPr lang="de-DE"/>
              <a:t>Beachten Sie, das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r>
              <a:rPr lang="de-DE"/>
              <a:t>keine Vergleichsoperatoren wie </a:t>
            </a:r>
            <a:r>
              <a:rPr lang="de-DE" b="1"/>
              <a:t>&gt;=</a:t>
            </a:r>
            <a:r>
              <a:rPr lang="de-DE"/>
              <a:t> oder </a:t>
            </a:r>
            <a:r>
              <a:rPr lang="de-DE" b="1"/>
              <a:t>&lt;</a:t>
            </a:r>
            <a:r>
              <a:rPr lang="de-DE"/>
              <a:t> nutzbar sind!</a:t>
            </a:r>
          </a:p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sz="2400" dirty="0"/>
              <a:t>Eine Liste kann als Elemente auch weitere 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168" y="1548011"/>
            <a:ext cx="5915000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(„Verzeichnisse") bestehen aus </a:t>
            </a:r>
            <a:r>
              <a:rPr lang="de-DE" sz="2800" dirty="0" err="1"/>
              <a:t>Key:Value</a:t>
            </a:r>
            <a:r>
              <a:rPr lang="de-DE" sz="2800" dirty="0"/>
              <a:t> - Paaren (</a:t>
            </a:r>
            <a:r>
              <a:rPr lang="de-DE" sz="2800" dirty="0" err="1"/>
              <a:t>Schlüssel:Wert</a:t>
            </a:r>
            <a:r>
              <a:rPr lang="de-DE" sz="2800" dirty="0"/>
              <a:t>), die mit Kommas getrennt sind, das gesamte Dictionary ist mit {…} umklammert</a:t>
            </a:r>
          </a:p>
          <a:p>
            <a:pPr marL="0" indent="0" algn="ctr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im immer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 dirty="0">
                <a:latin typeface="Consolas" panose="020B0609020204030204" pitchFamily="49" charset="0"/>
              </a:rPr>
              <a:t>einwohner 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Zufallszahlen (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596336" y="4293096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Exkurs: 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Python Module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8760"/>
            <a:ext cx="9144000" cy="5589240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122378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94086"/>
            <a:ext cx="8856984" cy="460851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Funktion.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endParaRPr lang="de-DE" dirty="0"/>
          </a:p>
          <a:p>
            <a:endParaRPr lang="de-DE" dirty="0"/>
          </a:p>
          <a:p>
            <a:endParaRPr lang="de-DE" b="1" dirty="0"/>
          </a:p>
          <a:p>
            <a:endParaRPr lang="de-DE" dirty="0"/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3726334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4945690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3726334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4843269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527075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5996478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5766388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346260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9226730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19673458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Text </a:t>
            </a:r>
            <a:r>
              <a:rPr lang="de-DE" sz="3600" dirty="0"/>
              <a:t>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41763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de-DE" sz="2800" dirty="0"/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796136" y="3212976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1115616" y="3140968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Listen, Tupel, </a:t>
            </a:r>
            <a:r>
              <a:rPr lang="de-DE" sz="2400" dirty="0" err="1"/>
              <a:t>Dictionaries</a:t>
            </a:r>
            <a:r>
              <a:rPr lang="de-DE" sz="2400" dirty="0"/>
              <a:t>, Klassen,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196752"/>
            <a:ext cx="8748463" cy="2016224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2.2025)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5040560" cy="3312368"/>
          </a:xfrm>
          <a:ln>
            <a:noFill/>
          </a:ln>
        </p:spPr>
        <p:txBody>
          <a:bodyPr>
            <a:normAutofit lnSpcReduction="10000"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1700" dirty="0">
                <a:hlinkClick r:id="rId2"/>
              </a:rPr>
              <a:t>https://api.coindesk.com/v1/bpi/currentprice.json</a:t>
            </a:r>
            <a:r>
              <a:rPr lang="de-DE" sz="1700" dirty="0"/>
              <a:t> </a:t>
            </a:r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755576" y="4515528"/>
            <a:ext cx="743749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="https://api.coindesk.com/v1/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currentprice.json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("BTC rate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:",daten["time"]["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updated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"], end=": ")</a:t>
            </a: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"]["EUR"]["rate"],"€")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CAA6878-AE26-B44D-2D48-B28DF24918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839" y="1268759"/>
            <a:ext cx="3138601" cy="321676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3.2024)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nVorhersage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heutige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("Vorhersage 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4655893"/>
              </p:ext>
            </p:extLst>
          </p:nvPr>
        </p:nvGraphicFramePr>
        <p:xfrm>
          <a:off x="899592" y="4077072"/>
          <a:ext cx="583264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76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3769882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tblDaten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Zahl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(Zahl) VALUES(3.14)"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[0],end = " ") # Datenfeld ID 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		   # Datenfeld Wert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meineDaten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[1]:6}")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mit f-String ausgeben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endParaRPr lang="de-DE" dirty="0"/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tblDaten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</a:t>
            </a:r>
            <a:br>
              <a:rPr lang="de-DE"/>
            </a:br>
            <a:r>
              <a:rPr lang="de-DE"/>
              <a:t>(</a:t>
            </a:r>
            <a:r>
              <a:rPr lang="de-DE" sz="4400" b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über das Netzwerk auf beliebige </a:t>
            </a:r>
            <a:r>
              <a:rPr lang="de-DE" dirty="0" err="1"/>
              <a:t>MariaDB</a:t>
            </a:r>
            <a:r>
              <a:rPr lang="de-DE" dirty="0"/>
              <a:t> - Instanzen/Server zugreifen. Für </a:t>
            </a:r>
            <a:r>
              <a:rPr lang="de-DE" dirty="0" err="1"/>
              <a:t>mySQL</a:t>
            </a:r>
            <a:r>
              <a:rPr lang="de-DE" dirty="0"/>
              <a:t> Datenbanken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endParaRPr lang="de-DE" dirty="0"/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 (vorher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erzeugen):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tblDaten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DB schließen.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322470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VALUES('Afri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61679992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FROM tblDaten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0361453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DB356B1-A2A6-437F-A998-2CA52AEF27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SQLite3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100458B-DF2C-411F-BC88-C5245F95BA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MySQL / 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installieren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einbinden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Auto-Commit nach Öffnen der DB einschalten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435280" cy="4099594"/>
          </a:xfrm>
        </p:spPr>
        <p:txBody>
          <a:bodyPr>
            <a:normAutofit fontScale="850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576064" y="5288631"/>
            <a:ext cx="8316416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Zeile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/>
              <a:t>Funktion durchführen</a:t>
            </a:r>
            <a:r>
              <a:rPr lang="de-DE" dirty="0"/>
              <a:t>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(t)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2900" b="1" dirty="0"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FEEC1-1D9E-C3F3-AC2D-0720A30BB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MicroPython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74205B-D708-584D-49BF-D4C5ABD24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389470"/>
            <a:ext cx="8229600" cy="2532544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MicroPython</a:t>
            </a:r>
            <a:r>
              <a:rPr lang="de-DE" dirty="0"/>
              <a:t> ist eine spezielle Version von Python, mit nahezu identischer Syntax, optimiert für Microcontroller (Arduino </a:t>
            </a:r>
            <a:r>
              <a:rPr lang="de-DE" dirty="0" err="1"/>
              <a:t>Giga</a:t>
            </a:r>
            <a:r>
              <a:rPr lang="de-DE" dirty="0"/>
              <a:t>, Nano und Primo, ESP32, ESP8266 und andere)</a:t>
            </a:r>
          </a:p>
          <a:p>
            <a:r>
              <a:rPr lang="de-DE" dirty="0"/>
              <a:t>Es benötigt weniger Speicher und Rechenzeit, verlangt vom Programmierer aber teilweise etwas mehr Beachtung der Ressourcen (z.B. Speicher freigeben)</a:t>
            </a:r>
          </a:p>
          <a:p>
            <a:r>
              <a:rPr lang="de-DE" dirty="0" err="1"/>
              <a:t>MicroPython</a:t>
            </a:r>
            <a:r>
              <a:rPr lang="de-DE" dirty="0"/>
              <a:t> unterstützt auch nur einen Teil der Module, die Bestandteil der Python-Standardbibliothek sind.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69B4537-07E8-D1FC-73B3-6331A6A51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3" y="3933057"/>
            <a:ext cx="3528392" cy="253254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ACFFAE2-1C7F-B712-B649-0B2A757AD15C}"/>
              </a:ext>
            </a:extLst>
          </p:cNvPr>
          <p:cNvSpPr txBox="1"/>
          <p:nvPr/>
        </p:nvSpPr>
        <p:spPr>
          <a:xfrm>
            <a:off x="1246991" y="6429473"/>
            <a:ext cx="2833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Beispielcode: Blinkende LED an PIN2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3E00BF-524A-2B80-21B7-9FC5F4FF33E8}"/>
              </a:ext>
            </a:extLst>
          </p:cNvPr>
          <p:cNvSpPr txBox="1"/>
          <p:nvPr/>
        </p:nvSpPr>
        <p:spPr>
          <a:xfrm>
            <a:off x="4716017" y="4298182"/>
            <a:ext cx="3816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Links:</a:t>
            </a:r>
          </a:p>
          <a:p>
            <a:pPr algn="ctr"/>
            <a:r>
              <a:rPr lang="de-DE" dirty="0">
                <a:hlinkClick r:id="rId3"/>
              </a:rPr>
              <a:t>https://docs.arduino.cc/micropython/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4"/>
              </a:rPr>
              <a:t>https://micropython.org/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5"/>
              </a:rPr>
              <a:t>https://github.com/hobbyelektroniker/Micropython-Grundlagen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2203978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33A13-A2B1-5279-E06B-86067261B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Entwicklungsplattform XAMPP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470087-5D69-44D8-D9BF-3B82AE224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76" y="1350620"/>
            <a:ext cx="8579296" cy="2764904"/>
          </a:xfrm>
        </p:spPr>
        <p:txBody>
          <a:bodyPr>
            <a:normAutofit fontScale="85000" lnSpcReduction="10000"/>
          </a:bodyPr>
          <a:lstStyle/>
          <a:p>
            <a:r>
              <a:rPr lang="de-DE"/>
              <a:t>Entwickler-Komplettpaket mit Apache-Webserver, MariaDB, PHP und Perl (Skriptsprache)</a:t>
            </a:r>
          </a:p>
          <a:p>
            <a:r>
              <a:rPr lang="de-DE"/>
              <a:t>Außerdem dabei: phpMyAdmin, Filezilla (FTP-Server), Mercury (Mailserver), Tomcat (Java-Webserver)</a:t>
            </a:r>
          </a:p>
          <a:p>
            <a:r>
              <a:rPr lang="de-DE"/>
              <a:t>Multiplattform (Win, macOS, Linux)</a:t>
            </a:r>
          </a:p>
          <a:p>
            <a:r>
              <a:rPr lang="de-DE"/>
              <a:t>Download von </a:t>
            </a:r>
            <a:r>
              <a:rPr lang="de-DE">
                <a:hlinkClick r:id="rId2"/>
              </a:rPr>
              <a:t>www.apachefriends.org</a:t>
            </a:r>
            <a:r>
              <a:rPr lang="de-DE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43366E-EBF4-DD7A-D7E5-C3D64A3B6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4115524"/>
            <a:ext cx="4252667" cy="270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1397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4525963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https://visualstudio.microsoft.com/de/vs/community/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(Entwicklungsumgebung von Microsoft, Multiplattform)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https://www.jetbrains.com/de-de/pycharm/ </a:t>
            </a:r>
            <a:br>
              <a:rPr lang="de-DE" dirty="0">
                <a:hlinkClick r:id="rId4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über die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https://www.heidisql.com/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(Heidi-SQL-Editor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https://sqlitestudio.pl/</a:t>
            </a:r>
            <a:r>
              <a:rPr lang="de-DE" sz="2800" dirty="0"/>
              <a:t> (SQLite-Editor)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1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3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17184</Words>
  <Application>Microsoft Office PowerPoint</Application>
  <PresentationFormat>Bildschirmpräsentation (4:3)</PresentationFormat>
  <Paragraphs>1398</Paragraphs>
  <Slides>123</Slides>
  <Notes>6</Notes>
  <HiddenSlides>4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123</vt:i4>
      </vt:variant>
    </vt:vector>
  </HeadingPairs>
  <TitlesOfParts>
    <vt:vector size="133" baseType="lpstr">
      <vt:lpstr>Wingdings</vt:lpstr>
      <vt:lpstr>arial</vt:lpstr>
      <vt:lpstr>aa QWERTZ-Tasten</vt:lpstr>
      <vt:lpstr>arial</vt:lpstr>
      <vt:lpstr>Roboto</vt:lpstr>
      <vt:lpstr>Calibri</vt:lpstr>
      <vt:lpstr>Consolas</vt:lpstr>
      <vt:lpstr>Source Code Pro</vt:lpstr>
      <vt:lpstr>Courier New</vt:lpstr>
      <vt:lpstr>Larissa</vt:lpstr>
      <vt:lpstr>Python 3 Einführung (Fachinformatiker)</vt:lpstr>
      <vt:lpstr>BASIC / Python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Dictionaries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Exkurs: Zeitmessung mit time.time()</vt:lpstr>
      <vt:lpstr>String-Formatierung  mit f-Strings</vt:lpstr>
      <vt:lpstr>Mit import zusätzliche  Python-Module nutzen - Teil 1</vt:lpstr>
      <vt:lpstr>Mit import zusätzliche  Python-Module nutzen - Teil 2</vt:lpstr>
      <vt:lpstr>Python Module</vt:lpstr>
      <vt:lpstr>Die IDLE-Shell</vt:lpstr>
      <vt:lpstr>Unterprogramme  (Prozeduren &amp; Funktionen)</vt:lpstr>
      <vt:lpstr>Unterprogramme  (Prozeduren &amp; Funktionen)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Weitere Tipps SQLite</vt:lpstr>
      <vt:lpstr>Vorbereiten des DB-Zugriffs  (MySQL)</vt:lpstr>
      <vt:lpstr>Daten / Befehle in die Datenbank schreiben (MySQL)</vt:lpstr>
      <vt:lpstr>Daten aus der Datenbank abfragen und auf dem Bildschirm ausgeben (MySQL)</vt:lpstr>
      <vt:lpstr>Vorbereiten des DB-Zugriffs  (MariaDB)</vt:lpstr>
      <vt:lpstr>Daten / Befehle in die Datenbank schreiben (MariaDB)</vt:lpstr>
      <vt:lpstr>Daten aus der Datenbank abfragen und auf dem Bildschirm ausgeben (MariaDB)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MicroPython</vt:lpstr>
      <vt:lpstr>Entwicklungsplattform XAMPP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960</cp:revision>
  <dcterms:created xsi:type="dcterms:W3CDTF">2019-09-11T12:06:55Z</dcterms:created>
  <dcterms:modified xsi:type="dcterms:W3CDTF">2025-05-18T16:30:39Z</dcterms:modified>
</cp:coreProperties>
</file>