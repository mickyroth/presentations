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6"/>
  </p:notesMasterIdLst>
  <p:sldIdLst>
    <p:sldId id="256" r:id="rId2"/>
    <p:sldId id="262" r:id="rId3"/>
    <p:sldId id="426" r:id="rId4"/>
    <p:sldId id="367" r:id="rId5"/>
    <p:sldId id="287" r:id="rId6"/>
    <p:sldId id="265" r:id="rId7"/>
    <p:sldId id="336" r:id="rId8"/>
    <p:sldId id="314" r:id="rId9"/>
    <p:sldId id="261" r:id="rId10"/>
    <p:sldId id="271" r:id="rId11"/>
    <p:sldId id="266" r:id="rId12"/>
    <p:sldId id="269" r:id="rId13"/>
    <p:sldId id="270" r:id="rId14"/>
    <p:sldId id="272" r:id="rId15"/>
    <p:sldId id="263" r:id="rId16"/>
    <p:sldId id="260" r:id="rId17"/>
    <p:sldId id="370" r:id="rId18"/>
    <p:sldId id="264" r:id="rId19"/>
    <p:sldId id="273" r:id="rId20"/>
    <p:sldId id="317" r:id="rId21"/>
    <p:sldId id="326" r:id="rId22"/>
    <p:sldId id="274" r:id="rId23"/>
    <p:sldId id="309" r:id="rId24"/>
    <p:sldId id="318" r:id="rId25"/>
    <p:sldId id="275" r:id="rId26"/>
    <p:sldId id="276" r:id="rId27"/>
    <p:sldId id="280" r:id="rId28"/>
    <p:sldId id="277" r:id="rId29"/>
    <p:sldId id="401" r:id="rId30"/>
    <p:sldId id="427" r:id="rId31"/>
    <p:sldId id="290" r:id="rId32"/>
    <p:sldId id="291" r:id="rId33"/>
    <p:sldId id="310" r:id="rId34"/>
    <p:sldId id="278" r:id="rId35"/>
    <p:sldId id="371" r:id="rId36"/>
    <p:sldId id="316" r:id="rId37"/>
    <p:sldId id="424" r:id="rId38"/>
    <p:sldId id="368" r:id="rId39"/>
    <p:sldId id="323" r:id="rId40"/>
    <p:sldId id="279" r:id="rId41"/>
    <p:sldId id="319" r:id="rId42"/>
    <p:sldId id="320" r:id="rId43"/>
    <p:sldId id="268" r:id="rId44"/>
    <p:sldId id="321" r:id="rId45"/>
    <p:sldId id="322" r:id="rId46"/>
    <p:sldId id="369" r:id="rId47"/>
    <p:sldId id="372" r:id="rId48"/>
    <p:sldId id="381" r:id="rId49"/>
    <p:sldId id="396" r:id="rId50"/>
    <p:sldId id="397" r:id="rId51"/>
    <p:sldId id="374" r:id="rId52"/>
    <p:sldId id="412" r:id="rId53"/>
    <p:sldId id="283" r:id="rId54"/>
    <p:sldId id="284" r:id="rId55"/>
    <p:sldId id="373" r:id="rId56"/>
    <p:sldId id="293" r:id="rId57"/>
    <p:sldId id="295" r:id="rId58"/>
    <p:sldId id="296" r:id="rId59"/>
    <p:sldId id="297" r:id="rId60"/>
    <p:sldId id="282" r:id="rId61"/>
    <p:sldId id="288" r:id="rId62"/>
    <p:sldId id="289" r:id="rId63"/>
    <p:sldId id="406" r:id="rId64"/>
    <p:sldId id="405" r:id="rId65"/>
    <p:sldId id="308" r:id="rId66"/>
    <p:sldId id="409" r:id="rId67"/>
    <p:sldId id="411" r:id="rId68"/>
    <p:sldId id="410" r:id="rId69"/>
    <p:sldId id="414" r:id="rId70"/>
    <p:sldId id="285" r:id="rId71"/>
    <p:sldId id="421" r:id="rId72"/>
    <p:sldId id="422" r:id="rId73"/>
    <p:sldId id="420" r:id="rId74"/>
    <p:sldId id="423" r:id="rId75"/>
    <p:sldId id="357" r:id="rId76"/>
    <p:sldId id="415" r:id="rId77"/>
    <p:sldId id="358" r:id="rId78"/>
    <p:sldId id="359" r:id="rId79"/>
    <p:sldId id="391" r:id="rId80"/>
    <p:sldId id="408" r:id="rId81"/>
    <p:sldId id="407" r:id="rId82"/>
    <p:sldId id="416" r:id="rId83"/>
    <p:sldId id="413" r:id="rId84"/>
    <p:sldId id="292" r:id="rId85"/>
    <p:sldId id="298" r:id="rId86"/>
    <p:sldId id="394" r:id="rId87"/>
    <p:sldId id="395" r:id="rId88"/>
    <p:sldId id="404" r:id="rId89"/>
    <p:sldId id="375" r:id="rId90"/>
    <p:sldId id="385" r:id="rId91"/>
    <p:sldId id="332" r:id="rId92"/>
    <p:sldId id="393" r:id="rId93"/>
    <p:sldId id="376" r:id="rId94"/>
    <p:sldId id="377" r:id="rId95"/>
    <p:sldId id="337" r:id="rId96"/>
    <p:sldId id="311" r:id="rId97"/>
    <p:sldId id="312" r:id="rId98"/>
    <p:sldId id="313" r:id="rId99"/>
    <p:sldId id="382" r:id="rId100"/>
    <p:sldId id="383" r:id="rId101"/>
    <p:sldId id="425" r:id="rId102"/>
    <p:sldId id="402" r:id="rId103"/>
    <p:sldId id="378" r:id="rId104"/>
    <p:sldId id="379" r:id="rId105"/>
    <p:sldId id="380" r:id="rId106"/>
    <p:sldId id="335" r:id="rId107"/>
    <p:sldId id="364" r:id="rId108"/>
    <p:sldId id="417" r:id="rId109"/>
    <p:sldId id="388" r:id="rId110"/>
    <p:sldId id="361" r:id="rId111"/>
    <p:sldId id="387" r:id="rId112"/>
    <p:sldId id="362" r:id="rId113"/>
    <p:sldId id="365" r:id="rId114"/>
    <p:sldId id="389" r:id="rId115"/>
    <p:sldId id="390" r:id="rId116"/>
    <p:sldId id="418" r:id="rId117"/>
    <p:sldId id="419" r:id="rId118"/>
    <p:sldId id="403" r:id="rId119"/>
    <p:sldId id="386" r:id="rId120"/>
    <p:sldId id="257" r:id="rId121"/>
    <p:sldId id="366" r:id="rId122"/>
    <p:sldId id="315" r:id="rId123"/>
    <p:sldId id="331" r:id="rId124"/>
    <p:sldId id="360" r:id="rId125"/>
  </p:sldIdLst>
  <p:sldSz cx="9144000" cy="6858000" type="screen4x3"/>
  <p:notesSz cx="6858000" cy="9144000"/>
  <p:embeddedFontLst>
    <p:embeddedFont>
      <p:font typeface="aa QWERTZ-Tasten" panose="02000500000000000000" pitchFamily="2" charset="0"/>
      <p:regular r:id="rId127"/>
    </p:embeddedFont>
    <p:embeddedFont>
      <p:font typeface="Consolas" panose="020B0609020204030204" pitchFamily="49" charset="0"/>
      <p:regular r:id="rId128"/>
      <p:bold r:id="rId129"/>
      <p:italic r:id="rId130"/>
      <p:boldItalic r:id="rId131"/>
    </p:embeddedFont>
    <p:embeddedFont>
      <p:font typeface="Roboto" panose="02000000000000000000" pitchFamily="2" charset="0"/>
      <p:regular r:id="rId132"/>
      <p:bold r:id="rId133"/>
      <p:italic r:id="rId134"/>
      <p:boldItalic r:id="rId135"/>
    </p:embeddedFont>
    <p:embeddedFont>
      <p:font typeface="Source Code Pro" panose="020B0509030403020204" pitchFamily="49" charset="0"/>
      <p:regular r:id="rId136"/>
      <p:bold r:id="rId137"/>
      <p:italic r:id="rId138"/>
      <p:boldItalic r:id="rId139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041" autoAdjust="0"/>
    <p:restoredTop sz="94646"/>
  </p:normalViewPr>
  <p:slideViewPr>
    <p:cSldViewPr>
      <p:cViewPr varScale="1">
        <p:scale>
          <a:sx n="99" d="100"/>
          <a:sy n="99" d="100"/>
        </p:scale>
        <p:origin x="648" y="30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12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font" Target="fonts/font2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8.fntdata"/><Relationship Id="rId139" Type="http://schemas.openxmlformats.org/officeDocument/2006/relationships/font" Target="fonts/font13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font" Target="fonts/font3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4.fntdata"/><Relationship Id="rId135" Type="http://schemas.openxmlformats.org/officeDocument/2006/relationships/font" Target="fonts/font9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5.fntdata"/><Relationship Id="rId136" Type="http://schemas.openxmlformats.org/officeDocument/2006/relationships/font" Target="fonts/font10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6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7.fntdata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6221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1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hyperlink" Target="https://www.youtube.com/watch?v=i_23KUAEtUM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min-api.cryptocompare.com/data/price?fsym=btc&amp;tsyms=EUR,US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micropython/" TargetMode="Externa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obbyelektroniker/Micropython-Grundlagen" TargetMode="External"/><Relationship Id="rId4" Type="http://schemas.openxmlformats.org/officeDocument/2006/relationships/hyperlink" Target="https://micropython.org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://www.apachefriends.org/" TargetMode="Externa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4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5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studio.microsoft.com/de/vs/community/" TargetMode="External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i.org/project/spyder/" TargetMode="External"/><Relationship Id="rId4" Type="http://schemas.openxmlformats.org/officeDocument/2006/relationships/hyperlink" Target="https://jupyterlab.readthedocs.io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browser.org/" TargetMode="External"/><Relationship Id="rId13" Type="http://schemas.openxmlformats.org/officeDocument/2006/relationships/image" Target="../media/image65.png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databasedata.blue-l.de/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migano.de/testdaten.php" TargetMode="External"/><Relationship Id="rId5" Type="http://schemas.openxmlformats.org/officeDocument/2006/relationships/hyperlink" Target="https://dbeaver.io/" TargetMode="External"/><Relationship Id="rId10" Type="http://schemas.openxmlformats.org/officeDocument/2006/relationships/hyperlink" Target="https://www.foxpoint.de/randomAdresses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www.mockaroo.com/" TargetMode="External"/></Relationships>
</file>

<file path=ppt/slides/_rels/slide124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E6FD4-9558-BA10-23EF-29C8A47B7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Was ist in Python </a:t>
            </a:r>
            <a:r>
              <a:rPr lang="de-DE" dirty="0" err="1"/>
              <a:t>gecoded</a:t>
            </a:r>
            <a:r>
              <a:rPr lang="de-DE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D200C0-D026-6BC1-FE3D-6F45B55A2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257800"/>
          </a:xfrm>
        </p:spPr>
        <p:txBody>
          <a:bodyPr>
            <a:normAutofit fontScale="62500" lnSpcReduction="20000"/>
          </a:bodyPr>
          <a:lstStyle/>
          <a:p>
            <a:r>
              <a:rPr lang="de-DE" b="1" dirty="0"/>
              <a:t>Webseiten</a:t>
            </a:r>
          </a:p>
          <a:p>
            <a:pPr lvl="1"/>
            <a:r>
              <a:rPr lang="de-DE" b="1" dirty="0"/>
              <a:t>Instagram</a:t>
            </a:r>
            <a:r>
              <a:rPr lang="de-DE" dirty="0"/>
              <a:t> – Backend basiert auf </a:t>
            </a:r>
            <a:r>
              <a:rPr lang="de-DE" b="1" dirty="0"/>
              <a:t>Django</a:t>
            </a:r>
            <a:r>
              <a:rPr lang="de-DE" dirty="0"/>
              <a:t> (Python-Framework).</a:t>
            </a:r>
          </a:p>
          <a:p>
            <a:pPr lvl="1"/>
            <a:r>
              <a:rPr lang="de-DE" b="1" dirty="0"/>
              <a:t>Spotify</a:t>
            </a:r>
            <a:r>
              <a:rPr lang="de-DE" dirty="0"/>
              <a:t> – nutzt Python für </a:t>
            </a:r>
            <a:r>
              <a:rPr lang="de-DE" b="1" dirty="0"/>
              <a:t>Server-Logik</a:t>
            </a:r>
            <a:r>
              <a:rPr lang="de-DE" dirty="0"/>
              <a:t>, </a:t>
            </a:r>
            <a:r>
              <a:rPr lang="de-DE" b="1" dirty="0"/>
              <a:t>Datenanalyse</a:t>
            </a:r>
            <a:r>
              <a:rPr lang="de-DE" dirty="0"/>
              <a:t> und </a:t>
            </a:r>
            <a:r>
              <a:rPr lang="de-DE" b="1" dirty="0"/>
              <a:t>Empfehlungsalgorithmen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YouTube</a:t>
            </a:r>
            <a:r>
              <a:rPr lang="de-DE" dirty="0"/>
              <a:t> – viele Backend-Komponenten laufen in Python.</a:t>
            </a:r>
          </a:p>
          <a:p>
            <a:pPr lvl="1"/>
            <a:r>
              <a:rPr lang="de-DE" b="1" dirty="0"/>
              <a:t>Reddit</a:t>
            </a:r>
            <a:r>
              <a:rPr lang="de-DE" dirty="0"/>
              <a:t> – ursprünglich vollständig in Python programmiert.</a:t>
            </a:r>
          </a:p>
          <a:p>
            <a:pPr lvl="1"/>
            <a:r>
              <a:rPr lang="de-DE" b="1" dirty="0"/>
              <a:t>Dropbox</a:t>
            </a:r>
            <a:r>
              <a:rPr lang="de-DE" dirty="0"/>
              <a:t> – Client- und Server-Software sind überwiegend in Python geschrieben.</a:t>
            </a:r>
          </a:p>
          <a:p>
            <a:pPr lvl="1"/>
            <a:r>
              <a:rPr lang="de-DE" b="1" dirty="0"/>
              <a:t>Pinterest</a:t>
            </a:r>
            <a:r>
              <a:rPr lang="de-DE" dirty="0"/>
              <a:t> – verwendet Django für Web-Backend und API.</a:t>
            </a:r>
          </a:p>
          <a:p>
            <a:pPr lvl="1"/>
            <a:r>
              <a:rPr lang="de-DE" b="1" dirty="0" err="1"/>
              <a:t>Quora</a:t>
            </a:r>
            <a:r>
              <a:rPr lang="de-DE" dirty="0"/>
              <a:t> – große Teile der Web-App sind in Python entwickelt.</a:t>
            </a:r>
          </a:p>
          <a:p>
            <a:pPr lvl="1"/>
            <a:r>
              <a:rPr lang="de-DE" b="1" dirty="0"/>
              <a:t>NASA/JPL-Webdienste</a:t>
            </a:r>
            <a:r>
              <a:rPr lang="de-DE" dirty="0"/>
              <a:t> – nutzen Python für Datenanalyse und interne Tools.</a:t>
            </a:r>
          </a:p>
          <a:p>
            <a:r>
              <a:rPr lang="de-DE" b="1" dirty="0"/>
              <a:t>Anwendungen / Programme</a:t>
            </a:r>
          </a:p>
          <a:p>
            <a:pPr lvl="1"/>
            <a:r>
              <a:rPr lang="de-DE" b="1" dirty="0"/>
              <a:t>Blender</a:t>
            </a:r>
            <a:r>
              <a:rPr lang="de-DE" dirty="0"/>
              <a:t> – 3D-Grafik-Software mit Python-</a:t>
            </a:r>
            <a:r>
              <a:rPr lang="de-DE" dirty="0" err="1"/>
              <a:t>Skripting</a:t>
            </a:r>
            <a:r>
              <a:rPr lang="de-DE" dirty="0"/>
              <a:t>.</a:t>
            </a:r>
          </a:p>
          <a:p>
            <a:pPr lvl="1"/>
            <a:r>
              <a:rPr lang="de-DE" b="1" dirty="0" err="1"/>
              <a:t>Ansible</a:t>
            </a:r>
            <a:r>
              <a:rPr lang="de-DE" dirty="0"/>
              <a:t> – Automatisierungs- und Konfigurations-Tool, komplett in Python.</a:t>
            </a:r>
          </a:p>
          <a:p>
            <a:pPr lvl="1"/>
            <a:r>
              <a:rPr lang="de-DE" b="1" dirty="0"/>
              <a:t>OpenStack</a:t>
            </a:r>
            <a:r>
              <a:rPr lang="de-DE" dirty="0"/>
              <a:t> – Cloud-Infrastruktur-Plattform auf Python-Basis.</a:t>
            </a:r>
          </a:p>
          <a:p>
            <a:pPr lvl="1"/>
            <a:r>
              <a:rPr lang="de-DE" b="1" dirty="0"/>
              <a:t>BitTorrent</a:t>
            </a:r>
            <a:r>
              <a:rPr lang="de-DE" dirty="0"/>
              <a:t> – die ursprünglichen Clients waren in Python geschrieben.</a:t>
            </a:r>
          </a:p>
          <a:p>
            <a:pPr lvl="1"/>
            <a:r>
              <a:rPr lang="de-DE" b="1" dirty="0" err="1"/>
              <a:t>ERPNext</a:t>
            </a:r>
            <a:r>
              <a:rPr lang="de-DE" dirty="0"/>
              <a:t> – Open-Source-ERP-System auf Python/</a:t>
            </a:r>
            <a:r>
              <a:rPr lang="de-DE" dirty="0" err="1"/>
              <a:t>Frappe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Home Assistant</a:t>
            </a:r>
            <a:r>
              <a:rPr lang="de-DE" dirty="0"/>
              <a:t> – Smart-Home-Zentrale, vollständig in Python.</a:t>
            </a:r>
          </a:p>
          <a:p>
            <a:pPr lvl="1"/>
            <a:r>
              <a:rPr lang="de-DE" b="1" dirty="0" err="1"/>
              <a:t>Calibre</a:t>
            </a:r>
            <a:r>
              <a:rPr lang="de-DE" dirty="0"/>
              <a:t> – </a:t>
            </a:r>
            <a:r>
              <a:rPr lang="de-DE" dirty="0" err="1"/>
              <a:t>Ebook</a:t>
            </a:r>
            <a:r>
              <a:rPr lang="de-DE" dirty="0"/>
              <a:t>-Verwaltungssoftware und Reader, vollständig in Python.</a:t>
            </a:r>
          </a:p>
        </p:txBody>
      </p:sp>
    </p:spTree>
    <p:extLst>
      <p:ext uri="{BB962C8B-B14F-4D97-AF65-F5344CB8AC3E}">
        <p14:creationId xmlns:p14="http://schemas.microsoft.com/office/powerpoint/2010/main" val="1537350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b="1" dirty="0"/>
              <a:t>Multiplattform</a:t>
            </a:r>
            <a:r>
              <a:rPr lang="de-DE" sz="2000" dirty="0"/>
              <a:t> (Windows, MacOS, Linux, iOS, Android, diverse Taschenrechner u.v.a.), Python </a:t>
            </a:r>
            <a:r>
              <a:rPr lang="de-DE" sz="2000"/>
              <a:t>ist Bestandteil der </a:t>
            </a:r>
            <a:r>
              <a:rPr lang="de-DE" sz="2000" dirty="0"/>
              <a:t>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3.14.0 (Stand Oktober 2025)</a:t>
            </a:r>
          </a:p>
          <a:p>
            <a:pPr lvl="1"/>
            <a:r>
              <a:rPr lang="de-DE" sz="1600" dirty="0"/>
              <a:t>Version 3.15 -&gt;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erscheint offiziell am 7.10.2026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600200"/>
            <a:ext cx="9001000" cy="514116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Datenanalyse und Berechnungen (Ganzzahlen können in Python beliebig lang sein, Fließkommazahlen beliebig genau)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</a:t>
            </a:r>
            <a:r>
              <a:rPr lang="de-DE" b="1" u="sng" dirty="0"/>
              <a:t>p</a:t>
            </a:r>
            <a:r>
              <a:rPr lang="de-DE" b="1" dirty="0"/>
              <a:t>ython.exe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4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Modulo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(=Rest einer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match…</a:t>
            </a:r>
            <a:r>
              <a:rPr lang="de-DE" sz="4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 vielen Programmiersprachen gibt es auch mehrfache Verzweigungen, diese werden oft mit dem switch/</a:t>
            </a:r>
            <a:r>
              <a:rPr lang="de-DE" dirty="0" err="1"/>
              <a:t>case</a:t>
            </a:r>
            <a:r>
              <a:rPr lang="de-DE" dirty="0"/>
              <a:t>-Befehl (C/C#/Java) realisiert.</a:t>
            </a:r>
          </a:p>
          <a:p>
            <a:r>
              <a:rPr lang="de-DE" dirty="0"/>
              <a:t>In Python wurde das bislang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realisiert, seit Python 3.10 gibt es die match…</a:t>
            </a:r>
            <a:r>
              <a:rPr lang="de-DE" dirty="0" err="1"/>
              <a:t>case</a:t>
            </a:r>
            <a:r>
              <a:rPr lang="de-DE" dirty="0"/>
              <a:t> Mehrfachverzweigung.</a:t>
            </a:r>
          </a:p>
          <a:p>
            <a:r>
              <a:rPr lang="de-DE" dirty="0"/>
              <a:t>Beachten Sie, das bei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match…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keine Vergleichsoperatoren wie </a:t>
            </a:r>
            <a:r>
              <a:rPr lang="de-DE" b="1" dirty="0"/>
              <a:t>&gt;=</a:t>
            </a:r>
            <a:r>
              <a:rPr lang="de-DE" dirty="0"/>
              <a:t> oder </a:t>
            </a:r>
            <a:r>
              <a:rPr lang="de-DE" b="1" dirty="0"/>
              <a:t>&lt;</a:t>
            </a:r>
            <a:r>
              <a:rPr lang="de-DE" dirty="0"/>
              <a:t> nutzbar sind!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Spalten der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412776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447F5-EF04-5553-CA12-4848E0622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C20C9-497D-F583-2744-46BB0AD31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/>
              <a:t>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3EE938-59B2-F327-F60E-753C60F30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Sets sind eine ähnliche Datenstruktur wie Listen, jedoch sind ist jeder Wert „</a:t>
            </a:r>
            <a:r>
              <a:rPr lang="de-DE" dirty="0" err="1"/>
              <a:t>unique</a:t>
            </a:r>
            <a:r>
              <a:rPr lang="de-DE" dirty="0"/>
              <a:t>“ – jeder Wert kommt in einem Set nur einmal vor.</a:t>
            </a:r>
          </a:p>
          <a:p>
            <a:r>
              <a:rPr lang="de-DE" dirty="0"/>
              <a:t>Sets werden in geschweiften Klammern definiert, </a:t>
            </a:r>
            <a:br>
              <a:rPr lang="de-DE" dirty="0"/>
            </a:br>
            <a:r>
              <a:rPr lang="de-DE" dirty="0"/>
              <a:t>z.B.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 {7,5,3,6,8}</a:t>
            </a:r>
          </a:p>
          <a:p>
            <a:r>
              <a:rPr lang="de-DE" dirty="0"/>
              <a:t>Sets lassen sich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l1=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Set, dabei werden doppelte Elemente entfernt .</a:t>
            </a:r>
          </a:p>
          <a:p>
            <a:r>
              <a:rPr lang="de-DE" dirty="0"/>
              <a:t>Sets sind ungeordnet, d.h. man kann sich nicht auf die Position einzelner Elemente verlassen und auch nicht auf einzelne Elemente zugreifen.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-Schleifen sind aber möglich z.B.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</a:t>
            </a:r>
          </a:p>
          <a:p>
            <a:r>
              <a:rPr lang="de-DE" dirty="0"/>
              <a:t>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s1.add(…) </a:t>
            </a:r>
            <a:r>
              <a:rPr lang="de-DE" dirty="0"/>
              <a:t>lässt sich ein Element hinzufügen,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s1.discard(…) </a:t>
            </a:r>
            <a:r>
              <a:rPr lang="de-DE" dirty="0"/>
              <a:t>wird ein Element entfernt (sofern vorhanden)</a:t>
            </a:r>
          </a:p>
          <a:p>
            <a:r>
              <a:rPr lang="de-DE" dirty="0"/>
              <a:t>Sets sind deutlich schneller als Listen, beispielsweise der in-Operator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 </a:t>
            </a:r>
            <a:r>
              <a:rPr lang="de-DE" dirty="0"/>
              <a:t>um den Faktor 500-3000</a:t>
            </a:r>
          </a:p>
        </p:txBody>
      </p:sp>
    </p:spTree>
    <p:extLst>
      <p:ext uri="{BB962C8B-B14F-4D97-AF65-F5344CB8AC3E}">
        <p14:creationId xmlns:p14="http://schemas.microsoft.com/office/powerpoint/2010/main" val="1099036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(</a:t>
            </a:r>
            <a:r>
              <a:rPr lang="de-DE" dirty="0" err="1"/>
              <a:t>dict</a:t>
            </a:r>
            <a:r>
              <a:rPr lang="de-DE" dirty="0"/>
              <a:t>)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52" y="1548010"/>
            <a:ext cx="6062416" cy="5309989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(„Wörterbücher") bestehen aus </a:t>
            </a:r>
            <a:r>
              <a:rPr lang="de-DE" sz="2800" b="1" dirty="0" err="1"/>
              <a:t>Key:Value</a:t>
            </a:r>
            <a:r>
              <a:rPr lang="de-DE" sz="2800" b="1" dirty="0"/>
              <a:t> </a:t>
            </a:r>
            <a:r>
              <a:rPr lang="de-DE" sz="2800" dirty="0"/>
              <a:t>- Paaren (</a:t>
            </a:r>
            <a:r>
              <a:rPr lang="de-DE" sz="2800" b="1" dirty="0" err="1"/>
              <a:t>Schlüssel:Wert</a:t>
            </a:r>
            <a:r>
              <a:rPr lang="de-DE" sz="2800" dirty="0"/>
              <a:t>), die mit Kommas getrennt sind, das gesamte Dictionary ist mit </a:t>
            </a:r>
            <a:r>
              <a:rPr lang="de-DE" sz="2800" b="1" dirty="0"/>
              <a:t>{…}</a:t>
            </a:r>
            <a:r>
              <a:rPr lang="de-DE" sz="2800" dirty="0"/>
              <a:t> umklammert</a:t>
            </a:r>
          </a:p>
          <a:p>
            <a:pPr marL="0" indent="0" algn="ctr">
              <a:buNone/>
            </a:pP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meistens (wegen Kompatibilität zu JSON)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>
                <a:latin typeface="Consolas" panose="020B0609020204030204" pitchFamily="49" charset="0"/>
              </a:rPr>
              <a:t>einwohner </a:t>
            </a:r>
            <a:r>
              <a:rPr lang="de-DE" sz="1500" dirty="0">
                <a:latin typeface="Consolas" panose="020B0609020204030204" pitchFamily="49" charset="0"/>
              </a:rPr>
              <a:t>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Listen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Zufallszahlen 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615044" y="3818568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277072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  <p:pic>
        <p:nvPicPr>
          <p:cNvPr id="4" name="Picture 2" descr="Lmao: Random Number Generator | Geeky humor, Accounting humor, Math humor">
            <a:extLst>
              <a:ext uri="{FF2B5EF4-FFF2-40B4-BE49-F238E27FC236}">
                <a16:creationId xmlns:a16="http://schemas.microsoft.com/office/drawing/2014/main" id="{62156096-1792-B488-AD24-B7684045B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16" y="5376725"/>
            <a:ext cx="5033462" cy="1481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für Menschen lesbaren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4872062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30926668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zusätzliche </a:t>
            </a:r>
            <a:br>
              <a:rPr lang="de-DE" dirty="0"/>
            </a:br>
            <a:r>
              <a:rPr lang="de-DE" dirty="0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Auswahl an Python Modulen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 (Alternative: das Modul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mpmath</a:t>
            </a:r>
            <a:r>
              <a:rPr lang="de-DE" sz="1800" dirty="0"/>
              <a:t>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mit Python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6981"/>
            <a:ext cx="7283152" cy="1143000"/>
          </a:xfrm>
        </p:spPr>
        <p:txBody>
          <a:bodyPr>
            <a:noAutofit/>
          </a:bodyPr>
          <a:lstStyle/>
          <a:p>
            <a:r>
              <a:rPr lang="de-DE" sz="3600" dirty="0"/>
              <a:t>Text 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2776"/>
            <a:ext cx="9144000" cy="5445224"/>
          </a:xfrm>
        </p:spPr>
        <p:txBody>
          <a:bodyPr>
            <a:normAutofit fontScale="550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do=open(…)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do.write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("Text"+"\r")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  <a:p>
            <a:pPr lvl="1"/>
            <a:endParaRPr lang="de-DE" sz="2400" dirty="0"/>
          </a:p>
          <a:p>
            <a:r>
              <a:rPr lang="de-DE" sz="2800" b="1" dirty="0"/>
              <a:t>Hinweis</a:t>
            </a:r>
            <a:r>
              <a:rPr lang="de-DE" sz="2800" dirty="0"/>
              <a:t>: Python schreibt Textdateien standardmäßig</a:t>
            </a:r>
            <a:br>
              <a:rPr lang="de-DE" sz="2800" dirty="0"/>
            </a:br>
            <a:r>
              <a:rPr lang="de-DE" sz="2800" dirty="0"/>
              <a:t>in der Zeichencodierung "ISO 8859-1" (</a:t>
            </a:r>
            <a:r>
              <a:rPr lang="de-DE" sz="2800" dirty="0" err="1"/>
              <a:t>Latin</a:t>
            </a:r>
            <a:r>
              <a:rPr lang="de-DE" sz="2800" dirty="0"/>
              <a:t>). Sinnvoller </a:t>
            </a:r>
            <a:br>
              <a:rPr lang="de-DE" sz="2800" dirty="0"/>
            </a:br>
            <a:r>
              <a:rPr lang="de-DE" sz="2800" dirty="0"/>
              <a:t>ist, die Dateien in UTF-8 Codierung zu schreiben, mit </a:t>
            </a:r>
            <a:br>
              <a:rPr lang="de-DE" sz="28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open("dateiname.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","w",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</a:t>
            </a:r>
            <a:endParaRPr lang="de-DE" sz="2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148064" y="2892074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611560" y="2852936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EBED88D-52BB-E0F5-FCA2-9896FF71DC26}"/>
              </a:ext>
            </a:extLst>
          </p:cNvPr>
          <p:cNvSpPr txBox="1"/>
          <p:nvPr/>
        </p:nvSpPr>
        <p:spPr>
          <a:xfrm>
            <a:off x="5620559" y="5517232"/>
            <a:ext cx="3445943" cy="116955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/>
              <a:t>Wichtigste Encodings:</a:t>
            </a:r>
          </a:p>
          <a:p>
            <a:r>
              <a:rPr lang="de-DE" sz="1400" b="1" dirty="0">
                <a:latin typeface="Consolas" panose="020B0609020204030204" pitchFamily="49" charset="0"/>
              </a:rPr>
              <a:t>utf_8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UTF-8, 1-4 Byte, Unicode Standard</a:t>
            </a:r>
          </a:p>
          <a:p>
            <a:r>
              <a:rPr lang="de-DE" sz="1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ascii</a:t>
            </a:r>
            <a:r>
              <a:rPr lang="de-DE" sz="1400" dirty="0">
                <a:sym typeface="Wingdings" panose="05000000000000000000" pitchFamily="2" charset="2"/>
              </a:rPr>
              <a:t>  Alter ASCII Standard</a:t>
            </a:r>
          </a:p>
          <a:p>
            <a:r>
              <a:rPr lang="de-DE" sz="1400" b="1" dirty="0">
                <a:latin typeface="Consolas" panose="020B0609020204030204" pitchFamily="49" charset="0"/>
                <a:sym typeface="Wingdings" panose="05000000000000000000" pitchFamily="2" charset="2"/>
              </a:rPr>
              <a:t>cp1252</a:t>
            </a:r>
            <a:r>
              <a:rPr lang="de-DE" sz="1400" dirty="0">
                <a:sym typeface="Wingdings" panose="05000000000000000000" pitchFamily="2" charset="2"/>
              </a:rPr>
              <a:t> oder </a:t>
            </a:r>
            <a:r>
              <a:rPr lang="de-DE" sz="1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ansi</a:t>
            </a:r>
            <a:r>
              <a:rPr lang="de-DE" sz="1400" dirty="0">
                <a:sym typeface="Wingdings" panose="05000000000000000000" pitchFamily="2" charset="2"/>
              </a:rPr>
              <a:t>  Windows ANSI</a:t>
            </a:r>
          </a:p>
          <a:p>
            <a:r>
              <a:rPr lang="de-DE" sz="1400" b="1" dirty="0">
                <a:latin typeface="Consolas" panose="020B0609020204030204" pitchFamily="49" charset="0"/>
                <a:sym typeface="Wingdings" panose="05000000000000000000" pitchFamily="2" charset="2"/>
              </a:rPr>
              <a:t>iso_8859_1 </a:t>
            </a:r>
            <a:r>
              <a:rPr lang="de-DE" sz="1400" dirty="0">
                <a:sym typeface="Wingdings" panose="05000000000000000000" pitchFamily="2" charset="2"/>
              </a:rPr>
              <a:t> Älteres Linux Encoding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open(…)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open(…)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Listen, Tupel, </a:t>
            </a:r>
            <a:r>
              <a:rPr lang="de-DE" sz="2400" dirty="0" err="1"/>
              <a:t>Dictionaries</a:t>
            </a:r>
            <a:r>
              <a:rPr lang="de-DE" sz="2400" dirty="0"/>
              <a:t>, Klassen,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5" y="1340768"/>
            <a:ext cx="9036495" cy="223224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 für Weiterverarbeitung eines </a:t>
            </a:r>
            <a:r>
              <a:rPr lang="de-DE" dirty="0" err="1"/>
              <a:t>Dictionaries</a:t>
            </a:r>
            <a:r>
              <a:rPr lang="de-DE" dirty="0"/>
              <a:t> mit Pandas.</a:t>
            </a:r>
          </a:p>
          <a:p>
            <a:r>
              <a:rPr lang="de-DE" dirty="0" err="1"/>
              <a:t>Dictionaries</a:t>
            </a:r>
            <a:r>
              <a:rPr lang="de-DE" dirty="0"/>
              <a:t> lassen sich (genau wie Listen etc.) in </a:t>
            </a:r>
            <a:r>
              <a:rPr lang="de-DE" dirty="0" err="1"/>
              <a:t>DataFrames</a:t>
            </a:r>
            <a:r>
              <a:rPr lang="de-DE" dirty="0"/>
              <a:t> umwandeln</a:t>
            </a:r>
          </a:p>
          <a:p>
            <a:r>
              <a:rPr lang="de-DE" dirty="0"/>
              <a:t>Dort stehen dann komplexe Auswertungsfunktionen (inkl. Pivot-Tabelle) zur Verfügung</a:t>
            </a:r>
          </a:p>
          <a:p>
            <a:r>
              <a:rPr lang="de-DE" dirty="0"/>
              <a:t>Folgendes Programm ermittelt Durchschnittswerte von Einkommen, nach Geschlecht getrennt, die Daten werden in einem </a:t>
            </a:r>
            <a:r>
              <a:rPr lang="de-DE" dirty="0" err="1"/>
              <a:t>Dict</a:t>
            </a:r>
            <a:r>
              <a:rPr lang="de-DE" dirty="0"/>
              <a:t> geliefert: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-m pip install requests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7.2025)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363335"/>
            <a:ext cx="8922715" cy="3312368"/>
          </a:xfrm>
          <a:ln>
            <a:noFill/>
          </a:ln>
        </p:spPr>
        <p:txBody>
          <a:bodyPr>
            <a:normAutofit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2000" dirty="0">
                <a:hlinkClick r:id="rId2"/>
              </a:rPr>
              <a:t>https://min-api.cryptocompare.com/data/price?fsym=btc&amp;tsyms=EUR,USD</a:t>
            </a:r>
            <a:br>
              <a:rPr lang="de-DE" sz="2000" dirty="0"/>
            </a:br>
            <a:br>
              <a:rPr lang="de-DE" sz="1500" dirty="0"/>
            </a:br>
            <a:endParaRPr lang="de-DE" sz="1500" dirty="0"/>
          </a:p>
          <a:p>
            <a:endParaRPr lang="de-DE" sz="2400" dirty="0"/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0" y="4515528"/>
            <a:ext cx="9102227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="https://min-api.cryptocompare.com/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price?fsym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btc&amp;tsyms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=EUR,USD"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("Bitcoin Kurs:", daten["EUR"], "EUR", daten["USD"], "US$")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6E8C309-592B-BC1C-8BE5-8C9F326B8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638" y="2204864"/>
            <a:ext cx="7702723" cy="738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7.2025)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nHeutige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79262"/>
              </p:ext>
            </p:extLst>
          </p:nvPr>
        </p:nvGraphicFramePr>
        <p:xfrm>
          <a:off x="899592" y="4077072"/>
          <a:ext cx="62646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620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4408490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r>
                        <a:rPr lang="de-DE" sz="1400" dirty="0"/>
                        <a:t> (Empfehlung)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775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tblArtikel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Name TEXT, Anzahl INTEGER, Preis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(Name, Anzahl) VALUES('Hut',14)"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in einem f-String 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[2]:5}") # Datensatz f-String  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[2]:8.2f}")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Datensatz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3F8A63-98C7-14FB-85D7-C6194C59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Komplexere SQL-Strings mit Parameterbindung definieren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6B9615-70E1-AB3F-9EA9-722079604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Setzt man einen SQL-String (z.B. für ein </a:t>
            </a:r>
            <a:r>
              <a:rPr lang="de-DE" b="1" dirty="0"/>
              <a:t>INSERT </a:t>
            </a:r>
            <a:r>
              <a:rPr lang="de-DE" dirty="0"/>
              <a:t>oder</a:t>
            </a:r>
            <a:r>
              <a:rPr lang="de-DE" b="1" dirty="0"/>
              <a:t> SELECT</a:t>
            </a:r>
            <a:r>
              <a:rPr lang="de-DE" dirty="0"/>
              <a:t>) aus mehreren Variablen zusammen, wird das Ganze oft komplex.</a:t>
            </a:r>
          </a:p>
          <a:p>
            <a:r>
              <a:rPr lang="de-DE" dirty="0"/>
              <a:t>Abhilfe schafft die Parametrisierung des </a:t>
            </a:r>
            <a:r>
              <a:rPr lang="de-DE" dirty="0" err="1"/>
              <a:t>sql</a:t>
            </a:r>
            <a:r>
              <a:rPr lang="de-DE" dirty="0"/>
              <a:t>-Strings, an Stelle der Variablen werden </a:t>
            </a:r>
            <a:r>
              <a:rPr lang="de-DE" b="1" dirty="0"/>
              <a:t>?</a:t>
            </a:r>
            <a:r>
              <a:rPr lang="de-DE" dirty="0"/>
              <a:t> als Platzhalter eingefügt: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="INSERT INTO 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tblArtikel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 (Name, Anzahl) VALUES (?,?)"</a:t>
            </a:r>
            <a:endParaRPr lang="de-DE" b="1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de-DE" dirty="0"/>
              <a:t>Die an den Platzhaltern einzufügenden Variablen werden dann an </a:t>
            </a:r>
            <a:r>
              <a:rPr lang="de-DE" sz="2600" b="1" dirty="0" err="1"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als Liste oder Tupel (Parameter) übergeben: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, [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n,a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])</a:t>
            </a:r>
            <a:endParaRPr lang="de-DE" dirty="0">
              <a:solidFill>
                <a:srgbClr val="0070C0"/>
              </a:solidFill>
            </a:endParaRPr>
          </a:p>
          <a:p>
            <a:r>
              <a:rPr lang="de-DE" dirty="0"/>
              <a:t>Vorteile dieses Vorgehens:</a:t>
            </a:r>
          </a:p>
          <a:p>
            <a:pPr lvl="1"/>
            <a:r>
              <a:rPr lang="de-DE" dirty="0"/>
              <a:t>Einfacher zu Programmieren, Bessere Lesbarkeit</a:t>
            </a:r>
          </a:p>
          <a:p>
            <a:pPr lvl="1"/>
            <a:r>
              <a:rPr lang="de-DE" dirty="0"/>
              <a:t>Schutz vor SQL-</a:t>
            </a:r>
            <a:r>
              <a:rPr lang="de-DE" dirty="0" err="1"/>
              <a:t>Injection</a:t>
            </a:r>
            <a:r>
              <a:rPr lang="de-DE" dirty="0"/>
              <a:t>, da injizierte, bösartige SQL-Befehle als Strings behandelt werden und Sonderzeichen entfernt werden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Injection</a:t>
            </a:r>
            <a:r>
              <a:rPr lang="de-DE" dirty="0">
                <a:sym typeface="Wingdings" panose="05000000000000000000" pitchFamily="2" charset="2"/>
              </a:rPr>
              <a:t> läuft ins Leere</a:t>
            </a:r>
            <a:endParaRPr lang="de-DE" dirty="0"/>
          </a:p>
          <a:p>
            <a:pPr lvl="1"/>
            <a:r>
              <a:rPr lang="de-DE" dirty="0"/>
              <a:t>Die Variablentypen werden korrekt übergeben, egal ob Strings oder Zahlen</a:t>
            </a:r>
          </a:p>
          <a:p>
            <a:pPr lvl="1"/>
            <a:r>
              <a:rPr lang="de-DE" dirty="0"/>
              <a:t>Performance kann/soll besser sein (Caching)</a:t>
            </a:r>
          </a:p>
        </p:txBody>
      </p:sp>
    </p:spTree>
    <p:extLst>
      <p:ext uri="{BB962C8B-B14F-4D97-AF65-F5344CB8AC3E}">
        <p14:creationId xmlns:p14="http://schemas.microsoft.com/office/powerpoint/2010/main" val="224331166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(ist aber m.E. nicht auf dem neusten Stand)</a:t>
            </a:r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tblFirma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	# Alle Daten in eine eigene Variable holen</a:t>
            </a: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|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[1]":15}")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564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622298"/>
            <a:ext cx="4040188" cy="3951288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9986" y="2635102"/>
            <a:ext cx="4041775" cy="3951288"/>
          </a:xfrm>
        </p:spPr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einrichten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auf dem Client installieren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Optional Auto-Commit nach Öffnen der DB möglich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E03993F-9A0E-22A6-EF1D-54E8F9C88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649669"/>
            <a:ext cx="1861326" cy="8390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D314CC0-193D-B8E6-0240-0EF0D17D2B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436096" y="1445573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686800" cy="4019871"/>
          </a:xfrm>
        </p:spPr>
        <p:txBody>
          <a:bodyPr>
            <a:normAutofit fontScale="775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Tupel, also eine unveränderbare Liste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0" y="5013176"/>
            <a:ext cx="9144000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des Datensatz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in Leerstring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 dirty="0"/>
              <a:t>Funktion durchführen.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/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000" dirty="0">
                <a:sym typeface="Wingdings" panose="05000000000000000000" pitchFamily="2" charset="2"/>
              </a:rPr>
              <a:t>-Folie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FEEC1-1D9E-C3F3-AC2D-0720A30BB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MicroPython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74205B-D708-584D-49BF-D4C5ABD24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389470"/>
            <a:ext cx="8229600" cy="2532544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MicroPython</a:t>
            </a:r>
            <a:r>
              <a:rPr lang="de-DE" dirty="0"/>
              <a:t> ist eine spezielle Version von Python, mit nahezu identischer Syntax, optimiert für Microcontroller (Arduino </a:t>
            </a:r>
            <a:r>
              <a:rPr lang="de-DE" dirty="0" err="1"/>
              <a:t>Giga</a:t>
            </a:r>
            <a:r>
              <a:rPr lang="de-DE" dirty="0"/>
              <a:t>, Nano und Primo, ESP32, ESP8266 und andere)</a:t>
            </a:r>
          </a:p>
          <a:p>
            <a:r>
              <a:rPr lang="de-DE" dirty="0"/>
              <a:t>Es benötigt weniger Speicher und Rechenzeit, verlangt vom Programmierer aber teilweise etwas mehr Beachtung der Ressourcen (z.B. Speicher freigeben)</a:t>
            </a:r>
          </a:p>
          <a:p>
            <a:r>
              <a:rPr lang="de-DE" dirty="0" err="1"/>
              <a:t>MicroPython</a:t>
            </a:r>
            <a:r>
              <a:rPr lang="de-DE" dirty="0"/>
              <a:t> unterstützt auch nur einen Teil der Module, die Bestandteil der Python-Standardbibliothek sind.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69B4537-07E8-D1FC-73B3-6331A6A51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3" y="3933057"/>
            <a:ext cx="3528392" cy="253254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ACFFAE2-1C7F-B712-B649-0B2A757AD15C}"/>
              </a:ext>
            </a:extLst>
          </p:cNvPr>
          <p:cNvSpPr txBox="1"/>
          <p:nvPr/>
        </p:nvSpPr>
        <p:spPr>
          <a:xfrm>
            <a:off x="1246991" y="6429473"/>
            <a:ext cx="2833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Beispielcode: Blinkende LED an PIN2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3E00BF-524A-2B80-21B7-9FC5F4FF33E8}"/>
              </a:ext>
            </a:extLst>
          </p:cNvPr>
          <p:cNvSpPr txBox="1"/>
          <p:nvPr/>
        </p:nvSpPr>
        <p:spPr>
          <a:xfrm>
            <a:off x="4716017" y="4298182"/>
            <a:ext cx="3816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Links:</a:t>
            </a:r>
          </a:p>
          <a:p>
            <a:pPr algn="ctr"/>
            <a:r>
              <a:rPr lang="de-DE" dirty="0">
                <a:hlinkClick r:id="rId3"/>
              </a:rPr>
              <a:t>https://docs.arduino.cc/micropython/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4"/>
              </a:rPr>
              <a:t>https://micropython.org/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5"/>
              </a:rPr>
              <a:t>https://github.com/hobbyelektroniker/Micropython-Grundlagen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2203978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33A13-A2B1-5279-E06B-86067261B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Entwicklungsplattform XAMPP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470087-5D69-44D8-D9BF-3B82AE224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76" y="1350620"/>
            <a:ext cx="8579296" cy="2764904"/>
          </a:xfrm>
        </p:spPr>
        <p:txBody>
          <a:bodyPr>
            <a:normAutofit fontScale="85000" lnSpcReduction="10000"/>
          </a:bodyPr>
          <a:lstStyle/>
          <a:p>
            <a:r>
              <a:rPr lang="de-DE"/>
              <a:t>Entwickler-Komplettpaket mit Apache-Webserver, MariaDB, PHP und Perl (Skriptsprache)</a:t>
            </a:r>
          </a:p>
          <a:p>
            <a:r>
              <a:rPr lang="de-DE"/>
              <a:t>Außerdem dabei: phpMyAdmin, Filezilla (FTP-Server), Mercury (Mailserver), Tomcat (Java-Webserver)</a:t>
            </a:r>
          </a:p>
          <a:p>
            <a:r>
              <a:rPr lang="de-DE"/>
              <a:t>Multiplattform (Win, macOS, Linux)</a:t>
            </a:r>
          </a:p>
          <a:p>
            <a:r>
              <a:rPr lang="de-DE"/>
              <a:t>Download von </a:t>
            </a:r>
            <a:r>
              <a:rPr lang="de-DE">
                <a:hlinkClick r:id="rId2"/>
              </a:rPr>
              <a:t>www.apachefriends.org</a:t>
            </a:r>
            <a:r>
              <a:rPr lang="de-DE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43366E-EBF4-DD7A-D7E5-C3D64A3B6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4115524"/>
            <a:ext cx="4252667" cy="270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1397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Der beliebteste Code Editor, Multiplattform, endlos viele </a:t>
            </a:r>
            <a:r>
              <a:rPr lang="de-DE" dirty="0" err="1"/>
              <a:t>Extensions</a:t>
            </a:r>
            <a:r>
              <a:rPr lang="de-DE" dirty="0"/>
              <a:t> (inkl. AI Coding Support), </a:t>
            </a:r>
            <a:r>
              <a:rPr lang="de-DE" dirty="0" err="1"/>
              <a:t>Git</a:t>
            </a:r>
            <a:r>
              <a:rPr lang="de-DE" dirty="0"/>
              <a:t>-Support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https://visualstudio.microsoft.com/de/vs/community/</a:t>
            </a:r>
            <a:r>
              <a:rPr lang="de-DE" dirty="0"/>
              <a:t>  </a:t>
            </a:r>
            <a:br>
              <a:rPr lang="de-DE" dirty="0"/>
            </a:br>
            <a:r>
              <a:rPr lang="de-DE" dirty="0"/>
              <a:t>(Die große Entwicklungsumgebung von Microsoft, Multiplattform, hauptsächlich für Windows-Softwareentwicklung)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https://www.jetbrains.com/de-de/pycharm/ </a:t>
            </a:r>
            <a:br>
              <a:rPr lang="de-DE" dirty="0">
                <a:hlinkClick r:id="rId5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5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der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https://dbeaver.io/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(DB-Editor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 </a:t>
            </a:r>
            <a:r>
              <a:rPr lang="de-DE" sz="2800" dirty="0" err="1"/>
              <a:t>u.a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1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17646</Words>
  <Application>Microsoft Office PowerPoint</Application>
  <PresentationFormat>Bildschirmpräsentation (4:3)</PresentationFormat>
  <Paragraphs>1422</Paragraphs>
  <Slides>124</Slides>
  <Notes>6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124</vt:i4>
      </vt:variant>
    </vt:vector>
  </HeadingPairs>
  <TitlesOfParts>
    <vt:vector size="134" baseType="lpstr">
      <vt:lpstr>Calibri</vt:lpstr>
      <vt:lpstr>Arial</vt:lpstr>
      <vt:lpstr>Wingdings</vt:lpstr>
      <vt:lpstr>Roboto</vt:lpstr>
      <vt:lpstr>Consolas</vt:lpstr>
      <vt:lpstr>Courier New</vt:lpstr>
      <vt:lpstr>Arial</vt:lpstr>
      <vt:lpstr>aa QWERTZ-Tasten</vt:lpstr>
      <vt:lpstr>Source Code Pro</vt:lpstr>
      <vt:lpstr>Larissa</vt:lpstr>
      <vt:lpstr>Python 3 Einführung (Fachinformatiker)</vt:lpstr>
      <vt:lpstr>BASIC / Python</vt:lpstr>
      <vt:lpstr>Was ist in Python gecoded?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Sets</vt:lpstr>
      <vt:lpstr>Dictionaries (dict)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Unterprogramme  (Prozeduren &amp; Funktionen)</vt:lpstr>
      <vt:lpstr>Unterprogramme  (Prozeduren &amp; Funktionen)</vt:lpstr>
      <vt:lpstr>Mit import zusätzliche  Python-Module nutzen - Teil 1</vt:lpstr>
      <vt:lpstr>Mit import zusätzliche  Python-Module nutzen - Teil 2</vt:lpstr>
      <vt:lpstr>Auswahl an Python Modulen</vt:lpstr>
      <vt:lpstr>Die IDLE-Shell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Komplexere SQL-Strings mit Parameterbindung definieren</vt:lpstr>
      <vt:lpstr>Weitere Tipps SQLite</vt:lpstr>
      <vt:lpstr>Vorbereiten des DB-Zugriffs  (MySQL / MariaDB)</vt:lpstr>
      <vt:lpstr>Daten / Befehle in die Datenbank schreiben (MySQL / MariaDB)</vt:lpstr>
      <vt:lpstr>Daten aus der Datenbank abfragen und auf dem Bildschirm ausgeben (MySQL)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MicroPython</vt:lpstr>
      <vt:lpstr>Entwicklungsplattform XAMPP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1008</cp:revision>
  <dcterms:created xsi:type="dcterms:W3CDTF">2019-09-11T12:06:55Z</dcterms:created>
  <dcterms:modified xsi:type="dcterms:W3CDTF">2026-01-09T14:09:59Z</dcterms:modified>
</cp:coreProperties>
</file>