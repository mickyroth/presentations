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6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427" r:id="rId31"/>
    <p:sldId id="290" r:id="rId32"/>
    <p:sldId id="291" r:id="rId33"/>
    <p:sldId id="310" r:id="rId34"/>
    <p:sldId id="278" r:id="rId35"/>
    <p:sldId id="371" r:id="rId36"/>
    <p:sldId id="316" r:id="rId37"/>
    <p:sldId id="424" r:id="rId38"/>
    <p:sldId id="368" r:id="rId39"/>
    <p:sldId id="323" r:id="rId40"/>
    <p:sldId id="279" r:id="rId41"/>
    <p:sldId id="319" r:id="rId42"/>
    <p:sldId id="320" r:id="rId43"/>
    <p:sldId id="268" r:id="rId44"/>
    <p:sldId id="321" r:id="rId45"/>
    <p:sldId id="322" r:id="rId46"/>
    <p:sldId id="369" r:id="rId47"/>
    <p:sldId id="372" r:id="rId48"/>
    <p:sldId id="381" r:id="rId49"/>
    <p:sldId id="396" r:id="rId50"/>
    <p:sldId id="397" r:id="rId51"/>
    <p:sldId id="374" r:id="rId52"/>
    <p:sldId id="412" r:id="rId53"/>
    <p:sldId id="283" r:id="rId54"/>
    <p:sldId id="284" r:id="rId55"/>
    <p:sldId id="373" r:id="rId56"/>
    <p:sldId id="293" r:id="rId57"/>
    <p:sldId id="295" r:id="rId58"/>
    <p:sldId id="296" r:id="rId59"/>
    <p:sldId id="297" r:id="rId60"/>
    <p:sldId id="282" r:id="rId61"/>
    <p:sldId id="288" r:id="rId62"/>
    <p:sldId id="289" r:id="rId63"/>
    <p:sldId id="406" r:id="rId64"/>
    <p:sldId id="405" r:id="rId65"/>
    <p:sldId id="308" r:id="rId66"/>
    <p:sldId id="409" r:id="rId67"/>
    <p:sldId id="411" r:id="rId68"/>
    <p:sldId id="410" r:id="rId69"/>
    <p:sldId id="414" r:id="rId70"/>
    <p:sldId id="285" r:id="rId71"/>
    <p:sldId id="421" r:id="rId72"/>
    <p:sldId id="422" r:id="rId73"/>
    <p:sldId id="420" r:id="rId74"/>
    <p:sldId id="423" r:id="rId75"/>
    <p:sldId id="357" r:id="rId76"/>
    <p:sldId id="415" r:id="rId77"/>
    <p:sldId id="358" r:id="rId78"/>
    <p:sldId id="359" r:id="rId79"/>
    <p:sldId id="391" r:id="rId80"/>
    <p:sldId id="408" r:id="rId81"/>
    <p:sldId id="407" r:id="rId82"/>
    <p:sldId id="416" r:id="rId83"/>
    <p:sldId id="413" r:id="rId84"/>
    <p:sldId id="292" r:id="rId85"/>
    <p:sldId id="298" r:id="rId86"/>
    <p:sldId id="394" r:id="rId87"/>
    <p:sldId id="395" r:id="rId88"/>
    <p:sldId id="404" r:id="rId89"/>
    <p:sldId id="375" r:id="rId90"/>
    <p:sldId id="385" r:id="rId91"/>
    <p:sldId id="332" r:id="rId92"/>
    <p:sldId id="393" r:id="rId93"/>
    <p:sldId id="376" r:id="rId94"/>
    <p:sldId id="377" r:id="rId95"/>
    <p:sldId id="337" r:id="rId96"/>
    <p:sldId id="311" r:id="rId97"/>
    <p:sldId id="312" r:id="rId98"/>
    <p:sldId id="313" r:id="rId99"/>
    <p:sldId id="382" r:id="rId100"/>
    <p:sldId id="383" r:id="rId101"/>
    <p:sldId id="425" r:id="rId102"/>
    <p:sldId id="402" r:id="rId103"/>
    <p:sldId id="378" r:id="rId104"/>
    <p:sldId id="379" r:id="rId105"/>
    <p:sldId id="38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03" r:id="rId119"/>
    <p:sldId id="386" r:id="rId120"/>
    <p:sldId id="257" r:id="rId121"/>
    <p:sldId id="366" r:id="rId122"/>
    <p:sldId id="315" r:id="rId123"/>
    <p:sldId id="331" r:id="rId124"/>
    <p:sldId id="360" r:id="rId125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7"/>
    </p:embeddedFont>
    <p:embeddedFont>
      <p:font typeface="Consolas" panose="020B0609020204030204" pitchFamily="49" charset="0"/>
      <p:regular r:id="rId128"/>
      <p:bold r:id="rId129"/>
      <p:italic r:id="rId130"/>
      <p:boldItalic r:id="rId131"/>
    </p:embeddedFont>
    <p:embeddedFont>
      <p:font typeface="Roboto" panose="02000000000000000000" pitchFamily="2" charset="0"/>
      <p:regular r:id="rId132"/>
      <p:bold r:id="rId133"/>
      <p:italic r:id="rId134"/>
      <p:boldItalic r:id="rId135"/>
    </p:embeddedFont>
    <p:embeddedFont>
      <p:font typeface="Source Code Pro" panose="020B0509030403020204" pitchFamily="49" charset="0"/>
      <p:regular r:id="rId136"/>
      <p:bold r:id="rId137"/>
      <p:italic r:id="rId138"/>
      <p:boldItalic r:id="rId139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110" d="100"/>
          <a:sy n="110" d="100"/>
        </p:scale>
        <p:origin x="1517" y="3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2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8.fntdata"/><Relationship Id="rId139" Type="http://schemas.openxmlformats.org/officeDocument/2006/relationships/font" Target="fonts/font13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3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4.fntdata"/><Relationship Id="rId135" Type="http://schemas.openxmlformats.org/officeDocument/2006/relationships/font" Target="fonts/font9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5.fntdata"/><Relationship Id="rId136" Type="http://schemas.openxmlformats.org/officeDocument/2006/relationships/font" Target="fonts/font10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6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7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22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i_23KUAEtU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5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5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</a:t>
            </a:r>
            <a:r>
              <a:rPr lang="de-DE" sz="2000"/>
              <a:t>ist Bestandteil der </a:t>
            </a:r>
            <a:r>
              <a:rPr lang="de-DE" sz="2000" dirty="0"/>
              <a:t>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3.14.0 (Stand Oktober 2025)</a:t>
            </a:r>
          </a:p>
          <a:p>
            <a:pPr lvl="1"/>
            <a:r>
              <a:rPr lang="de-DE" sz="1600" dirty="0"/>
              <a:t>Version 3.15 -&gt;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erscheint offiziell am 7.10.2026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600200"/>
            <a:ext cx="9001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Datenanalyse und Berechnungen (Ganzzahlen können in Python beliebig lang sein, Fließkommazahlen beliebig genau)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</a:t>
            </a:r>
            <a:r>
              <a:rPr lang="de-DE" b="1" u="sng" dirty="0"/>
              <a:t>p</a:t>
            </a:r>
            <a:r>
              <a:rPr lang="de-DE" b="1" dirty="0"/>
              <a:t>ython.exe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Modulo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(=Rest einer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447F5-EF04-5553-CA12-4848E06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C20C9-497D-F583-2744-46BB0AD3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3EE938-59B2-F327-F60E-753C60F3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Sets sind eine ähnliche Datenstruktur wie Listen, jedoch sind ist jeder Wert „</a:t>
            </a:r>
            <a:r>
              <a:rPr lang="de-DE" dirty="0" err="1"/>
              <a:t>unique</a:t>
            </a:r>
            <a:r>
              <a:rPr lang="de-DE" dirty="0"/>
              <a:t>“ – jeder Wert kommt in einem Set nur einmal vor.</a:t>
            </a:r>
          </a:p>
          <a:p>
            <a:r>
              <a:rPr lang="de-DE" dirty="0"/>
              <a:t>Sets werden in geschweiften Klammern definiert, </a:t>
            </a:r>
            <a:br>
              <a:rPr lang="de-DE" dirty="0"/>
            </a:br>
            <a:r>
              <a:rPr lang="de-DE" dirty="0"/>
              <a:t>z.B.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 {7,5,3,6,8}</a:t>
            </a:r>
          </a:p>
          <a:p>
            <a:r>
              <a:rPr lang="de-DE" dirty="0"/>
              <a:t>Sets lassen sich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l1=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Set, dabei werden doppelte Elemente entfernt .</a:t>
            </a:r>
          </a:p>
          <a:p>
            <a:r>
              <a:rPr lang="de-DE" dirty="0"/>
              <a:t>Sets sind ungeordnet, d.h. man kann sich nicht auf die Position einzelner Elemente verlassen und auch nicht auf einzelne Elemente zugreifen.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-Schleifen sind aber möglich z.B.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</a:t>
            </a:r>
          </a:p>
          <a:p>
            <a:r>
              <a:rPr lang="de-DE" dirty="0"/>
              <a:t>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s1.add(…) </a:t>
            </a:r>
            <a:r>
              <a:rPr lang="de-DE" dirty="0"/>
              <a:t>lässt sich ein Element hinzufügen,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s1.discard(…) </a:t>
            </a:r>
            <a:r>
              <a:rPr lang="de-DE" dirty="0"/>
              <a:t>wird ein Element entfernt (sofern vorhanden)</a:t>
            </a:r>
          </a:p>
          <a:p>
            <a:r>
              <a:rPr lang="de-DE" dirty="0"/>
              <a:t>Sets sind deutlich schneller als Listen, beispielsweise der in-Operator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 </a:t>
            </a:r>
            <a:r>
              <a:rPr lang="de-DE" dirty="0"/>
              <a:t>um den Faktor 500-3000</a:t>
            </a:r>
          </a:p>
        </p:txBody>
      </p:sp>
    </p:spTree>
    <p:extLst>
      <p:ext uri="{BB962C8B-B14F-4D97-AF65-F5344CB8AC3E}">
        <p14:creationId xmlns:p14="http://schemas.microsoft.com/office/powerpoint/2010/main" val="1099036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Zufallszahlen 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615044" y="3818568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277072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  <p:pic>
        <p:nvPicPr>
          <p:cNvPr id="4" name="Picture 2" descr="Lmao: Random Number Generator | Geeky humor, Accounting humor, Math humor">
            <a:extLst>
              <a:ext uri="{FF2B5EF4-FFF2-40B4-BE49-F238E27FC236}">
                <a16:creationId xmlns:a16="http://schemas.microsoft.com/office/drawing/2014/main" id="{62156096-1792-B488-AD24-B7684045B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5376725"/>
            <a:ext cx="5033462" cy="148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für Menschen lesbaren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487206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30926668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zusätzliche </a:t>
            </a:r>
            <a:br>
              <a:rPr lang="de-DE" dirty="0"/>
            </a:br>
            <a:r>
              <a:rPr lang="de-DE" dirty="0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Auswahl an Python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 (Alternative: das Modul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mpmath</a:t>
            </a:r>
            <a:r>
              <a:rPr lang="de-DE" sz="1800" dirty="0"/>
              <a:t>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2776"/>
            <a:ext cx="9144000" cy="5445224"/>
          </a:xfrm>
        </p:spPr>
        <p:txBody>
          <a:bodyPr>
            <a:normAutofit fontScale="550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do=open(…)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do.write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("Text"+"\r")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</a:t>
            </a:r>
            <a:br>
              <a:rPr lang="de-DE" sz="2800" dirty="0"/>
            </a:br>
            <a:r>
              <a:rPr lang="de-DE" sz="2800" dirty="0"/>
              <a:t>in der Zeichencodierung "ISO 8859-1" (</a:t>
            </a:r>
            <a:r>
              <a:rPr lang="de-DE" sz="2800" dirty="0" err="1"/>
              <a:t>Latin</a:t>
            </a:r>
            <a:r>
              <a:rPr lang="de-DE" sz="2800" dirty="0"/>
              <a:t>). Sinnvoller </a:t>
            </a:r>
            <a:br>
              <a:rPr lang="de-DE" sz="2800" dirty="0"/>
            </a:br>
            <a:r>
              <a:rPr lang="de-DE" sz="2800" dirty="0"/>
              <a:t>ist, die Dateien in UTF-8 Codierung zu schreiben, mit </a:t>
            </a:r>
            <a:br>
              <a:rPr lang="de-DE" sz="28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148064" y="2892074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611560" y="2852936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ED88D-52BB-E0F5-FCA2-9896FF71DC26}"/>
              </a:ext>
            </a:extLst>
          </p:cNvPr>
          <p:cNvSpPr txBox="1"/>
          <p:nvPr/>
        </p:nvSpPr>
        <p:spPr>
          <a:xfrm>
            <a:off x="5620559" y="5517232"/>
            <a:ext cx="3445943" cy="116955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/>
              <a:t>Wichtigste Encodings:</a:t>
            </a:r>
          </a:p>
          <a:p>
            <a:r>
              <a:rPr lang="de-DE" sz="1400" b="1" dirty="0">
                <a:latin typeface="Consolas" panose="020B0609020204030204" pitchFamily="49" charset="0"/>
              </a:rPr>
              <a:t>utf_8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UTF-8, 1-4 Byte, Unicode Standard</a:t>
            </a:r>
          </a:p>
          <a:p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ascii</a:t>
            </a:r>
            <a:r>
              <a:rPr lang="de-DE" sz="1400" dirty="0">
                <a:sym typeface="Wingdings" panose="05000000000000000000" pitchFamily="2" charset="2"/>
              </a:rPr>
              <a:t>  Alter ASCII Standard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cp1252</a:t>
            </a:r>
            <a:r>
              <a:rPr lang="de-DE" sz="1400" dirty="0">
                <a:sym typeface="Wingdings" panose="05000000000000000000" pitchFamily="2" charset="2"/>
              </a:rPr>
              <a:t> oder </a:t>
            </a:r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ansi</a:t>
            </a:r>
            <a:r>
              <a:rPr lang="de-DE" sz="1400" dirty="0">
                <a:sym typeface="Wingdings" panose="05000000000000000000" pitchFamily="2" charset="2"/>
              </a:rPr>
              <a:t>  Windows ANSI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iso_8859_1 </a:t>
            </a:r>
            <a:r>
              <a:rPr lang="de-DE" sz="1400" dirty="0">
                <a:sym typeface="Wingdings" panose="05000000000000000000" pitchFamily="2" charset="2"/>
              </a:rPr>
              <a:t> Älteres Linux Encoding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5" y="1340768"/>
            <a:ext cx="9036495" cy="223224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 für Weiterverarbeitung eines </a:t>
            </a:r>
            <a:r>
              <a:rPr lang="de-DE" dirty="0" err="1"/>
              <a:t>Dictionaries</a:t>
            </a:r>
            <a:r>
              <a:rPr lang="de-DE" dirty="0"/>
              <a:t> mit Pandas.</a:t>
            </a:r>
          </a:p>
          <a:p>
            <a:r>
              <a:rPr lang="de-DE" dirty="0" err="1"/>
              <a:t>Dictionaries</a:t>
            </a:r>
            <a:r>
              <a:rPr lang="de-DE" dirty="0"/>
              <a:t> lassen sich (genau wie Listen etc.) in </a:t>
            </a:r>
            <a:r>
              <a:rPr lang="de-DE" dirty="0" err="1"/>
              <a:t>DataFrames</a:t>
            </a:r>
            <a:r>
              <a:rPr lang="de-DE" dirty="0"/>
              <a:t> umwandeln</a:t>
            </a:r>
          </a:p>
          <a:p>
            <a:r>
              <a:rPr lang="de-DE" dirty="0"/>
              <a:t>Dort stehen dann komplexe Auswertungsfunktionen (inkl. Pivot-Tabelle) zur Verfügung</a:t>
            </a:r>
          </a:p>
          <a:p>
            <a:r>
              <a:rPr lang="de-DE" dirty="0"/>
              <a:t>Folgendes Programm ermittelt Durchschnittswerte von Einkommen, nach Geschlecht getrennt, die Daten werden in einem </a:t>
            </a:r>
            <a:r>
              <a:rPr lang="de-DE" dirty="0" err="1"/>
              <a:t>Dict</a:t>
            </a:r>
            <a:r>
              <a:rPr lang="de-DE" dirty="0"/>
              <a:t> geliefert: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17639</Words>
  <Application>Microsoft Office PowerPoint</Application>
  <PresentationFormat>Bildschirmpräsentation (4:3)</PresentationFormat>
  <Paragraphs>1422</Paragraphs>
  <Slides>124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124</vt:i4>
      </vt:variant>
    </vt:vector>
  </HeadingPairs>
  <TitlesOfParts>
    <vt:vector size="134" baseType="lpstr">
      <vt:lpstr>Roboto</vt:lpstr>
      <vt:lpstr>Courier New</vt:lpstr>
      <vt:lpstr>Source Code Pro</vt:lpstr>
      <vt:lpstr>Consolas</vt:lpstr>
      <vt:lpstr>arial</vt:lpstr>
      <vt:lpstr>Wingdings</vt:lpstr>
      <vt:lpstr>Calibri</vt:lpstr>
      <vt:lpstr>arial</vt:lpstr>
      <vt:lpstr>aa QWERTZ-Tasten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Sets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Unterprogramme  (Prozeduren &amp; Funktionen)</vt:lpstr>
      <vt:lpstr>Unterprogramme  (Prozeduren &amp; Funktionen)</vt:lpstr>
      <vt:lpstr>Mit import zusätzliche  Python-Module nutzen - Teil 1</vt:lpstr>
      <vt:lpstr>Mit import zusätzliche  Python-Module nutzen - Teil 2</vt:lpstr>
      <vt:lpstr>Auswahl an Python Modulen</vt:lpstr>
      <vt:lpstr>Die IDLE-Shell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1005</cp:revision>
  <dcterms:created xsi:type="dcterms:W3CDTF">2019-09-11T12:06:55Z</dcterms:created>
  <dcterms:modified xsi:type="dcterms:W3CDTF">2025-12-07T21:12:24Z</dcterms:modified>
</cp:coreProperties>
</file>