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4"/>
  </p:notesMasterIdLst>
  <p:sldIdLst>
    <p:sldId id="256" r:id="rId2"/>
    <p:sldId id="262" r:id="rId3"/>
    <p:sldId id="367" r:id="rId4"/>
    <p:sldId id="287" r:id="rId5"/>
    <p:sldId id="265" r:id="rId6"/>
    <p:sldId id="336" r:id="rId7"/>
    <p:sldId id="314" r:id="rId8"/>
    <p:sldId id="261" r:id="rId9"/>
    <p:sldId id="271" r:id="rId10"/>
    <p:sldId id="266" r:id="rId11"/>
    <p:sldId id="269" r:id="rId12"/>
    <p:sldId id="270" r:id="rId13"/>
    <p:sldId id="272" r:id="rId14"/>
    <p:sldId id="263" r:id="rId15"/>
    <p:sldId id="260" r:id="rId16"/>
    <p:sldId id="370" r:id="rId17"/>
    <p:sldId id="264" r:id="rId18"/>
    <p:sldId id="273" r:id="rId19"/>
    <p:sldId id="317" r:id="rId20"/>
    <p:sldId id="326" r:id="rId21"/>
    <p:sldId id="274" r:id="rId22"/>
    <p:sldId id="309" r:id="rId23"/>
    <p:sldId id="318" r:id="rId24"/>
    <p:sldId id="275" r:id="rId25"/>
    <p:sldId id="276" r:id="rId26"/>
    <p:sldId id="280" r:id="rId27"/>
    <p:sldId id="277" r:id="rId28"/>
    <p:sldId id="401" r:id="rId29"/>
    <p:sldId id="290" r:id="rId30"/>
    <p:sldId id="291" r:id="rId31"/>
    <p:sldId id="310" r:id="rId32"/>
    <p:sldId id="278" r:id="rId33"/>
    <p:sldId id="371" r:id="rId34"/>
    <p:sldId id="316" r:id="rId35"/>
    <p:sldId id="424" r:id="rId36"/>
    <p:sldId id="368" r:id="rId37"/>
    <p:sldId id="319" r:id="rId38"/>
    <p:sldId id="320" r:id="rId39"/>
    <p:sldId id="268" r:id="rId40"/>
    <p:sldId id="321" r:id="rId41"/>
    <p:sldId id="323" r:id="rId42"/>
    <p:sldId id="279" r:id="rId43"/>
    <p:sldId id="322" r:id="rId44"/>
    <p:sldId id="369" r:id="rId45"/>
    <p:sldId id="372" r:id="rId46"/>
    <p:sldId id="381" r:id="rId47"/>
    <p:sldId id="396" r:id="rId48"/>
    <p:sldId id="397" r:id="rId49"/>
    <p:sldId id="374" r:id="rId50"/>
    <p:sldId id="412" r:id="rId51"/>
    <p:sldId id="283" r:id="rId52"/>
    <p:sldId id="284" r:id="rId53"/>
    <p:sldId id="373" r:id="rId54"/>
    <p:sldId id="293" r:id="rId55"/>
    <p:sldId id="295" r:id="rId56"/>
    <p:sldId id="296" r:id="rId57"/>
    <p:sldId id="297" r:id="rId58"/>
    <p:sldId id="282" r:id="rId59"/>
    <p:sldId id="288" r:id="rId60"/>
    <p:sldId id="289" r:id="rId61"/>
    <p:sldId id="406" r:id="rId62"/>
    <p:sldId id="405" r:id="rId63"/>
    <p:sldId id="308" r:id="rId64"/>
    <p:sldId id="409" r:id="rId65"/>
    <p:sldId id="411" r:id="rId66"/>
    <p:sldId id="410" r:id="rId67"/>
    <p:sldId id="414" r:id="rId68"/>
    <p:sldId id="285" r:id="rId69"/>
    <p:sldId id="421" r:id="rId70"/>
    <p:sldId id="422" r:id="rId71"/>
    <p:sldId id="420" r:id="rId72"/>
    <p:sldId id="423" r:id="rId73"/>
    <p:sldId id="357" r:id="rId74"/>
    <p:sldId id="415" r:id="rId75"/>
    <p:sldId id="358" r:id="rId76"/>
    <p:sldId id="359" r:id="rId77"/>
    <p:sldId id="391" r:id="rId78"/>
    <p:sldId id="408" r:id="rId79"/>
    <p:sldId id="407" r:id="rId80"/>
    <p:sldId id="416" r:id="rId81"/>
    <p:sldId id="413" r:id="rId82"/>
    <p:sldId id="292" r:id="rId83"/>
    <p:sldId id="298" r:id="rId84"/>
    <p:sldId id="394" r:id="rId85"/>
    <p:sldId id="395" r:id="rId86"/>
    <p:sldId id="404" r:id="rId87"/>
    <p:sldId id="375" r:id="rId88"/>
    <p:sldId id="385" r:id="rId89"/>
    <p:sldId id="332" r:id="rId90"/>
    <p:sldId id="393" r:id="rId91"/>
    <p:sldId id="376" r:id="rId92"/>
    <p:sldId id="377" r:id="rId93"/>
    <p:sldId id="337" r:id="rId94"/>
    <p:sldId id="311" r:id="rId95"/>
    <p:sldId id="312" r:id="rId96"/>
    <p:sldId id="313" r:id="rId97"/>
    <p:sldId id="382" r:id="rId98"/>
    <p:sldId id="383" r:id="rId99"/>
    <p:sldId id="425" r:id="rId100"/>
    <p:sldId id="402" r:id="rId101"/>
    <p:sldId id="378" r:id="rId102"/>
    <p:sldId id="379" r:id="rId103"/>
    <p:sldId id="380" r:id="rId104"/>
    <p:sldId id="335" r:id="rId105"/>
    <p:sldId id="364" r:id="rId106"/>
    <p:sldId id="417" r:id="rId107"/>
    <p:sldId id="388" r:id="rId108"/>
    <p:sldId id="361" r:id="rId109"/>
    <p:sldId id="387" r:id="rId110"/>
    <p:sldId id="362" r:id="rId111"/>
    <p:sldId id="365" r:id="rId112"/>
    <p:sldId id="389" r:id="rId113"/>
    <p:sldId id="390" r:id="rId114"/>
    <p:sldId id="418" r:id="rId115"/>
    <p:sldId id="419" r:id="rId116"/>
    <p:sldId id="403" r:id="rId117"/>
    <p:sldId id="386" r:id="rId118"/>
    <p:sldId id="257" r:id="rId119"/>
    <p:sldId id="366" r:id="rId120"/>
    <p:sldId id="315" r:id="rId121"/>
    <p:sldId id="331" r:id="rId122"/>
    <p:sldId id="360" r:id="rId123"/>
  </p:sldIdLst>
  <p:sldSz cx="9144000" cy="6858000" type="screen4x3"/>
  <p:notesSz cx="6858000" cy="9144000"/>
  <p:embeddedFontLst>
    <p:embeddedFont>
      <p:font typeface="aa QWERTZ-Tasten" panose="02000500000000000000" pitchFamily="2" charset="0"/>
      <p:regular r:id="rId125"/>
    </p:embeddedFont>
    <p:embeddedFont>
      <p:font typeface="Consolas" panose="020B0609020204030204" pitchFamily="49" charset="0"/>
      <p:regular r:id="rId126"/>
      <p:bold r:id="rId127"/>
      <p:italic r:id="rId128"/>
      <p:boldItalic r:id="rId129"/>
    </p:embeddedFont>
    <p:embeddedFont>
      <p:font typeface="Roboto" panose="02000000000000000000" pitchFamily="2" charset="0"/>
      <p:regular r:id="rId130"/>
      <p:bold r:id="rId131"/>
      <p:italic r:id="rId132"/>
      <p:boldItalic r:id="rId133"/>
    </p:embeddedFont>
    <p:embeddedFont>
      <p:font typeface="Source Code Pro" panose="020B0509030403020204" pitchFamily="49" charset="0"/>
      <p:regular r:id="rId134"/>
      <p:bold r:id="rId135"/>
      <p:italic r:id="rId136"/>
      <p:boldItalic r:id="rId137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041" autoAdjust="0"/>
    <p:restoredTop sz="94646"/>
  </p:normalViewPr>
  <p:slideViewPr>
    <p:cSldViewPr>
      <p:cViewPr varScale="1">
        <p:scale>
          <a:sx n="111" d="100"/>
          <a:sy n="111" d="100"/>
        </p:scale>
        <p:origin x="118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83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font" Target="fonts/font4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font" Target="fonts/font10.fntdata"/><Relationship Id="rId139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notesMaster" Target="notesMasters/notesMaster1.xml"/><Relationship Id="rId129" Type="http://schemas.openxmlformats.org/officeDocument/2006/relationships/font" Target="fonts/font5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font" Target="fonts/font6.fntdata"/><Relationship Id="rId135" Type="http://schemas.openxmlformats.org/officeDocument/2006/relationships/font" Target="fonts/font11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font" Target="fonts/font1.fntdata"/><Relationship Id="rId141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font" Target="fonts/font7.fntdata"/><Relationship Id="rId136" Type="http://schemas.openxmlformats.org/officeDocument/2006/relationships/font" Target="fonts/font12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font" Target="fonts/font8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font" Target="fonts/font9.fntdata"/><Relationship Id="rId16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B71CB-5131-CD4B-A6CA-3AE27A343125}" type="datetimeFigureOut">
              <a:rPr lang="de-DE" smtClean="0"/>
              <a:t>19.06.2025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115051-71E1-1B42-87DF-8725431D67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5581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15051-71E1-1B42-87DF-8725431D678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9004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15051-71E1-1B42-87DF-8725431D6786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171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15051-71E1-1B42-87DF-8725431D6786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1483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15051-71E1-1B42-87DF-8725431D6786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7301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15051-71E1-1B42-87DF-8725431D6786}" type="slidenum">
              <a:rPr lang="de-DE" smtClean="0"/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9406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15051-71E1-1B42-87DF-8725431D6786}" type="slidenum">
              <a:rPr lang="de-DE" smtClean="0"/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0588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19.06.2025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3CD38E-8439-49ED-9974-6690E9C82F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914" y="260648"/>
            <a:ext cx="1748172" cy="1748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35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03648" y="274638"/>
            <a:ext cx="7283152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19.06.2025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4A129A0-6A25-4DB1-92F4-D61E192EFC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74638"/>
            <a:ext cx="104775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6145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19.06.2025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4275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19.06.2025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972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19.06.2025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4511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19.06.2025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76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19.06.2025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4093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19.06.2025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7351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19.06.2025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5597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19.06.2025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6368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19.06.2025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872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0FE00-75B2-4B87-8051-471D8FD5E66A}" type="datetimeFigureOut">
              <a:rPr lang="de-DE" smtClean="0"/>
              <a:t>19.06.2025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096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ython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realpython.com/python-bitwise-operators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docs.python.org/3/library/string.html#format-specification-mini-language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umpy.org/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hyperlink" Target="https://marketplace.visualstudio.com/items?itemName=ms-python.python" TargetMode="External"/><Relationship Id="rId7" Type="http://schemas.openxmlformats.org/officeDocument/2006/relationships/image" Target="../media/image30.png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hyperlink" Target="https://www.youtube.com/watch?v=i_23KUAEtUM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tools.piex.at/ascii-tabelle/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exceptions.html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s://statologie.de/csv-dateien-pandas/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edic8.de/rest-beispiel.htm" TargetMode="External"/><Relationship Id="rId2" Type="http://schemas.openxmlformats.org/officeDocument/2006/relationships/hyperlink" Target="https://requests.readthedocs.io/en/latest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docs.github.com/en/rest" TargetMode="Externa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wattar.de/services/api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rapidapi.com/collection/finance-apis" TargetMode="External"/><Relationship Id="rId2" Type="http://schemas.openxmlformats.org/officeDocument/2006/relationships/hyperlink" Target="https://api.coindesk.com/v1/bpi/currentprice.js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bund.dev/" TargetMode="External"/><Relationship Id="rId2" Type="http://schemas.openxmlformats.org/officeDocument/2006/relationships/hyperlink" Target="https://dwd.api.bund.dev/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html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/json" TargetMode="Externa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phrase.com/blog/posts/beginners-guide-to-locale-in-python/" TargetMode="Externa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qlite.org/" TargetMode="Externa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hyperlink" Target="https://sqlitebrowser.org/" TargetMode="Externa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gramiz.com/python-programming/datetime/strptime" TargetMode="Externa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gramiz.com/python-programming/datetime/strftime" TargetMode="Externa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rduino.cc/micropython/" TargetMode="Externa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hobbyelektroniker/Micropython-Grundlagen" TargetMode="External"/><Relationship Id="rId4" Type="http://schemas.openxmlformats.org/officeDocument/2006/relationships/hyperlink" Target="https://micropython.org/" TargetMode="Externa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hyperlink" Target="http://www.apachefriends.org/" TargetMode="Externa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hyperlink" Target="https://cs50.harvard.edu/python/2022/" TargetMode="External"/><Relationship Id="rId13" Type="http://schemas.openxmlformats.org/officeDocument/2006/relationships/image" Target="../media/image63.png"/><Relationship Id="rId3" Type="http://schemas.openxmlformats.org/officeDocument/2006/relationships/hyperlink" Target="https://docs.python.org/3/" TargetMode="External"/><Relationship Id="rId7" Type="http://schemas.openxmlformats.org/officeDocument/2006/relationships/hyperlink" Target="https://cs50.harvard.edu/x/2025/" TargetMode="External"/><Relationship Id="rId12" Type="http://schemas.openxmlformats.org/officeDocument/2006/relationships/hyperlink" Target="https://codecombat.com/play" TargetMode="External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ython-kurs.eu/" TargetMode="External"/><Relationship Id="rId11" Type="http://schemas.openxmlformats.org/officeDocument/2006/relationships/hyperlink" Target="https://www.codingame.com/home" TargetMode="External"/><Relationship Id="rId5" Type="http://schemas.openxmlformats.org/officeDocument/2006/relationships/hyperlink" Target="https://www.python-lernen.de/" TargetMode="External"/><Relationship Id="rId10" Type="http://schemas.openxmlformats.org/officeDocument/2006/relationships/hyperlink" Target="https://projecteuler.net/" TargetMode="External"/><Relationship Id="rId4" Type="http://schemas.openxmlformats.org/officeDocument/2006/relationships/hyperlink" Target="https://py-tutorial-de.readthedocs.io/de/python-3.3/index.html" TargetMode="External"/><Relationship Id="rId9" Type="http://schemas.openxmlformats.org/officeDocument/2006/relationships/hyperlink" Target="https://www.w3schools.com/python/" TargetMode="External"/><Relationship Id="rId14" Type="http://schemas.openxmlformats.org/officeDocument/2006/relationships/image" Target="../media/image64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studio.microsoft.com/de/vs/community/" TargetMode="External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ypi.org/project/spyder/" TargetMode="External"/><Relationship Id="rId4" Type="http://schemas.openxmlformats.org/officeDocument/2006/relationships/hyperlink" Target="https://jupyterlab.readthedocs.io/" TargetMode="Externa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hyperlink" Target="http://friedrich-folkmann.de/" TargetMode="External"/><Relationship Id="rId2" Type="http://schemas.openxmlformats.org/officeDocument/2006/relationships/hyperlink" Target="https://structorizer.fisch.lu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bY6m6_IIN94&amp;list=PLi01XoE8jYohWFPpC17Z-wWhPOSuh8Er-" TargetMode="External"/><Relationship Id="rId4" Type="http://schemas.openxmlformats.org/officeDocument/2006/relationships/hyperlink" Target="https://www.youtube.com/playlist?list=PL_pqkvxZ6ho3u8PJAsUU-rOAQ74D0TqZB" TargetMode="External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hyperlink" Target="https://sqlitebrowser.org/" TargetMode="External"/><Relationship Id="rId13" Type="http://schemas.openxmlformats.org/officeDocument/2006/relationships/image" Target="../media/image64.png"/><Relationship Id="rId3" Type="http://schemas.openxmlformats.org/officeDocument/2006/relationships/hyperlink" Target="https://www.sqlitetutorial.net/" TargetMode="External"/><Relationship Id="rId7" Type="http://schemas.openxmlformats.org/officeDocument/2006/relationships/hyperlink" Target="https://sqlite.org/cli.html" TargetMode="External"/><Relationship Id="rId12" Type="http://schemas.openxmlformats.org/officeDocument/2006/relationships/hyperlink" Target="https://databasedata.blue-l.de/" TargetMode="External"/><Relationship Id="rId2" Type="http://schemas.openxmlformats.org/officeDocument/2006/relationships/hyperlink" Target="https://www.python-lernen.de/sqlite-vorgehensweise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qlite.org/2022/sqlite-tools-win32-x86-3370200.zip" TargetMode="External"/><Relationship Id="rId11" Type="http://schemas.openxmlformats.org/officeDocument/2006/relationships/hyperlink" Target="https://migano.de/testdaten.php" TargetMode="External"/><Relationship Id="rId5" Type="http://schemas.openxmlformats.org/officeDocument/2006/relationships/hyperlink" Target="https://dbeaver.io/" TargetMode="External"/><Relationship Id="rId10" Type="http://schemas.openxmlformats.org/officeDocument/2006/relationships/hyperlink" Target="https://www.foxpoint.de/randomAdresses/" TargetMode="External"/><Relationship Id="rId4" Type="http://schemas.openxmlformats.org/officeDocument/2006/relationships/hyperlink" Target="https://www.apachefriends.org/de/index.html" TargetMode="External"/><Relationship Id="rId9" Type="http://schemas.openxmlformats.org/officeDocument/2006/relationships/hyperlink" Target="https://www.mockaroo.com/" TargetMode="External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hyperlink" Target="https://rapidapi.com/hub" TargetMode="External"/><Relationship Id="rId3" Type="http://schemas.openxmlformats.org/officeDocument/2006/relationships/hyperlink" Target="https://docs.python-requests.org/en/latest/" TargetMode="External"/><Relationship Id="rId7" Type="http://schemas.openxmlformats.org/officeDocument/2006/relationships/hyperlink" Target="https://rapidapi.com/blog/most-popular-api/" TargetMode="External"/><Relationship Id="rId2" Type="http://schemas.openxmlformats.org/officeDocument/2006/relationships/hyperlink" Target="https://www.digitalocean.com/community/tutorials/how-to-get-started-with-the-requests-library-in-python-d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pilist.fun/" TargetMode="External"/><Relationship Id="rId5" Type="http://schemas.openxmlformats.org/officeDocument/2006/relationships/hyperlink" Target="https://www.youtube.com/watch?v=fOPWZytYsFM" TargetMode="External"/><Relationship Id="rId4" Type="http://schemas.openxmlformats.org/officeDocument/2006/relationships/hyperlink" Target="https://www.youtube.com/watch?v=IpJyyY5Zp6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450703"/>
          </a:xfrm>
        </p:spPr>
        <p:txBody>
          <a:bodyPr>
            <a:normAutofit/>
          </a:bodyPr>
          <a:lstStyle/>
          <a:p>
            <a:r>
              <a:rPr lang="de-DE" sz="6600" dirty="0"/>
              <a:t>Python 3 Einführung</a:t>
            </a:r>
            <a:br>
              <a:rPr lang="de-DE" sz="6600" dirty="0"/>
            </a:br>
            <a:r>
              <a:rPr lang="de-DE" sz="3600" dirty="0"/>
              <a:t>(Fachinformatiker)</a:t>
            </a:r>
            <a:endParaRPr lang="de-DE" sz="660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4581128"/>
            <a:ext cx="6400800" cy="1752600"/>
          </a:xfrm>
        </p:spPr>
        <p:txBody>
          <a:bodyPr/>
          <a:lstStyle/>
          <a:p>
            <a:r>
              <a:rPr lang="de-DE" dirty="0"/>
              <a:t>Eine </a:t>
            </a:r>
            <a:r>
              <a:rPr lang="de-DE"/>
              <a:t>universelle Programmiersprache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06826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148D2E-11D0-1344-93EC-0B7485B1A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BASIC / Python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F15E239-E34E-8A47-ABC4-F0EC7AC2A740}"/>
              </a:ext>
            </a:extLst>
          </p:cNvPr>
          <p:cNvSpPr txBox="1"/>
          <p:nvPr/>
        </p:nvSpPr>
        <p:spPr>
          <a:xfrm>
            <a:off x="1691680" y="4244965"/>
            <a:ext cx="1389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BASIC (1982)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2CD772-815D-6546-A751-73B30A23D7EC}"/>
              </a:ext>
            </a:extLst>
          </p:cNvPr>
          <p:cNvSpPr txBox="1"/>
          <p:nvPr/>
        </p:nvSpPr>
        <p:spPr>
          <a:xfrm>
            <a:off x="6156176" y="4243077"/>
            <a:ext cx="1514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Python (2024)</a:t>
            </a:r>
          </a:p>
        </p:txBody>
      </p:sp>
      <p:pic>
        <p:nvPicPr>
          <p:cNvPr id="1026" name="Picture 2" descr="BASIC (Beginner's All-purpose Symbolic Instruction Code) - Barrons  Dictionary - AllBusiness.com">
            <a:extLst>
              <a:ext uri="{FF2B5EF4-FFF2-40B4-BE49-F238E27FC236}">
                <a16:creationId xmlns:a16="http://schemas.microsoft.com/office/drawing/2014/main" id="{B084307B-286D-80A8-BC2F-D0B42FBAA6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45" r="26923" b="39267"/>
          <a:stretch/>
        </p:blipFill>
        <p:spPr bwMode="auto">
          <a:xfrm>
            <a:off x="679243" y="2677485"/>
            <a:ext cx="3757989" cy="148341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855D9D78-CA71-ABE8-1F22-54AFA09D3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6" y="2677485"/>
            <a:ext cx="4221658" cy="150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16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Eigenschaften von Python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0" y="1415537"/>
            <a:ext cx="9144000" cy="5325831"/>
          </a:xfrm>
        </p:spPr>
        <p:txBody>
          <a:bodyPr>
            <a:normAutofit fontScale="92500" lnSpcReduction="20000"/>
          </a:bodyPr>
          <a:lstStyle/>
          <a:p>
            <a:r>
              <a:rPr lang="de-DE" sz="2000" dirty="0"/>
              <a:t>Interpreter-Sprache (Skriptsprache)</a:t>
            </a:r>
          </a:p>
          <a:p>
            <a:pPr lvl="1"/>
            <a:r>
              <a:rPr lang="de-DE" sz="1600" dirty="0"/>
              <a:t>Quellcode wird während der Laufzeit in Bytecode (Zwischencode) übersetzt</a:t>
            </a:r>
          </a:p>
          <a:p>
            <a:pPr lvl="1"/>
            <a:r>
              <a:rPr lang="de-DE" sz="1600" dirty="0"/>
              <a:t>Ausführung durch plattformoptimierte Python-VM (PVM)</a:t>
            </a:r>
          </a:p>
          <a:p>
            <a:pPr lvl="1"/>
            <a:r>
              <a:rPr lang="de-DE" sz="1600" i="1" dirty="0"/>
              <a:t>Gegensatz dazu: Compilersprachen wie C, C++, Java, C#  </a:t>
            </a:r>
            <a:r>
              <a:rPr lang="de-DE" sz="1600" i="1" dirty="0">
                <a:sym typeface="Wingdings" panose="05000000000000000000" pitchFamily="2" charset="2"/>
              </a:rPr>
              <a:t> Übersetzung VOR der Laufzeit</a:t>
            </a:r>
            <a:endParaRPr lang="de-DE" sz="1600" i="1" dirty="0"/>
          </a:p>
          <a:p>
            <a:r>
              <a:rPr lang="de-DE" sz="2000" dirty="0"/>
              <a:t>Höhere Programmiersprache (einfach f. Menschen zu lesen)</a:t>
            </a:r>
          </a:p>
          <a:p>
            <a:pPr lvl="1"/>
            <a:r>
              <a:rPr lang="de-DE" sz="1600" i="1" dirty="0"/>
              <a:t>Gegensatz dazu: Maschinennahe Programmiersprache wie Assembler</a:t>
            </a:r>
            <a:endParaRPr lang="de-DE" sz="1600" dirty="0"/>
          </a:p>
          <a:p>
            <a:r>
              <a:rPr lang="de-DE" sz="2000" dirty="0"/>
              <a:t>Unterstützt mehrere imperative Programmierparadigmen</a:t>
            </a:r>
          </a:p>
          <a:p>
            <a:pPr lvl="1"/>
            <a:r>
              <a:rPr lang="de-DE" sz="1600" dirty="0"/>
              <a:t>Imperative Programmierung mit funktionalen und deklarativen</a:t>
            </a:r>
            <a:br>
              <a:rPr lang="de-DE" sz="1600" dirty="0"/>
            </a:br>
            <a:r>
              <a:rPr lang="de-DE" sz="1600" dirty="0"/>
              <a:t>Anteilen (z.B. SQL)</a:t>
            </a:r>
          </a:p>
          <a:p>
            <a:pPr lvl="1"/>
            <a:r>
              <a:rPr lang="de-DE" sz="1600" dirty="0"/>
              <a:t>Objektorientierte Programmierung</a:t>
            </a:r>
          </a:p>
          <a:p>
            <a:pPr lvl="1"/>
            <a:r>
              <a:rPr lang="de-DE" sz="1600" dirty="0"/>
              <a:t>Prozedurale Programmierung</a:t>
            </a:r>
          </a:p>
          <a:p>
            <a:r>
              <a:rPr lang="de-DE" sz="2000" dirty="0"/>
              <a:t>Dynamische Typisierung (Typ einer Variablen kann sich innerhalb eines Programms ändern)</a:t>
            </a:r>
          </a:p>
          <a:p>
            <a:pPr lvl="1"/>
            <a:r>
              <a:rPr lang="de-DE" sz="1600" i="1" dirty="0"/>
              <a:t>Gegensatz dazu: Statische Typisierung (z.B. in C, C++, Java), Variablen ändern ihren Typ nicht</a:t>
            </a:r>
          </a:p>
          <a:p>
            <a:r>
              <a:rPr lang="de-DE" sz="2000" dirty="0"/>
              <a:t>Multiplattform (Windows, MacOS, Linux, iOS, Android, Taschenrechner u.v.a.), Bestandteil der meisten Betriebssysteme</a:t>
            </a:r>
          </a:p>
          <a:p>
            <a:r>
              <a:rPr lang="de-DE" sz="2000" b="1" dirty="0"/>
              <a:t>Kann mit Modulen beliebig erweitert werden </a:t>
            </a:r>
            <a:r>
              <a:rPr lang="de-DE" sz="2000" dirty="0"/>
              <a:t>(sehr viele verfügbar </a:t>
            </a:r>
            <a:r>
              <a:rPr lang="de-DE" sz="2000" dirty="0">
                <a:sym typeface="Wingdings" panose="05000000000000000000" pitchFamily="2" charset="2"/>
              </a:rPr>
              <a:t>https://pypi.org</a:t>
            </a:r>
            <a:r>
              <a:rPr lang="de-DE" sz="2000" dirty="0"/>
              <a:t>)</a:t>
            </a:r>
          </a:p>
          <a:p>
            <a:r>
              <a:rPr lang="de-DE" sz="2000" dirty="0"/>
              <a:t>Server- und Client-seitiger Einsatzbereich</a:t>
            </a:r>
          </a:p>
          <a:p>
            <a:r>
              <a:rPr lang="de-DE" sz="2000" dirty="0"/>
              <a:t>Kostenlos, Open Source, aktuelle Version 3.13.3 (Stand Mai 2025)</a:t>
            </a:r>
          </a:p>
          <a:p>
            <a:pPr lvl="1"/>
            <a:r>
              <a:rPr lang="de-DE" sz="1600" dirty="0"/>
              <a:t>Version 3.14 -&gt; Aktuelles </a:t>
            </a:r>
            <a:r>
              <a:rPr lang="de-DE" sz="1600" dirty="0" err="1"/>
              <a:t>Pre</a:t>
            </a:r>
            <a:r>
              <a:rPr lang="de-DE" sz="1600" dirty="0"/>
              <a:t>-Release (Alpha), 3.14 </a:t>
            </a:r>
            <a:r>
              <a:rPr lang="de-DE" sz="1600"/>
              <a:t>erscheint offiziell am 1.10.2025</a:t>
            </a:r>
            <a:endParaRPr lang="de-DE" sz="16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AFDB59-8C94-40B3-86D0-D5864150C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3153313"/>
            <a:ext cx="2731782" cy="65454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012B9BCD-DF3E-FBA0-710D-F2F3CEAE2FD4}"/>
              </a:ext>
            </a:extLst>
          </p:cNvPr>
          <p:cNvCxnSpPr>
            <a:cxnSpLocks/>
          </p:cNvCxnSpPr>
          <p:nvPr/>
        </p:nvCxnSpPr>
        <p:spPr>
          <a:xfrm>
            <a:off x="6300192" y="2852936"/>
            <a:ext cx="432048" cy="32727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3377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84F5BE-A9FF-4DCD-A5A9-2B9DAA8C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Anwendungsbereiche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94C01E-C172-4DB0-9DDB-4492BA2DA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85000" lnSpcReduction="20000"/>
          </a:bodyPr>
          <a:lstStyle/>
          <a:p>
            <a:r>
              <a:rPr lang="de-DE" dirty="0"/>
              <a:t>Programmieren lernen</a:t>
            </a:r>
          </a:p>
          <a:p>
            <a:pPr lvl="1"/>
            <a:r>
              <a:rPr lang="de-DE" dirty="0"/>
              <a:t>Prozedural und Objektorientiert</a:t>
            </a:r>
          </a:p>
          <a:p>
            <a:r>
              <a:rPr lang="de-DE" dirty="0"/>
              <a:t>Applikationen auf Textbasis (Terminal) entwickeln</a:t>
            </a:r>
          </a:p>
          <a:p>
            <a:r>
              <a:rPr lang="de-DE" dirty="0"/>
              <a:t>Client- / Serverapplikationen</a:t>
            </a:r>
          </a:p>
          <a:p>
            <a:r>
              <a:rPr lang="de-DE" dirty="0"/>
              <a:t>Web-API (Datenschnittstellen im Web) abfragen und auswerten</a:t>
            </a:r>
          </a:p>
          <a:p>
            <a:r>
              <a:rPr lang="de-DE" dirty="0"/>
              <a:t>Daten grafisch darstellen</a:t>
            </a:r>
          </a:p>
          <a:p>
            <a:r>
              <a:rPr lang="de-DE" dirty="0"/>
              <a:t>Datenbank-Applikationen (SQL-Datenbank integriert!)</a:t>
            </a:r>
          </a:p>
          <a:p>
            <a:r>
              <a:rPr lang="de-DE" dirty="0"/>
              <a:t>Auch grafische Benutzeroberflächen möglich (z.B. </a:t>
            </a:r>
            <a:r>
              <a:rPr lang="de-DE" dirty="0" err="1"/>
              <a:t>Tkinter</a:t>
            </a:r>
            <a:r>
              <a:rPr lang="de-DE" dirty="0"/>
              <a:t>)</a:t>
            </a:r>
          </a:p>
          <a:p>
            <a:r>
              <a:rPr lang="de-DE" dirty="0"/>
              <a:t>Fast alle Applikationen multiplattform-fähig (Windows, Mac, Linux, iOS, Android…)</a:t>
            </a:r>
          </a:p>
        </p:txBody>
      </p:sp>
    </p:spTree>
    <p:extLst>
      <p:ext uri="{BB962C8B-B14F-4D97-AF65-F5344CB8AC3E}">
        <p14:creationId xmlns:p14="http://schemas.microsoft.com/office/powerpoint/2010/main" val="1658169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B32BE1-F351-314B-A2CB-B90FC3ABE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Grundlagen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48BC28-6B27-E540-BF73-170EE2D06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77500" lnSpcReduction="20000"/>
          </a:bodyPr>
          <a:lstStyle/>
          <a:p>
            <a:r>
              <a:rPr lang="de-DE" dirty="0"/>
              <a:t>Download von </a:t>
            </a:r>
            <a:r>
              <a:rPr lang="de-DE" dirty="0">
                <a:hlinkClick r:id="rId2"/>
              </a:rPr>
              <a:t>www.python.org</a:t>
            </a:r>
            <a:r>
              <a:rPr lang="de-DE" dirty="0"/>
              <a:t> (</a:t>
            </a:r>
            <a:r>
              <a:rPr lang="de-DE" dirty="0" err="1"/>
              <a:t>cPython</a:t>
            </a:r>
            <a:r>
              <a:rPr lang="de-DE" dirty="0"/>
              <a:t>)</a:t>
            </a:r>
          </a:p>
          <a:p>
            <a:r>
              <a:rPr lang="de-DE" dirty="0"/>
              <a:t>Enthält Programmieroberfläche </a:t>
            </a:r>
            <a:r>
              <a:rPr lang="de-DE" b="1" dirty="0">
                <a:solidFill>
                  <a:schemeClr val="accent2">
                    <a:lumMod val="50000"/>
                  </a:schemeClr>
                </a:solidFill>
              </a:rPr>
              <a:t>IDLE</a:t>
            </a:r>
          </a:p>
          <a:p>
            <a:r>
              <a:rPr lang="de-DE" dirty="0"/>
              <a:t>Dateiendung .</a:t>
            </a:r>
            <a:r>
              <a:rPr lang="de-DE" dirty="0" err="1"/>
              <a:t>py</a:t>
            </a:r>
            <a:r>
              <a:rPr lang="de-DE" dirty="0"/>
              <a:t> (Textcodierung UTF-8)</a:t>
            </a:r>
          </a:p>
          <a:p>
            <a:r>
              <a:rPr lang="de-DE" dirty="0"/>
              <a:t>Groß-/Kleinschreibung im Code beachten!</a:t>
            </a:r>
          </a:p>
          <a:p>
            <a:r>
              <a:rPr lang="de-DE" dirty="0"/>
              <a:t>In IDLE (wird mit Python mitinstalliert):</a:t>
            </a:r>
          </a:p>
          <a:p>
            <a:pPr lvl="1"/>
            <a:r>
              <a:rPr lang="de-DE" dirty="0"/>
              <a:t>New File 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Öffnet neues Quellcode-Fenster</a:t>
            </a:r>
          </a:p>
          <a:p>
            <a:pPr lvl="1"/>
            <a:r>
              <a:rPr lang="de-DE" dirty="0"/>
              <a:t>Quellcode bearbeiten</a:t>
            </a:r>
          </a:p>
          <a:p>
            <a:pPr lvl="1"/>
            <a:r>
              <a:rPr lang="de-DE" dirty="0"/>
              <a:t>F5 zum Ausführen, Speichern &amp; Dateiname bestätigen</a:t>
            </a:r>
          </a:p>
          <a:p>
            <a:r>
              <a:rPr lang="de-DE" dirty="0"/>
              <a:t>In der Eingabeaufforderung / PowerShell / Terminal:</a:t>
            </a:r>
            <a:br>
              <a:rPr lang="de-DE" dirty="0"/>
            </a:br>
            <a:r>
              <a:rPr lang="de-DE" b="1" i="1" dirty="0" err="1"/>
              <a:t>py</a:t>
            </a:r>
            <a:r>
              <a:rPr lang="de-DE" b="1" i="1" dirty="0"/>
              <a:t> programm.py</a:t>
            </a:r>
            <a:r>
              <a:rPr lang="de-DE" i="1" dirty="0"/>
              <a:t> </a:t>
            </a:r>
            <a:r>
              <a:rPr lang="de-DE" dirty="0"/>
              <a:t>zum Ausführen des Python-Skriptes</a:t>
            </a:r>
          </a:p>
          <a:p>
            <a:r>
              <a:rPr lang="de-DE" dirty="0"/>
              <a:t>Alternative (und </a:t>
            </a:r>
            <a:r>
              <a:rPr lang="de-DE" dirty="0" err="1"/>
              <a:t>tw</a:t>
            </a:r>
            <a:r>
              <a:rPr lang="de-DE" dirty="0"/>
              <a:t>. bessere!) IDEs:</a:t>
            </a:r>
          </a:p>
          <a:p>
            <a:pPr lvl="1"/>
            <a:r>
              <a:rPr lang="de-DE" dirty="0"/>
              <a:t>Microsoft Visual Studio und </a:t>
            </a:r>
            <a:r>
              <a:rPr lang="de-DE" b="1" dirty="0"/>
              <a:t>Visual Studio Code </a:t>
            </a:r>
            <a:r>
              <a:rPr lang="de-DE" dirty="0"/>
              <a:t>(Multiplattform)</a:t>
            </a:r>
          </a:p>
          <a:p>
            <a:pPr lvl="1"/>
            <a:r>
              <a:rPr lang="de-DE" dirty="0" err="1"/>
              <a:t>PyCharm</a:t>
            </a:r>
            <a:r>
              <a:rPr lang="de-DE" dirty="0"/>
              <a:t> (Multiplattform)</a:t>
            </a:r>
          </a:p>
          <a:p>
            <a:pPr lvl="1"/>
            <a:r>
              <a:rPr lang="de-DE" dirty="0"/>
              <a:t>Spyder IDE</a:t>
            </a:r>
          </a:p>
          <a:p>
            <a:pPr lvl="1"/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886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6F3CBBD-2A71-063E-8FBD-9E95A4458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105" y="1465694"/>
            <a:ext cx="3771059" cy="23270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AE64242-8C09-428B-9A51-E3981250F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Installation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E9377E-EAA1-428F-8117-FB22AD2B6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122912" cy="5141168"/>
          </a:xfrm>
        </p:spPr>
        <p:txBody>
          <a:bodyPr>
            <a:normAutofit/>
          </a:bodyPr>
          <a:lstStyle/>
          <a:p>
            <a:r>
              <a:rPr lang="de-DE" dirty="0"/>
              <a:t>Auf jeden Fall </a:t>
            </a:r>
            <a:r>
              <a:rPr lang="de-DE" b="1" dirty="0"/>
              <a:t>Add Python 3.xx </a:t>
            </a:r>
            <a:r>
              <a:rPr lang="de-DE" b="1" dirty="0" err="1"/>
              <a:t>to</a:t>
            </a:r>
            <a:r>
              <a:rPr lang="de-DE" b="1" dirty="0"/>
              <a:t> PATH</a:t>
            </a:r>
            <a:r>
              <a:rPr lang="de-DE" dirty="0"/>
              <a:t> aktivieren, damit Python von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de-DE" dirty="0"/>
              <a:t> aus aufrufbar ist.</a:t>
            </a:r>
          </a:p>
          <a:p>
            <a:r>
              <a:rPr lang="de-DE" dirty="0"/>
              <a:t>Dann </a:t>
            </a:r>
            <a:r>
              <a:rPr lang="de-DE" dirty="0">
                <a:sym typeface="Wingdings" panose="05000000000000000000" pitchFamily="2" charset="2"/>
              </a:rPr>
              <a:t></a:t>
            </a:r>
            <a:endParaRPr lang="de-DE" dirty="0"/>
          </a:p>
          <a:p>
            <a:r>
              <a:rPr lang="de-DE" dirty="0"/>
              <a:t>Am Schluss </a:t>
            </a:r>
            <a:r>
              <a:rPr lang="de-DE" b="1" dirty="0" err="1"/>
              <a:t>Disable</a:t>
            </a:r>
            <a:r>
              <a:rPr lang="de-DE" b="1" dirty="0"/>
              <a:t> </a:t>
            </a:r>
            <a:r>
              <a:rPr lang="de-DE" b="1" dirty="0" err="1"/>
              <a:t>path</a:t>
            </a:r>
            <a:r>
              <a:rPr lang="de-DE" b="1" dirty="0"/>
              <a:t> </a:t>
            </a:r>
            <a:r>
              <a:rPr lang="de-DE" b="1" dirty="0" err="1"/>
              <a:t>lenght</a:t>
            </a:r>
            <a:r>
              <a:rPr lang="de-DE" b="1" dirty="0"/>
              <a:t> </a:t>
            </a:r>
            <a:r>
              <a:rPr lang="de-DE" b="1" dirty="0" err="1"/>
              <a:t>limit</a:t>
            </a:r>
            <a:r>
              <a:rPr lang="de-DE" dirty="0"/>
              <a:t> anklicken, ermöglicht längere Programmpfade 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DC3BFED-282E-476C-99F4-DFA913CAD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7" y="4120480"/>
            <a:ext cx="3764995" cy="233285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3201690-73F2-487B-8E91-B7863797C74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731" t="29377" r="15724" b="42843"/>
          <a:stretch/>
        </p:blipFill>
        <p:spPr>
          <a:xfrm>
            <a:off x="2333297" y="3619974"/>
            <a:ext cx="2088232" cy="648073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9051B2E6-14F5-4FC7-8271-D2E3005FBCF4}"/>
              </a:ext>
            </a:extLst>
          </p:cNvPr>
          <p:cNvSpPr/>
          <p:nvPr/>
        </p:nvSpPr>
        <p:spPr>
          <a:xfrm>
            <a:off x="6339400" y="3570413"/>
            <a:ext cx="1216600" cy="1788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FD750D3-CA74-4BE3-BEFA-D3AC7175992E}"/>
              </a:ext>
            </a:extLst>
          </p:cNvPr>
          <p:cNvSpPr/>
          <p:nvPr/>
        </p:nvSpPr>
        <p:spPr>
          <a:xfrm>
            <a:off x="6372200" y="5525819"/>
            <a:ext cx="2664296" cy="4668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4196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D38A0-763E-44BB-A4ED-7EEE68259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05497"/>
            <a:ext cx="7283152" cy="1143000"/>
          </a:xfrm>
        </p:spPr>
        <p:txBody>
          <a:bodyPr/>
          <a:lstStyle/>
          <a:p>
            <a:r>
              <a:rPr lang="de-DE" dirty="0"/>
              <a:t>IDLE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7D00A7-A739-4CB4-86A9-506E6C10F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340768"/>
            <a:ext cx="8229600" cy="2900789"/>
          </a:xfrm>
        </p:spPr>
        <p:txBody>
          <a:bodyPr>
            <a:normAutofit fontScale="85000" lnSpcReduction="10000"/>
          </a:bodyPr>
          <a:lstStyle/>
          <a:p>
            <a:r>
              <a:rPr lang="de-DE" dirty="0"/>
              <a:t>Einfache Programmieroberfläche (IDE) für Python.</a:t>
            </a:r>
          </a:p>
          <a:p>
            <a:r>
              <a:rPr lang="de-DE" dirty="0"/>
              <a:t>Shell-Fenster </a:t>
            </a:r>
            <a:r>
              <a:rPr lang="de-DE" dirty="0">
                <a:sym typeface="Wingdings" panose="05000000000000000000" pitchFamily="2" charset="2"/>
              </a:rPr>
              <a:t> Direkteingabe von Python-Befehlen</a:t>
            </a:r>
          </a:p>
          <a:p>
            <a:r>
              <a:rPr lang="de-DE" dirty="0">
                <a:sym typeface="Wingdings" panose="05000000000000000000" pitchFamily="2" charset="2"/>
              </a:rPr>
              <a:t>Programmeditor (File  New File) zum programmieren</a:t>
            </a:r>
          </a:p>
          <a:p>
            <a:r>
              <a:rPr lang="de-DE" b="1" dirty="0">
                <a:sym typeface="Wingdings" panose="05000000000000000000" pitchFamily="2" charset="2"/>
              </a:rPr>
              <a:t>F5</a:t>
            </a:r>
            <a:r>
              <a:rPr lang="de-DE" dirty="0">
                <a:sym typeface="Wingdings" panose="05000000000000000000" pitchFamily="2" charset="2"/>
              </a:rPr>
              <a:t> im Editor führt das Programm aus (und speichert)</a:t>
            </a:r>
          </a:p>
          <a:p>
            <a:r>
              <a:rPr lang="de-DE" dirty="0">
                <a:sym typeface="Wingdings" panose="05000000000000000000" pitchFamily="2" charset="2"/>
              </a:rPr>
              <a:t>Options  Show Line Numbers</a:t>
            </a:r>
          </a:p>
          <a:p>
            <a:r>
              <a:rPr lang="de-DE" b="1" dirty="0">
                <a:sym typeface="Wingdings" panose="05000000000000000000" pitchFamily="2" charset="2"/>
              </a:rPr>
              <a:t>Strg + S </a:t>
            </a:r>
            <a:r>
              <a:rPr lang="de-DE" dirty="0">
                <a:sym typeface="Wingdings" panose="05000000000000000000" pitchFamily="2" charset="2"/>
              </a:rPr>
              <a:t> Speichern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D667D5B-AC6C-475E-9395-62B689D6A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08648"/>
            <a:ext cx="9144000" cy="250217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66790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B1DE905-AFB2-814C-9840-85CCB13B8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63996"/>
            <a:ext cx="7283152" cy="1143000"/>
          </a:xfrm>
        </p:spPr>
        <p:txBody>
          <a:bodyPr>
            <a:noAutofit/>
          </a:bodyPr>
          <a:lstStyle/>
          <a:p>
            <a:r>
              <a:rPr lang="de-DE" sz="2800" dirty="0"/>
              <a:t>Einige (!) Variablentypen / Datentypen in Python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F18092-8A5F-8A4B-BF6A-33CA20128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68760"/>
            <a:ext cx="8656591" cy="5589240"/>
          </a:xfrm>
        </p:spPr>
        <p:txBody>
          <a:bodyPr>
            <a:normAutofit fontScale="40000" lnSpcReduction="20000"/>
          </a:bodyPr>
          <a:lstStyle/>
          <a:p>
            <a:pPr marL="11113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de-DE" b="1" dirty="0"/>
              <a:t>Man muss sich in Python nicht um die Festlegung von Variablentypen kümmern, sie sollten einem nur immer bewusst sein – Python legt den Datentypen automatisch nach der Zuweisung an!</a:t>
            </a:r>
          </a:p>
          <a:p>
            <a:pPr marL="0" algn="l" rtl="0" eaLnBrk="1" fontAlgn="t" latinLnBrk="0" hangingPunct="1">
              <a:buNone/>
            </a:pPr>
            <a:r>
              <a:rPr lang="de-DE" sz="1800" b="1" i="0" u="none" strike="noStrike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Zuweisung des Variablenwerts</a:t>
            </a:r>
            <a:endParaRPr lang="de-DE" sz="1800" b="0" i="0" u="none" strike="noStrike" dirty="0">
              <a:effectLst/>
              <a:latin typeface="Arial" panose="020B0604020202020204" pitchFamily="34" charset="0"/>
            </a:endParaRPr>
          </a:p>
          <a:p>
            <a:pPr marL="5715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de-DE" sz="4000" b="1" dirty="0">
              <a:solidFill>
                <a:srgbClr val="FF0000"/>
              </a:solidFill>
            </a:endParaRPr>
          </a:p>
          <a:p>
            <a:pPr marL="5715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de-DE" sz="4000" b="1" dirty="0">
              <a:solidFill>
                <a:srgbClr val="FF0000"/>
              </a:solidFill>
            </a:endParaRPr>
          </a:p>
          <a:p>
            <a:pPr marL="5715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de-DE" sz="4000" b="1" dirty="0">
              <a:solidFill>
                <a:srgbClr val="FF0000"/>
              </a:solidFill>
            </a:endParaRPr>
          </a:p>
          <a:p>
            <a:pPr marL="5715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de-DE" sz="4000" b="1" dirty="0">
              <a:solidFill>
                <a:srgbClr val="FF0000"/>
              </a:solidFill>
            </a:endParaRPr>
          </a:p>
          <a:p>
            <a:pPr marL="5715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de-DE" sz="4000" b="1" dirty="0">
              <a:solidFill>
                <a:srgbClr val="FF0000"/>
              </a:solidFill>
            </a:endParaRPr>
          </a:p>
          <a:p>
            <a:pPr marL="5715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de-DE" sz="4000" b="1" dirty="0">
              <a:solidFill>
                <a:srgbClr val="FF0000"/>
              </a:solidFill>
            </a:endParaRPr>
          </a:p>
          <a:p>
            <a:pPr marL="5715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de-DE" sz="4000" b="1" dirty="0">
              <a:solidFill>
                <a:srgbClr val="FF0000"/>
              </a:solidFill>
            </a:endParaRPr>
          </a:p>
          <a:p>
            <a:pPr marL="5715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de-DE" sz="4000" b="1" dirty="0">
              <a:solidFill>
                <a:srgbClr val="FF0000"/>
              </a:solidFill>
            </a:endParaRPr>
          </a:p>
          <a:p>
            <a:pPr marL="5715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de-DE" sz="4000" b="1" dirty="0">
              <a:solidFill>
                <a:srgbClr val="FF0000"/>
              </a:solidFill>
            </a:endParaRPr>
          </a:p>
          <a:p>
            <a:pPr marL="5715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de-DE" sz="4000" b="1" dirty="0">
              <a:solidFill>
                <a:srgbClr val="FF0000"/>
              </a:solidFill>
            </a:endParaRPr>
          </a:p>
          <a:p>
            <a:pPr marL="5715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de-DE" sz="4000" b="1" dirty="0">
              <a:solidFill>
                <a:srgbClr val="FF0000"/>
              </a:solidFill>
            </a:endParaRPr>
          </a:p>
          <a:p>
            <a:pPr marL="5715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de-DE" sz="4000" b="1" dirty="0">
              <a:solidFill>
                <a:srgbClr val="FF0000"/>
              </a:solidFill>
            </a:endParaRPr>
          </a:p>
          <a:p>
            <a:pPr marL="5715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br>
              <a:rPr lang="de-DE" sz="4000" b="1" dirty="0">
                <a:solidFill>
                  <a:srgbClr val="FF0000"/>
                </a:solidFill>
              </a:rPr>
            </a:br>
            <a:endParaRPr lang="de-DE" sz="4000" b="1" dirty="0">
              <a:solidFill>
                <a:srgbClr val="FF0000"/>
              </a:solidFill>
            </a:endParaRPr>
          </a:p>
        </p:txBody>
      </p:sp>
      <p:graphicFrame>
        <p:nvGraphicFramePr>
          <p:cNvPr id="2" name="Inhaltsplatzhalter 3">
            <a:extLst>
              <a:ext uri="{FF2B5EF4-FFF2-40B4-BE49-F238E27FC236}">
                <a16:creationId xmlns:a16="http://schemas.microsoft.com/office/drawing/2014/main" id="{A4B4EDBA-1EE3-5EA0-2073-5108EA2E27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4509755"/>
              </p:ext>
            </p:extLst>
          </p:nvPr>
        </p:nvGraphicFramePr>
        <p:xfrm>
          <a:off x="470002" y="1772816"/>
          <a:ext cx="8229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19788843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922027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Zuweisung des Variablenwerts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Typ der Variable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658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s1 = "Hallo Welt"</a:t>
                      </a:r>
                      <a:br>
                        <a:rPr lang="de-DE" dirty="0"/>
                      </a:br>
                      <a:r>
                        <a:rPr lang="de-DE" dirty="0"/>
                        <a:t>s2 = "Hans " + "Meier"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Text </a:t>
                      </a:r>
                      <a:r>
                        <a:rPr lang="de-DE" b="0" dirty="0"/>
                        <a:t>(String bzw. </a:t>
                      </a:r>
                      <a:r>
                        <a:rPr lang="de-DE" b="0" dirty="0" err="1"/>
                        <a:t>str</a:t>
                      </a:r>
                      <a:r>
                        <a:rPr lang="de-DE" b="0" dirty="0"/>
                        <a:t>)</a:t>
                      </a:r>
                      <a:br>
                        <a:rPr lang="de-DE" b="0" dirty="0"/>
                      </a:br>
                      <a:r>
                        <a:rPr lang="de-DE" b="0" dirty="0"/>
                        <a:t>kann in Python beliebig lang sein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586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i1 = 756700000919920</a:t>
                      </a:r>
                      <a:br>
                        <a:rPr lang="de-DE" dirty="0"/>
                      </a:br>
                      <a:r>
                        <a:rPr lang="de-DE" dirty="0"/>
                        <a:t>i2 = -1234500</a:t>
                      </a:r>
                    </a:p>
                    <a:p>
                      <a:r>
                        <a:rPr lang="de-DE" dirty="0"/>
                        <a:t>i3 = 10 %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Ganzzahl</a:t>
                      </a:r>
                      <a:r>
                        <a:rPr lang="de-DE" dirty="0"/>
                        <a:t> (Integer bzw. </a:t>
                      </a:r>
                      <a:r>
                        <a:rPr lang="de-DE" dirty="0" err="1"/>
                        <a:t>int</a:t>
                      </a:r>
                      <a:r>
                        <a:rPr lang="de-DE" dirty="0"/>
                        <a:t>)</a:t>
                      </a:r>
                      <a:br>
                        <a:rPr lang="de-DE" dirty="0"/>
                      </a:br>
                      <a:r>
                        <a:rPr lang="de-DE" dirty="0"/>
                        <a:t>Ganzzahlen können in Python beliebig (!) groß sein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521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pi</a:t>
                      </a:r>
                      <a:r>
                        <a:rPr lang="de-DE" dirty="0"/>
                        <a:t> = </a:t>
                      </a: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3.14159265</a:t>
                      </a:r>
                      <a:b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 = -1/3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Fließkommazahl</a:t>
                      </a:r>
                      <a:r>
                        <a:rPr lang="de-DE" dirty="0"/>
                        <a:t> (</a:t>
                      </a:r>
                      <a:r>
                        <a:rPr lang="de-DE" dirty="0" err="1"/>
                        <a:t>float</a:t>
                      </a:r>
                      <a:r>
                        <a:rPr lang="de-DE" dirty="0"/>
                        <a:t>)</a:t>
                      </a:r>
                      <a:br>
                        <a:rPr lang="de-DE" dirty="0"/>
                      </a:br>
                      <a:r>
                        <a:rPr lang="de-DE" dirty="0"/>
                        <a:t>Maximalwert </a:t>
                      </a:r>
                      <a:r>
                        <a:rPr lang="de-DE" dirty="0">
                          <a:sym typeface="Wingdings" panose="05000000000000000000" pitchFamily="2" charset="2"/>
                        </a:rPr>
                        <a:t>1.7976931348623157e+308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04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 = True</a:t>
                      </a:r>
                    </a:p>
                    <a:p>
                      <a:r>
                        <a:rPr lang="de-DE" dirty="0"/>
                        <a:t>b = </a:t>
                      </a:r>
                      <a:r>
                        <a:rPr lang="de-DE" dirty="0" err="1"/>
                        <a:t>False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Boolesche</a:t>
                      </a:r>
                      <a:r>
                        <a:rPr lang="de-DE" dirty="0"/>
                        <a:t> (</a:t>
                      </a:r>
                      <a:r>
                        <a:rPr lang="de-DE" dirty="0" err="1"/>
                        <a:t>bool</a:t>
                      </a:r>
                      <a:r>
                        <a:rPr lang="de-DE" dirty="0"/>
                        <a:t>)</a:t>
                      </a:r>
                      <a:br>
                        <a:rPr lang="de-DE" dirty="0"/>
                      </a:br>
                      <a:r>
                        <a:rPr lang="de-DE" dirty="0"/>
                        <a:t>In Python Großschreibung beachten!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314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prim = [1, 3, 5, 7, 11, 13, 17]</a:t>
                      </a:r>
                      <a:br>
                        <a:rPr lang="de-DE" dirty="0"/>
                      </a:br>
                      <a:r>
                        <a:rPr lang="de-DE" dirty="0" err="1"/>
                        <a:t>artikel</a:t>
                      </a:r>
                      <a:r>
                        <a:rPr lang="de-DE" dirty="0"/>
                        <a:t> = [1010, "Hosenträger", 9.98, True]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Liste</a:t>
                      </a:r>
                      <a:r>
                        <a:rPr lang="de-DE" dirty="0"/>
                        <a:t> (</a:t>
                      </a:r>
                      <a:r>
                        <a:rPr lang="de-DE" dirty="0" err="1"/>
                        <a:t>list</a:t>
                      </a:r>
                      <a:r>
                        <a:rPr lang="de-DE" dirty="0"/>
                        <a:t>)</a:t>
                      </a:r>
                      <a:br>
                        <a:rPr lang="de-DE" dirty="0"/>
                      </a:br>
                      <a:r>
                        <a:rPr lang="de-DE" dirty="0"/>
                        <a:t>Beliebig viele Werte durch Komma getrennt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636826"/>
                  </a:ext>
                </a:extLst>
              </a:tr>
            </a:tbl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9F3E3B1D-EAE5-44D2-8936-1C1CE610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5626152"/>
            <a:ext cx="4472004" cy="118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525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37DE5D-E0CC-4D34-A245-924FB7C1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Umwandeln von/in Datentypen ("Casting")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B4B753-16CD-4A66-A399-16E4F6BE5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069160"/>
          </a:xfrm>
        </p:spPr>
        <p:txBody>
          <a:bodyPr>
            <a:normAutofit/>
          </a:bodyPr>
          <a:lstStyle/>
          <a:p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(s) </a:t>
            </a:r>
            <a:r>
              <a:rPr lang="de-DE" sz="2800" dirty="0">
                <a:sym typeface="Wingdings" panose="05000000000000000000" pitchFamily="2" charset="2"/>
              </a:rPr>
              <a:t> String oder </a:t>
            </a:r>
            <a:r>
              <a:rPr lang="de-DE" sz="2800" dirty="0" err="1">
                <a:sym typeface="Wingdings" panose="05000000000000000000" pitchFamily="2" charset="2"/>
              </a:rPr>
              <a:t>Float</a:t>
            </a:r>
            <a:r>
              <a:rPr lang="de-DE" sz="2800" dirty="0">
                <a:sym typeface="Wingdings" panose="05000000000000000000" pitchFamily="2" charset="2"/>
              </a:rPr>
              <a:t> in Ganzzahl wandeln</a:t>
            </a:r>
          </a:p>
          <a:p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float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(s) </a:t>
            </a:r>
            <a:r>
              <a:rPr lang="de-DE" sz="2800" dirty="0">
                <a:sym typeface="Wingdings" panose="05000000000000000000" pitchFamily="2" charset="2"/>
              </a:rPr>
              <a:t> String o. Integer in Fließkommazahl wandeln</a:t>
            </a:r>
          </a:p>
          <a:p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str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(i)  </a:t>
            </a:r>
            <a:r>
              <a:rPr lang="de-DE" sz="2800" dirty="0">
                <a:sym typeface="Wingdings" panose="05000000000000000000" pitchFamily="2" charset="2"/>
              </a:rPr>
              <a:t> Zahl (</a:t>
            </a:r>
            <a:r>
              <a:rPr lang="de-DE" sz="2800" dirty="0" err="1">
                <a:sym typeface="Wingdings" panose="05000000000000000000" pitchFamily="2" charset="2"/>
              </a:rPr>
              <a:t>Float</a:t>
            </a:r>
            <a:r>
              <a:rPr lang="de-DE" sz="2800" dirty="0">
                <a:sym typeface="Wingdings" panose="05000000000000000000" pitchFamily="2" charset="2"/>
              </a:rPr>
              <a:t> oder Integer) in String wandeln</a:t>
            </a:r>
          </a:p>
          <a:p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bin(i) </a:t>
            </a:r>
            <a:r>
              <a:rPr lang="de-DE" sz="2800" dirty="0">
                <a:sym typeface="Wingdings" panose="05000000000000000000" pitchFamily="2" charset="2"/>
              </a:rPr>
              <a:t> Integer in Binär</a:t>
            </a:r>
            <a:r>
              <a:rPr lang="de-DE" sz="2800" b="1" dirty="0">
                <a:sym typeface="Wingdings" panose="05000000000000000000" pitchFamily="2" charset="2"/>
              </a:rPr>
              <a:t>string</a:t>
            </a:r>
            <a:r>
              <a:rPr lang="de-DE" sz="2800" dirty="0">
                <a:sym typeface="Wingdings" panose="05000000000000000000" pitchFamily="2" charset="2"/>
              </a:rPr>
              <a:t> wandeln</a:t>
            </a:r>
          </a:p>
          <a:p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bool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(i) </a:t>
            </a:r>
            <a:r>
              <a:rPr lang="de-DE" sz="2800" dirty="0">
                <a:sym typeface="Wingdings" panose="05000000000000000000" pitchFamily="2" charset="2"/>
              </a:rPr>
              <a:t> Integer (0 oder 1) in 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False</a:t>
            </a:r>
            <a:r>
              <a:rPr lang="de-DE" sz="2800" dirty="0">
                <a:sym typeface="Wingdings" panose="05000000000000000000" pitchFamily="2" charset="2"/>
              </a:rPr>
              <a:t> / 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True</a:t>
            </a:r>
            <a:r>
              <a:rPr lang="de-DE" sz="2800" dirty="0">
                <a:sym typeface="Wingdings" panose="05000000000000000000" pitchFamily="2" charset="2"/>
              </a:rPr>
              <a:t> wandeln</a:t>
            </a:r>
          </a:p>
          <a:p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list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(s)  String in Liste umwandeln</a:t>
            </a:r>
          </a:p>
          <a:p>
            <a:endParaRPr lang="de-DE" sz="2800" dirty="0">
              <a:sym typeface="Wingdings" panose="05000000000000000000" pitchFamily="2" charset="2"/>
            </a:endParaRPr>
          </a:p>
          <a:p>
            <a:r>
              <a:rPr lang="de-DE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round</a:t>
            </a:r>
            <a:r>
              <a:rPr lang="de-DE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x,n</a:t>
            </a:r>
            <a:r>
              <a:rPr lang="de-DE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  Rundet eine </a:t>
            </a:r>
            <a:r>
              <a:rPr lang="de-DE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Float</a:t>
            </a:r>
            <a:r>
              <a:rPr lang="de-DE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-Zahl auf n Stellen, z.B. </a:t>
            </a:r>
            <a:r>
              <a:rPr lang="de-DE" sz="2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round</a:t>
            </a:r>
            <a:r>
              <a:rPr lang="de-DE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(2/3, 2) </a:t>
            </a:r>
            <a:r>
              <a:rPr lang="de-DE" sz="2800" dirty="0">
                <a:sym typeface="Wingdings" panose="05000000000000000000" pitchFamily="2" charset="2"/>
              </a:rPr>
              <a:t> 0.67</a:t>
            </a:r>
          </a:p>
          <a:p>
            <a:r>
              <a:rPr lang="de-DE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type(i)</a:t>
            </a:r>
            <a:r>
              <a:rPr lang="de-DE" sz="2800" dirty="0">
                <a:solidFill>
                  <a:srgbClr val="FF0000"/>
                </a:solidFill>
                <a:sym typeface="Wingdings" panose="05000000000000000000" pitchFamily="2" charset="2"/>
              </a:rPr>
              <a:t>  Liefert den Datentyp einer Variablen</a:t>
            </a:r>
            <a:endParaRPr lang="de-DE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406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01CF04-BD61-A04A-BB6D-D87010EA5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Ausgabe und Eingabe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32C2DC-F7AC-0346-867F-38365A98F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709120"/>
          </a:xfrm>
        </p:spPr>
        <p:txBody>
          <a:bodyPr>
            <a:normAutofit fontScale="85000" lnSpcReduction="20000"/>
          </a:bodyPr>
          <a:lstStyle/>
          <a:p>
            <a:r>
              <a:rPr lang="de-DE" dirty="0"/>
              <a:t>Ausgabe 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(var1 ,var2 , .... )</a:t>
            </a:r>
          </a:p>
          <a:p>
            <a:pPr lvl="1"/>
            <a:r>
              <a:rPr lang="de-DE" dirty="0"/>
              <a:t>Die Kommas trennen die Variablen mit Leerzeichen</a:t>
            </a:r>
          </a:p>
          <a:p>
            <a:pPr lvl="1"/>
            <a:r>
              <a:rPr lang="de-DE" dirty="0"/>
              <a:t>Strings kann man auch mit + direkt aneinander reihen:</a:t>
            </a:r>
            <a:br>
              <a:rPr lang="de-DE" dirty="0"/>
            </a:b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Micro'+'soft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'+' '+"Word "+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(2000+24))</a:t>
            </a:r>
            <a:endParaRPr lang="de-DE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(...,"\n",...) </a:t>
            </a:r>
            <a:r>
              <a:rPr lang="de-DE" dirty="0"/>
              <a:t>erzeugt eine extra Zeilenschaltung</a:t>
            </a:r>
          </a:p>
          <a:p>
            <a:pPr lvl="1"/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(…,end="") </a:t>
            </a:r>
            <a:r>
              <a:rPr lang="de-DE" dirty="0"/>
              <a:t>unterdrückt die Zeilenschaltung am Ende</a:t>
            </a:r>
          </a:p>
          <a:p>
            <a:pPr lvl="1"/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("\u27a0") </a:t>
            </a:r>
            <a:r>
              <a:rPr lang="de-DE" dirty="0"/>
              <a:t>gibt das Unicodezeichen </a:t>
            </a:r>
            <a:r>
              <a:rPr lang="de-DE" sz="4100" dirty="0"/>
              <a:t>➠</a:t>
            </a:r>
            <a:r>
              <a:rPr lang="de-DE" dirty="0"/>
              <a:t> aus</a:t>
            </a:r>
            <a:r>
              <a:rPr lang="de-DE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1F63B</a:t>
            </a:r>
            <a:br>
              <a:rPr lang="de-DE" dirty="0"/>
            </a:br>
            <a:endParaRPr lang="de-DE" dirty="0"/>
          </a:p>
          <a:p>
            <a:r>
              <a:rPr lang="de-DE" dirty="0"/>
              <a:t>Eingabe 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("Eingabetext&gt;")</a:t>
            </a:r>
          </a:p>
          <a:p>
            <a:pPr lvl="1"/>
            <a:r>
              <a:rPr lang="de-DE" b="1" dirty="0">
                <a:solidFill>
                  <a:srgbClr val="FF0000"/>
                </a:solidFill>
              </a:rPr>
              <a:t>Jede Eingabe wird zunächst als Text (</a:t>
            </a:r>
            <a:r>
              <a:rPr lang="de-DE" b="1" dirty="0" err="1">
                <a:solidFill>
                  <a:srgbClr val="FF0000"/>
                </a:solidFill>
              </a:rPr>
              <a:t>string</a:t>
            </a:r>
            <a:r>
              <a:rPr lang="de-DE" b="1" dirty="0">
                <a:solidFill>
                  <a:srgbClr val="FF0000"/>
                </a:solidFill>
              </a:rPr>
              <a:t>) erzeugt!!</a:t>
            </a:r>
          </a:p>
          <a:p>
            <a:pPr lvl="1"/>
            <a:r>
              <a:rPr lang="de-DE" dirty="0"/>
              <a:t>Will man einen anderen Datentyp, muss z.B. mit </a:t>
            </a:r>
            <a:br>
              <a:rPr lang="de-DE" dirty="0"/>
            </a:b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 =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("…")) </a:t>
            </a:r>
            <a:r>
              <a:rPr lang="de-DE" dirty="0"/>
              <a:t>umgewandelt werden</a:t>
            </a:r>
            <a:br>
              <a:rPr lang="de-DE" dirty="0"/>
            </a:br>
            <a:r>
              <a:rPr lang="de-DE" dirty="0"/>
              <a:t>Beispiel: 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 =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("Bitte Zahl eingeben&gt;"))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761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E00BCE-79E0-457B-B1ED-158476BBB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Arithmetische Operatoren</a:t>
            </a:r>
          </a:p>
        </p:txBody>
      </p:sp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52995F32-2DAA-4B91-BAE4-C7EF269BAD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7721763"/>
              </p:ext>
            </p:extLst>
          </p:nvPr>
        </p:nvGraphicFramePr>
        <p:xfrm>
          <a:off x="395536" y="1321896"/>
          <a:ext cx="8229600" cy="549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3270250901"/>
                    </a:ext>
                  </a:extLst>
                </a:gridCol>
                <a:gridCol w="2842322">
                  <a:extLst>
                    <a:ext uri="{9D8B030D-6E8A-4147-A177-3AD203B41FA5}">
                      <a16:colId xmlns:a16="http://schemas.microsoft.com/office/drawing/2014/main" val="4013600831"/>
                    </a:ext>
                  </a:extLst>
                </a:gridCol>
                <a:gridCol w="4008782">
                  <a:extLst>
                    <a:ext uri="{9D8B030D-6E8A-4147-A177-3AD203B41FA5}">
                      <a16:colId xmlns:a16="http://schemas.microsoft.com/office/drawing/2014/main" val="16066246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800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Bezeichnung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Beispiel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67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+    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Addition, Subtraktion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x=-3-5+10</a:t>
                      </a:r>
                    </a:p>
                    <a:p>
                      <a:r>
                        <a:rPr lang="de-DE" sz="1800" dirty="0"/>
                        <a:t>(Ergebnis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09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*    /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Multiplikation, Division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y=5*2/4</a:t>
                      </a:r>
                    </a:p>
                    <a:p>
                      <a:r>
                        <a:rPr lang="de-DE" sz="1800" dirty="0"/>
                        <a:t>(Ergebnis 2.5)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954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Potenzieren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v=10**3</a:t>
                      </a:r>
                      <a:br>
                        <a:rPr lang="de-DE" sz="1800" dirty="0"/>
                      </a:br>
                      <a:r>
                        <a:rPr lang="de-DE" sz="1800" dirty="0"/>
                        <a:t>(Ergebnis 1000)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262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/>
                        <a:t>Modulo </a:t>
                      </a:r>
                      <a:br>
                        <a:rPr lang="de-DE" sz="1800"/>
                      </a:br>
                      <a:r>
                        <a:rPr lang="de-DE" sz="1800"/>
                        <a:t>(=Rest einer Division)</a:t>
                      </a:r>
                      <a:endParaRPr lang="de-D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z=20%6</a:t>
                      </a:r>
                    </a:p>
                    <a:p>
                      <a:r>
                        <a:rPr lang="de-DE" sz="1800" dirty="0"/>
                        <a:t>(Ergebnis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893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//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Ganzzahldivision </a:t>
                      </a:r>
                      <a:br>
                        <a:rPr lang="de-DE" sz="1800" dirty="0"/>
                      </a:br>
                      <a:r>
                        <a:rPr lang="de-DE" sz="1800" dirty="0"/>
                        <a:t>(Floor Division)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a=29//10</a:t>
                      </a:r>
                    </a:p>
                    <a:p>
                      <a:r>
                        <a:rPr lang="de-DE" sz="1800" dirty="0"/>
                        <a:t>(Ergebnis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078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+=   -=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Inkrement, Dekrement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i-=1</a:t>
                      </a:r>
                    </a:p>
                    <a:p>
                      <a:r>
                        <a:rPr lang="de-DE" sz="1800" dirty="0"/>
                        <a:t>(Mindert i um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021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+</a:t>
                      </a:r>
                      <a:br>
                        <a:rPr lang="de-DE" sz="1800" dirty="0"/>
                      </a:br>
                      <a:r>
                        <a:rPr lang="de-DE" sz="1800" dirty="0"/>
                        <a:t>(mit Text)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Addition mit Strings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S1 = "Apollo " + "11"</a:t>
                      </a:r>
                    </a:p>
                    <a:p>
                      <a:r>
                        <a:rPr lang="de-DE" sz="1800" dirty="0"/>
                        <a:t>(Ergebnis “Apollo 11“)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338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*</a:t>
                      </a:r>
                      <a:br>
                        <a:rPr lang="de-DE" sz="1800" dirty="0"/>
                      </a:br>
                      <a:r>
                        <a:rPr lang="de-DE" sz="1800" dirty="0"/>
                        <a:t>(mit Text)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Multiplikation m. Strings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S2 = 16 * "+"</a:t>
                      </a:r>
                      <a:br>
                        <a:rPr lang="de-DE" sz="1800" dirty="0"/>
                      </a:br>
                      <a:r>
                        <a:rPr lang="de-DE" sz="1800" dirty="0"/>
                        <a:t>(Ergebnis "++++++++++++++++")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338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81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E00BCE-79E0-457B-B1ED-158476BBB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116632"/>
            <a:ext cx="7283152" cy="1143000"/>
          </a:xfrm>
        </p:spPr>
        <p:txBody>
          <a:bodyPr/>
          <a:lstStyle/>
          <a:p>
            <a:r>
              <a:rPr lang="de-DE"/>
              <a:t>Boolesche / Binäre Algebra</a:t>
            </a:r>
            <a:endParaRPr lang="de-DE" dirty="0"/>
          </a:p>
        </p:txBody>
      </p:sp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52995F32-2DAA-4B91-BAE4-C7EF269BAD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7324756"/>
              </p:ext>
            </p:extLst>
          </p:nvPr>
        </p:nvGraphicFramePr>
        <p:xfrm>
          <a:off x="251520" y="1196752"/>
          <a:ext cx="8892479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32">
                  <a:extLst>
                    <a:ext uri="{9D8B030D-6E8A-4147-A177-3AD203B41FA5}">
                      <a16:colId xmlns:a16="http://schemas.microsoft.com/office/drawing/2014/main" val="3270250901"/>
                    </a:ext>
                  </a:extLst>
                </a:gridCol>
                <a:gridCol w="3071266">
                  <a:extLst>
                    <a:ext uri="{9D8B030D-6E8A-4147-A177-3AD203B41FA5}">
                      <a16:colId xmlns:a16="http://schemas.microsoft.com/office/drawing/2014/main" val="4013600831"/>
                    </a:ext>
                  </a:extLst>
                </a:gridCol>
                <a:gridCol w="4331681">
                  <a:extLst>
                    <a:ext uri="{9D8B030D-6E8A-4147-A177-3AD203B41FA5}">
                      <a16:colId xmlns:a16="http://schemas.microsoft.com/office/drawing/2014/main" val="16066246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Bezeichnung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Beispiel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67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and  </a:t>
                      </a:r>
                      <a:r>
                        <a:rPr lang="de-DE" sz="1800" b="0" dirty="0" err="1"/>
                        <a:t>or</a:t>
                      </a:r>
                      <a:r>
                        <a:rPr lang="de-DE" sz="1800" dirty="0"/>
                        <a:t>   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Logische Operatoren für </a:t>
                      </a:r>
                      <a:r>
                        <a:rPr lang="de-DE" sz="2000"/>
                        <a:t>Boolesche Ausdrücke</a:t>
                      </a:r>
                      <a:endParaRPr lang="de-D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x=True and not </a:t>
                      </a:r>
                      <a:r>
                        <a:rPr lang="de-DE" sz="2000" dirty="0" err="1"/>
                        <a:t>False</a:t>
                      </a:r>
                      <a:r>
                        <a:rPr lang="de-DE" sz="2000" dirty="0"/>
                        <a:t> </a:t>
                      </a:r>
                      <a:r>
                        <a:rPr lang="de-DE" sz="20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de-DE" sz="2000" dirty="0"/>
                        <a:t>Ergebnis </a:t>
                      </a:r>
                      <a:r>
                        <a:rPr lang="de-DE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de-DE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de-DE" sz="2000" dirty="0"/>
                        <a:t>y=(3&gt;2) and not(4&gt;3) </a:t>
                      </a:r>
                      <a:r>
                        <a:rPr lang="de-DE" sz="20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de-DE" sz="2000" dirty="0"/>
                        <a:t>Ergebnis </a:t>
                      </a:r>
                      <a:r>
                        <a:rPr lang="de-DE" sz="18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endParaRPr lang="de-DE" sz="18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09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Bitweises OR für Ganzzahlen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s1=0b1001 | 0b0110</a:t>
                      </a:r>
                    </a:p>
                    <a:p>
                      <a:r>
                        <a:rPr lang="de-DE" sz="2000" dirty="0"/>
                        <a:t>(Ergebnis 0b1111 bzw. 15)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158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Bitweises AND für Ganzzahlen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s2=0b1011 </a:t>
                      </a:r>
                      <a:r>
                        <a:rPr lang="de-DE" sz="2000" dirty="0"/>
                        <a:t>&amp; 0b0110</a:t>
                      </a:r>
                    </a:p>
                    <a:p>
                      <a:r>
                        <a:rPr lang="de-DE" sz="2000" dirty="0"/>
                        <a:t>(</a:t>
                      </a:r>
                      <a:r>
                        <a:rPr lang="de-DE" sz="2000"/>
                        <a:t>Ergebnis 0b10 </a:t>
                      </a:r>
                      <a:r>
                        <a:rPr lang="de-DE" sz="2000" dirty="0"/>
                        <a:t>bzw</a:t>
                      </a:r>
                      <a:r>
                        <a:rPr lang="de-DE" sz="2000"/>
                        <a:t>. 2)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954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^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Bitweises XOR für Ganzzahlen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s3=0b1001 ^ 0b1111</a:t>
                      </a:r>
                    </a:p>
                    <a:p>
                      <a:r>
                        <a:rPr lang="de-DE" sz="2000" dirty="0"/>
                        <a:t>(Ergebnis 0b110)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893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&lt;&lt;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Bitweises Shift nach links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s4=0b001&lt;&lt;2</a:t>
                      </a:r>
                    </a:p>
                    <a:p>
                      <a:r>
                        <a:rPr lang="de-DE" sz="2000" dirty="0"/>
                        <a:t>(Ergebnis 0b100)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078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&gt;&gt;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Bitweises Shift nach rechts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s5=0b0110</a:t>
                      </a:r>
                      <a:r>
                        <a:rPr lang="de-DE" sz="2000" dirty="0"/>
                        <a:t>&gt;&gt;1</a:t>
                      </a:r>
                    </a:p>
                    <a:p>
                      <a:r>
                        <a:rPr lang="de-DE" sz="2000" dirty="0"/>
                        <a:t>(</a:t>
                      </a:r>
                      <a:r>
                        <a:rPr lang="de-DE" sz="2000"/>
                        <a:t>Ergebnis 0b11</a:t>
                      </a:r>
                      <a:r>
                        <a:rPr lang="de-DE" sz="2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021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/>
                        <a:t>bin(…)</a:t>
                      </a:r>
                      <a:endParaRPr lang="de-D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/>
                        <a:t>Umwandlung in Dualzahlendarstellung</a:t>
                      </a:r>
                      <a:endParaRPr lang="de-D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s6=bin(10)</a:t>
                      </a:r>
                    </a:p>
                    <a:p>
                      <a:r>
                        <a:rPr lang="de-DE" sz="2000" dirty="0"/>
                        <a:t>(Ergebnis 0b1010)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133000"/>
                  </a:ext>
                </a:extLst>
              </a:tr>
            </a:tbl>
          </a:graphicData>
        </a:graphic>
      </p:graphicFrame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7B8670C0-E832-4ADB-8A05-3134D7EB5FE3}"/>
              </a:ext>
            </a:extLst>
          </p:cNvPr>
          <p:cNvSpPr/>
          <p:nvPr/>
        </p:nvSpPr>
        <p:spPr>
          <a:xfrm>
            <a:off x="251519" y="1196752"/>
            <a:ext cx="8892479" cy="1143000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9C2C2D6-9BA1-CC6B-8D1D-D1388FB12A4F}"/>
              </a:ext>
            </a:extLst>
          </p:cNvPr>
          <p:cNvSpPr txBox="1"/>
          <p:nvPr/>
        </p:nvSpPr>
        <p:spPr>
          <a:xfrm>
            <a:off x="1331640" y="6500272"/>
            <a:ext cx="6030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Siehe auch </a:t>
            </a:r>
            <a:r>
              <a:rPr lang="de-DE">
                <a:hlinkClick r:id="rId2"/>
              </a:rPr>
              <a:t>https://realpython.com/python-bitwise-operators/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5625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438833-EC11-4803-BAFE-451040B32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Stringoperationen / -funktionen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02C7AF-B6D7-4DB3-B6EF-C3CEFD35B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856984" cy="5141168"/>
          </a:xfrm>
        </p:spPr>
        <p:txBody>
          <a:bodyPr>
            <a:normAutofit fontScale="85000" lnSpcReduction="20000"/>
          </a:bodyPr>
          <a:lstStyle/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[0:5] </a:t>
            </a:r>
            <a:r>
              <a:rPr lang="de-DE" dirty="0">
                <a:sym typeface="Wingdings" panose="05000000000000000000" pitchFamily="2" charset="2"/>
              </a:rPr>
              <a:t> die ersten 5 Zeichen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[5:] </a:t>
            </a:r>
            <a:r>
              <a:rPr lang="de-DE" dirty="0">
                <a:sym typeface="Wingdings" panose="05000000000000000000" pitchFamily="2" charset="2"/>
              </a:rPr>
              <a:t> alles ab dem 6. Zeichen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[-3:] </a:t>
            </a:r>
            <a:r>
              <a:rPr lang="de-DE" dirty="0">
                <a:sym typeface="Wingdings" panose="05000000000000000000" pitchFamily="2" charset="2"/>
              </a:rPr>
              <a:t> alles ab dem drittletzten Zeichen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[2:5] </a:t>
            </a:r>
            <a:r>
              <a:rPr lang="de-DE" dirty="0">
                <a:sym typeface="Wingdings" panose="05000000000000000000" pitchFamily="2" charset="2"/>
              </a:rPr>
              <a:t> vom 3. bis zum 5. Zeichen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name.upper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 </a:t>
            </a:r>
            <a:r>
              <a:rPr lang="de-DE" sz="2400" dirty="0">
                <a:sym typeface="Wingdings" panose="05000000000000000000" pitchFamily="2" charset="2"/>
              </a:rPr>
              <a:t> </a:t>
            </a:r>
            <a:r>
              <a:rPr lang="de-DE" dirty="0">
                <a:sym typeface="Wingdings" panose="05000000000000000000" pitchFamily="2" charset="2"/>
              </a:rPr>
              <a:t>String in Großbuchstaben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name.lower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 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de-DE" dirty="0">
                <a:sym typeface="Wingdings" panose="05000000000000000000" pitchFamily="2" charset="2"/>
              </a:rPr>
              <a:t>String in Kleinbuchstaben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name.strip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 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de-DE" dirty="0">
                <a:sym typeface="Wingdings" panose="05000000000000000000" pitchFamily="2" charset="2"/>
              </a:rPr>
              <a:t>Entfernt führende und abschließende  Leerzeichen aus dem String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len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name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de-DE" dirty="0">
                <a:sym typeface="Wingdings" panose="05000000000000000000" pitchFamily="2" charset="2"/>
              </a:rPr>
              <a:t>Anzahl der Zeichen im String (Länge)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chr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(33) </a:t>
            </a:r>
            <a:r>
              <a:rPr lang="de-DE" dirty="0">
                <a:sym typeface="Wingdings" panose="05000000000000000000" pitchFamily="2" charset="2"/>
              </a:rPr>
              <a:t> Ermittelt Zeichen mit dem Unicode 33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ord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("b") </a:t>
            </a:r>
            <a:r>
              <a:rPr lang="de-DE" dirty="0">
                <a:sym typeface="Wingdings" panose="05000000000000000000" pitchFamily="2" charset="2"/>
              </a:rPr>
              <a:t> Ermittelt den Unicode des Zeichens "b"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de-DE" dirty="0">
                <a:sym typeface="Wingdings" panose="05000000000000000000" pitchFamily="2" charset="2"/>
              </a:rPr>
              <a:t>    Beispiel:     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print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chr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128578)) 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 </a:t>
            </a:r>
            <a:r>
              <a:rPr lang="de-DE" b="0" i="0" dirty="0">
                <a:solidFill>
                  <a:srgbClr val="005588"/>
                </a:solidFill>
                <a:effectLst/>
                <a:latin typeface="Source Code Pro" panose="020B0509030403020204" pitchFamily="49" charset="0"/>
                <a:sym typeface="Wingdings" panose="05000000000000000000" pitchFamily="2" charset="2"/>
              </a:rPr>
              <a:t>🙂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24742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0D5CC18D-8992-4497-A475-B61E4F5F2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4509120"/>
            <a:ext cx="3491880" cy="17809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198F4DD-0571-E24E-A3B9-F525F6526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560840" cy="1143000"/>
          </a:xfrm>
        </p:spPr>
        <p:txBody>
          <a:bodyPr>
            <a:noAutofit/>
          </a:bodyPr>
          <a:lstStyle/>
          <a:p>
            <a:r>
              <a:rPr lang="de-DE" sz="3200" b="1"/>
              <a:t>Wenn-Verzweigung: </a:t>
            </a:r>
            <a:r>
              <a:rPr lang="de-DE" sz="3200" b="1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 sz="3200" b="1">
                <a:latin typeface="Courier New" panose="02070309020205020404" pitchFamily="49" charset="0"/>
                <a:cs typeface="Courier New" panose="02070309020205020404" pitchFamily="49" charset="0"/>
              </a:rPr>
              <a:t>...else..elif</a:t>
            </a:r>
            <a:endParaRPr lang="de-DE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18BEA7-7E13-774E-B47F-8E5C6405C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 lnSpcReduction="20000"/>
          </a:bodyPr>
          <a:lstStyle/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 dirty="0"/>
              <a:t> Verzweigung benötigt einen booleschen Ausdruck, wenn dieser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de-DE" dirty="0"/>
              <a:t> ergibt, wird der folgende Block ausgeführt</a:t>
            </a:r>
          </a:p>
          <a:p>
            <a:r>
              <a:rPr lang="de-DE" dirty="0"/>
              <a:t>Kann mit beliebig vielen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de-DE" dirty="0"/>
              <a:t> (</a:t>
            </a:r>
            <a:r>
              <a:rPr lang="de-DE" dirty="0" err="1"/>
              <a:t>else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) oder einem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e-DE" dirty="0"/>
              <a:t> (oder beidem) kombiniert werden</a:t>
            </a:r>
          </a:p>
          <a:p>
            <a:r>
              <a:rPr lang="de-DE" dirty="0"/>
              <a:t>Immer wenn ein weiteres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 dirty="0"/>
              <a:t> in einem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e-DE" dirty="0"/>
              <a:t> Zweig benötigt wird, ist es ein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de-DE" dirty="0"/>
              <a:t> !</a:t>
            </a:r>
          </a:p>
          <a:p>
            <a:pPr marL="400050" lvl="1" indent="0">
              <a:buNone/>
            </a:pPr>
            <a:br>
              <a:rPr lang="de-DE" sz="2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2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2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 sz="2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(x&lt;0):</a:t>
            </a:r>
          </a:p>
          <a:p>
            <a:pPr marL="400050" lvl="1" indent="0">
              <a:buNone/>
            </a:pPr>
            <a:r>
              <a:rPr lang="de-DE" sz="2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22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('x ist kleiner 0')</a:t>
            </a:r>
          </a:p>
          <a:p>
            <a:pPr marL="400050" lvl="1" indent="0">
              <a:buNone/>
            </a:pPr>
            <a:r>
              <a:rPr lang="de-DE" sz="22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de-DE" sz="2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(x&gt;200):</a:t>
            </a:r>
          </a:p>
          <a:p>
            <a:pPr marL="400050" lvl="1" indent="0">
              <a:buNone/>
            </a:pPr>
            <a:r>
              <a:rPr lang="de-DE" sz="2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22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("x ist größer 200")</a:t>
            </a:r>
          </a:p>
          <a:p>
            <a:pPr marL="400050" lvl="1" indent="0">
              <a:buNone/>
            </a:pPr>
            <a:r>
              <a:rPr lang="de-DE" sz="22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e-DE" sz="2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400050" lvl="1" indent="0">
              <a:buNone/>
            </a:pPr>
            <a:r>
              <a:rPr lang="de-DE" sz="2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22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2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("x liegt zwischen 0 und 200") </a:t>
            </a:r>
          </a:p>
        </p:txBody>
      </p:sp>
    </p:spTree>
    <p:extLst>
      <p:ext uri="{BB962C8B-B14F-4D97-AF65-F5344CB8AC3E}">
        <p14:creationId xmlns:p14="http://schemas.microsoft.com/office/powerpoint/2010/main" val="3407465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Vergleichsoperatoren für </a:t>
            </a:r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A0E2B19-743A-4C5D-B9ED-D8319A5C6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6832"/>
            <a:ext cx="9144000" cy="374109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8815D579-A8DD-6B15-C886-D47B18BE6ADB}"/>
              </a:ext>
            </a:extLst>
          </p:cNvPr>
          <p:cNvSpPr txBox="1"/>
          <p:nvPr/>
        </p:nvSpPr>
        <p:spPr>
          <a:xfrm>
            <a:off x="0" y="5833952"/>
            <a:ext cx="9224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Zusätzlich können sie Vergleichsoperationen noch mit 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de-DE" dirty="0"/>
              <a:t>,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de-DE" dirty="0"/>
              <a:t> und 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de-DE" dirty="0"/>
              <a:t> miteinander kombinieren:</a:t>
            </a:r>
          </a:p>
          <a:p>
            <a:pPr algn="ctr"/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a&gt;3 and not b&lt;5 and (c!=22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d==1):</a:t>
            </a:r>
          </a:p>
        </p:txBody>
      </p:sp>
    </p:spTree>
    <p:extLst>
      <p:ext uri="{BB962C8B-B14F-4D97-AF65-F5344CB8AC3E}">
        <p14:creationId xmlns:p14="http://schemas.microsoft.com/office/powerpoint/2010/main" val="744487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0516CE-487C-5F9A-7832-EF4D957A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sz="4900" b="1">
                <a:latin typeface="Courier New" panose="02070309020205020404" pitchFamily="49" charset="0"/>
                <a:cs typeface="Courier New" panose="02070309020205020404" pitchFamily="49" charset="0"/>
              </a:rPr>
              <a:t>match…case </a:t>
            </a:r>
            <a:br>
              <a:rPr lang="de-DE" sz="4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/>
              <a:t>(Mehrfache Verzweigung)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DF59C4-C24A-4566-F0FC-D4FF96C91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052936"/>
          </a:xfrm>
        </p:spPr>
        <p:txBody>
          <a:bodyPr>
            <a:normAutofit fontScale="85000" lnSpcReduction="20000"/>
          </a:bodyPr>
          <a:lstStyle/>
          <a:p>
            <a:r>
              <a:rPr lang="de-DE"/>
              <a:t>In vielen Programmiersprachen gibt es auch mehrfache Verzweigungen, diese werden oft mit dem switch/case-Befehl (C/C#/Java) realisiert.</a:t>
            </a:r>
          </a:p>
          <a:p>
            <a:r>
              <a:rPr lang="de-DE"/>
              <a:t>In Python wurde das bislang mit </a:t>
            </a:r>
            <a:r>
              <a:rPr lang="de-DE" sz="3000" b="1">
                <a:latin typeface="Courier New" panose="02070309020205020404" pitchFamily="49" charset="0"/>
                <a:cs typeface="Courier New" panose="02070309020205020404" pitchFamily="49" charset="0"/>
              </a:rPr>
              <a:t>if…elif </a:t>
            </a:r>
            <a:r>
              <a:rPr lang="de-DE"/>
              <a:t>realisiert, seit Python 3.10 gibt es die match…case Mehrfachverzweigung.</a:t>
            </a:r>
          </a:p>
          <a:p>
            <a:r>
              <a:rPr lang="de-DE"/>
              <a:t>Beachten Sie, das bei </a:t>
            </a:r>
            <a:r>
              <a:rPr lang="de-DE" sz="2800" b="1">
                <a:latin typeface="Courier New" panose="02070309020205020404" pitchFamily="49" charset="0"/>
                <a:cs typeface="Courier New" panose="02070309020205020404" pitchFamily="49" charset="0"/>
              </a:rPr>
              <a:t>match…case </a:t>
            </a:r>
            <a:r>
              <a:rPr lang="de-DE"/>
              <a:t>keine Vergleichsoperatoren wie </a:t>
            </a:r>
            <a:r>
              <a:rPr lang="de-DE" b="1"/>
              <a:t>&gt;=</a:t>
            </a:r>
            <a:r>
              <a:rPr lang="de-DE"/>
              <a:t> oder </a:t>
            </a:r>
            <a:r>
              <a:rPr lang="de-DE" b="1"/>
              <a:t>&lt;</a:t>
            </a:r>
            <a:r>
              <a:rPr lang="de-DE"/>
              <a:t> nutzbar sind!</a:t>
            </a:r>
          </a:p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11693B1-8C7B-5BDE-247E-34A47E145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4581128"/>
            <a:ext cx="4968553" cy="169629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53245D50-7AFF-E30C-DDBF-BA2E44352B37}"/>
              </a:ext>
            </a:extLst>
          </p:cNvPr>
          <p:cNvSpPr txBox="1"/>
          <p:nvPr/>
        </p:nvSpPr>
        <p:spPr>
          <a:xfrm>
            <a:off x="5036046" y="4635645"/>
            <a:ext cx="2869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Mehrfachauswahl als Struktogramm: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84397FC3-26FC-75E5-307C-FD1E42E3C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752" y="4929804"/>
            <a:ext cx="5269744" cy="184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489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79A4E-40FD-7949-9B46-0AF8603F1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de-DE" dirty="0"/>
              <a:t>Schleifen Typ I: </a:t>
            </a:r>
            <a:br>
              <a:rPr lang="de-DE" dirty="0"/>
            </a:br>
            <a:r>
              <a:rPr lang="de-DE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DE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… in </a:t>
            </a:r>
            <a:r>
              <a:rPr lang="de-DE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de-DE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(…) </a:t>
            </a:r>
            <a:r>
              <a:rPr lang="de-DE" dirty="0"/>
              <a:t>(Zählschleife)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2CCA8C-DD43-4A47-ADEA-96A787F9D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27" y="1824434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de-DE" sz="2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DE" sz="2400" dirty="0"/>
              <a:t> – Schleife: Kopfgesteuert, wird mit </a:t>
            </a:r>
            <a:r>
              <a:rPr lang="de-DE" sz="2400"/>
              <a:t>einer vorgebenen </a:t>
            </a:r>
            <a:r>
              <a:rPr lang="de-DE" sz="2400" dirty="0"/>
              <a:t>Anzahl an Durchläufen gestartet</a:t>
            </a:r>
          </a:p>
          <a:p>
            <a:r>
              <a:rPr lang="de-DE" sz="2400" dirty="0"/>
              <a:t>Syntax:</a:t>
            </a:r>
            <a:br>
              <a:rPr lang="de-DE" sz="2400" dirty="0"/>
            </a:br>
            <a:r>
              <a:rPr lang="de-DE" sz="2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DE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 in </a:t>
            </a:r>
            <a:r>
              <a:rPr lang="de-DE" sz="2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de-DE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(5,20):</a:t>
            </a:r>
            <a:br>
              <a:rPr lang="de-DE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2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(i)</a:t>
            </a:r>
            <a:br>
              <a:rPr lang="de-DE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durchläuft </a:t>
            </a:r>
            <a:r>
              <a:rPr lang="de-DE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die Schleife 15 mal</a:t>
            </a:r>
            <a:br>
              <a:rPr lang="de-DE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mit </a:t>
            </a:r>
            <a:r>
              <a:rPr lang="de-DE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</a:t>
            </a:r>
            <a:r>
              <a:rPr lang="de-DE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von 5…19</a:t>
            </a:r>
            <a:endParaRPr lang="de-DE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2400" dirty="0"/>
              <a:t>Mit 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de-DE" sz="2400" dirty="0"/>
              <a:t> kann die Schleife vorzeitig </a:t>
            </a:r>
            <a:r>
              <a:rPr lang="de-DE" sz="2400"/>
              <a:t>beendet werden</a:t>
            </a:r>
          </a:p>
          <a:p>
            <a:r>
              <a:rPr lang="de-DE" sz="2400"/>
              <a:t>Mit </a:t>
            </a:r>
            <a:r>
              <a:rPr lang="de-DE" sz="2400" b="1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de-DE" sz="2400"/>
              <a:t> wird der aktuelle Schleifendurchlauf übersprungen</a:t>
            </a:r>
            <a:endParaRPr lang="de-DE" sz="2400" dirty="0"/>
          </a:p>
          <a:p>
            <a:r>
              <a:rPr lang="de-DE" sz="2400" dirty="0"/>
              <a:t>Varianten der </a:t>
            </a:r>
            <a:r>
              <a:rPr lang="de-DE" sz="2400" dirty="0" err="1"/>
              <a:t>for</a:t>
            </a:r>
            <a:r>
              <a:rPr lang="de-DE" sz="2400" dirty="0"/>
              <a:t>-Schleife (ausprobieren)</a:t>
            </a:r>
            <a:br>
              <a:rPr lang="de-DE" sz="2400" dirty="0"/>
            </a:br>
            <a:r>
              <a:rPr lang="de-DE" sz="2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DE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 in </a:t>
            </a:r>
            <a:r>
              <a:rPr lang="de-DE" sz="2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de-DE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(10): </a:t>
            </a:r>
            <a:r>
              <a:rPr lang="de-DE" sz="2400" dirty="0">
                <a:sym typeface="Wingdings" panose="05000000000000000000" pitchFamily="2" charset="2"/>
              </a:rPr>
              <a:t> 10 Durchläufe (i=0...9)</a:t>
            </a:r>
            <a:br>
              <a:rPr lang="de-DE" sz="2400" dirty="0"/>
            </a:br>
            <a:r>
              <a:rPr lang="de-DE" sz="2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DE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 in </a:t>
            </a:r>
            <a:r>
              <a:rPr lang="de-DE" sz="2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de-DE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(0, 100, 10):</a:t>
            </a:r>
            <a:r>
              <a:rPr lang="de-DE" sz="2400" dirty="0"/>
              <a:t> </a:t>
            </a:r>
            <a:br>
              <a:rPr lang="de-DE" sz="2400" dirty="0"/>
            </a:br>
            <a:r>
              <a:rPr lang="de-DE" sz="2400" dirty="0">
                <a:sym typeface="Wingdings" panose="05000000000000000000" pitchFamily="2" charset="2"/>
              </a:rPr>
              <a:t></a:t>
            </a:r>
            <a:r>
              <a:rPr lang="de-DE" sz="2400" dirty="0"/>
              <a:t> 10 Durchläufe </a:t>
            </a:r>
            <a:r>
              <a:rPr lang="de-DE" sz="2400"/>
              <a:t>mit  i = 0</a:t>
            </a:r>
            <a:r>
              <a:rPr lang="de-DE" sz="2400" dirty="0"/>
              <a:t>, 10</a:t>
            </a:r>
            <a:r>
              <a:rPr lang="de-DE" sz="2400"/>
              <a:t>, 20, … 90</a:t>
            </a:r>
          </a:p>
          <a:p>
            <a:r>
              <a:rPr lang="de-DE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i in range(10, -1, -1):</a:t>
            </a:r>
            <a:br>
              <a:rPr lang="de-DE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4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Zählt von 10, 9, 8 … bis 0</a:t>
            </a:r>
            <a:endParaRPr lang="de-DE" sz="2400" dirty="0"/>
          </a:p>
          <a:p>
            <a:endParaRPr lang="de-DE" sz="24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DF6E00A-1EF9-46D3-93C3-771AE4DD80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00" t="35425" r="16000" b="9830"/>
          <a:stretch/>
        </p:blipFill>
        <p:spPr>
          <a:xfrm>
            <a:off x="7174172" y="2060848"/>
            <a:ext cx="1944216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13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98F4DD-0571-E24E-A3B9-F525F6526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Schleifen Typ II: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e-DE" dirty="0"/>
              <a:t>...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18BEA7-7E13-774E-B47F-8E5C6405C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853136"/>
          </a:xfrm>
        </p:spPr>
        <p:txBody>
          <a:bodyPr>
            <a:normAutofit fontScale="92500" lnSpcReduction="20000"/>
          </a:bodyPr>
          <a:lstStyle/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>
                <a:cs typeface="Courier New" panose="02070309020205020404" pitchFamily="49" charset="0"/>
              </a:rPr>
              <a:t>- Schleife</a:t>
            </a:r>
            <a:r>
              <a:rPr lang="de-DE" dirty="0"/>
              <a:t>: Kopfgesteuert, bei jedem Durchlauf wird geprüft, ob die Schleife nochmals durchlaufen wird</a:t>
            </a:r>
          </a:p>
          <a:p>
            <a:r>
              <a:rPr lang="de-DE" dirty="0"/>
              <a:t>Syntax:</a:t>
            </a:r>
            <a:br>
              <a:rPr lang="de-DE" dirty="0"/>
            </a:br>
            <a:r>
              <a:rPr lang="de-DE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i=0</a:t>
            </a:r>
            <a:br>
              <a:rPr lang="de-DE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e-DE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(i&lt;10):</a:t>
            </a:r>
            <a:br>
              <a:rPr lang="de-DE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i+=1</a:t>
            </a:r>
            <a:br>
              <a:rPr lang="de-DE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(i)</a:t>
            </a:r>
          </a:p>
          <a:p>
            <a:r>
              <a:rPr lang="de-DE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e-DE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True: </a:t>
            </a:r>
            <a:r>
              <a:rPr lang="de-DE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# Endlosschleife!</a:t>
            </a:r>
            <a:br>
              <a:rPr lang="de-DE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("Immer wieder..")</a:t>
            </a:r>
          </a:p>
          <a:p>
            <a:r>
              <a:rPr lang="de-DE" dirty="0"/>
              <a:t>Mit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de-DE" dirty="0"/>
              <a:t> kann jede Schleife beendet werden!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7816BCA-FE92-6ADF-10DA-A0D4052A5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2420888"/>
            <a:ext cx="1483447" cy="232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984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98F4DD-0571-E24E-A3B9-F525F6526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Sonderfall </a:t>
            </a:r>
            <a:r>
              <a:rPr lang="de-DE" b="1" dirty="0"/>
              <a:t>fußgesteuerte</a:t>
            </a:r>
            <a:r>
              <a:rPr lang="de-DE" dirty="0"/>
              <a:t> Schleife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B0016B6-C7BE-4952-9A50-FD8B4679A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764903"/>
          </a:xfrm>
        </p:spPr>
        <p:txBody>
          <a:bodyPr>
            <a:normAutofit fontScale="70000" lnSpcReduction="20000"/>
          </a:bodyPr>
          <a:lstStyle/>
          <a:p>
            <a:r>
              <a:rPr lang="de-DE" dirty="0"/>
              <a:t>Fußgesteuerte Schleifen entscheiden erst nach Beginn des ersten Durchlaufs, ob sie wiederholt ausgeführt werden (nützlich z.B. in einem Menü).</a:t>
            </a:r>
          </a:p>
          <a:p>
            <a:r>
              <a:rPr lang="de-DE" dirty="0"/>
              <a:t>In anderen Programmiersprachen werden diese mit einem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repeat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…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until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(e=="9") </a:t>
            </a:r>
            <a:r>
              <a:rPr lang="de-DE" dirty="0"/>
              <a:t>oder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do …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(e!="9") </a:t>
            </a:r>
            <a:r>
              <a:rPr lang="de-DE" dirty="0"/>
              <a:t>o.ä. realisiert.</a:t>
            </a:r>
          </a:p>
          <a:p>
            <a:r>
              <a:rPr lang="de-DE" dirty="0"/>
              <a:t>In Python gibt es so einen Befehl nicht, stattdessen setzen wir die fußgesteuerte Schleife mit einer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</a:t>
            </a:r>
            <a:r>
              <a:rPr lang="de-DE" dirty="0"/>
              <a:t>–Endlosschleife mit einer Abbruchbedingung am Ende um: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6E9D2-A5DB-44FC-BE8C-4C46B95E4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4365103"/>
            <a:ext cx="5856597" cy="230941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E74CBED-0DCE-81C3-63C6-6BC0C264F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192" y="3931082"/>
            <a:ext cx="2682664" cy="151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057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40D601-CBEA-4DDE-988A-81E96A9B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40" y="125032"/>
            <a:ext cx="7283152" cy="1143000"/>
          </a:xfrm>
        </p:spPr>
        <p:txBody>
          <a:bodyPr>
            <a:noAutofit/>
          </a:bodyPr>
          <a:lstStyle/>
          <a:p>
            <a:r>
              <a:rPr lang="de-DE" sz="3600"/>
              <a:t>Interessante Funktionen </a:t>
            </a:r>
            <a:br>
              <a:rPr lang="de-DE" sz="3600"/>
            </a:br>
            <a:r>
              <a:rPr lang="de-DE" sz="3600"/>
              <a:t>aus dem Modul </a:t>
            </a:r>
            <a:r>
              <a:rPr lang="de-DE" sz="3600" b="1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B8AAC0-F115-4D83-B307-C9903F5DC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295347"/>
            <a:ext cx="8568952" cy="557535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de-DE" sz="2800" b="1" dirty="0">
                <a:solidFill>
                  <a:srgbClr val="0070C0"/>
                </a:solidFill>
              </a:rPr>
              <a:t>Um die Funktionen nutzen zu können, muss man im Programm das Modul mit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800" b="1" dirty="0">
                <a:solidFill>
                  <a:srgbClr val="0070C0"/>
                </a:solidFill>
              </a:rPr>
              <a:t>importieren!</a:t>
            </a:r>
          </a:p>
          <a:p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(n) </a:t>
            </a:r>
            <a:r>
              <a:rPr lang="de-DE" sz="2800" dirty="0">
                <a:sym typeface="Wingdings" panose="05000000000000000000" pitchFamily="2" charset="2"/>
              </a:rPr>
              <a:t> Quadratwurzel von n</a:t>
            </a:r>
          </a:p>
          <a:p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math.ceil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(f) bzw.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math.floor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(f) </a:t>
            </a:r>
            <a:b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</a:br>
            <a:r>
              <a:rPr lang="de-DE" sz="2800" dirty="0">
                <a:sym typeface="Wingdings" panose="05000000000000000000" pitchFamily="2" charset="2"/>
              </a:rPr>
              <a:t> Rundet eine Fließkommazahl auf bzw. ab</a:t>
            </a:r>
          </a:p>
          <a:p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math.pi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sz="2800" dirty="0">
                <a:sym typeface="Wingdings" panose="05000000000000000000" pitchFamily="2" charset="2"/>
              </a:rPr>
              <a:t> Die Kreiszahl </a:t>
            </a:r>
            <a:r>
              <a:rPr lang="el-GR" sz="2800" dirty="0">
                <a:sym typeface="Wingdings" panose="05000000000000000000" pitchFamily="2" charset="2"/>
              </a:rPr>
              <a:t>π</a:t>
            </a:r>
            <a:endParaRPr lang="de-DE" sz="2800" dirty="0">
              <a:sym typeface="Wingdings" panose="05000000000000000000" pitchFamily="2" charset="2"/>
            </a:endParaRPr>
          </a:p>
          <a:p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math.sin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(x),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math.cos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(x),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math.tan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(x) </a:t>
            </a:r>
            <a:b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</a:br>
            <a:r>
              <a:rPr lang="de-DE" sz="2800" dirty="0">
                <a:sym typeface="Wingdings" panose="05000000000000000000" pitchFamily="2" charset="2"/>
              </a:rPr>
              <a:t> Trigonometrische Funktionen für </a:t>
            </a:r>
            <a:r>
              <a:rPr lang="de-DE" sz="2800" dirty="0" err="1">
                <a:sym typeface="Wingdings" panose="05000000000000000000" pitchFamily="2" charset="2"/>
              </a:rPr>
              <a:t>Radian</a:t>
            </a:r>
            <a:r>
              <a:rPr lang="de-DE" sz="2800" dirty="0">
                <a:sym typeface="Wingdings" panose="05000000000000000000" pitchFamily="2" charset="2"/>
              </a:rPr>
              <a:t>-Werte, ebenfalls vorhanden sind die Umkehrfunktionen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math.asin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(x),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math.acos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(x),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math.atan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(x)</a:t>
            </a:r>
            <a:endParaRPr lang="de-DE" sz="2800" dirty="0">
              <a:sym typeface="Wingdings" panose="05000000000000000000" pitchFamily="2" charset="2"/>
            </a:endParaRPr>
          </a:p>
          <a:p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math.radians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(x)  </a:t>
            </a:r>
            <a:r>
              <a:rPr lang="de-DE" sz="2800" dirty="0">
                <a:sym typeface="Wingdings" panose="05000000000000000000" pitchFamily="2" charset="2"/>
              </a:rPr>
              <a:t>Konvertiert von Grad in </a:t>
            </a:r>
            <a:r>
              <a:rPr lang="de-DE" sz="2800" dirty="0" err="1">
                <a:sym typeface="Wingdings" panose="05000000000000000000" pitchFamily="2" charset="2"/>
              </a:rPr>
              <a:t>Radian</a:t>
            </a:r>
            <a:endParaRPr lang="de-DE" sz="2800" dirty="0">
              <a:sym typeface="Wingdings" panose="05000000000000000000" pitchFamily="2" charset="2"/>
            </a:endParaRPr>
          </a:p>
          <a:p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math.log(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x,b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  </a:t>
            </a:r>
            <a:r>
              <a:rPr lang="de-DE" sz="2800" dirty="0">
                <a:sym typeface="Wingdings" panose="05000000000000000000" pitchFamily="2" charset="2"/>
              </a:rPr>
              <a:t>Liefert den Logarithmus von </a:t>
            </a:r>
            <a:r>
              <a:rPr lang="de-DE" sz="2800" b="1" dirty="0">
                <a:sym typeface="Wingdings" panose="05000000000000000000" pitchFamily="2" charset="2"/>
              </a:rPr>
              <a:t>x</a:t>
            </a:r>
            <a:r>
              <a:rPr lang="de-DE" sz="2800" dirty="0">
                <a:sym typeface="Wingdings" panose="05000000000000000000" pitchFamily="2" charset="2"/>
              </a:rPr>
              <a:t> zur Basis </a:t>
            </a:r>
            <a:r>
              <a:rPr lang="de-DE" sz="2800" b="1" dirty="0">
                <a:sym typeface="Wingdings" panose="05000000000000000000" pitchFamily="2" charset="2"/>
              </a:rPr>
              <a:t>b</a:t>
            </a:r>
          </a:p>
          <a:p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math.gcd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a,b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  </a:t>
            </a:r>
            <a:r>
              <a:rPr lang="de-DE" sz="2800" dirty="0">
                <a:sym typeface="Wingdings" panose="05000000000000000000" pitchFamily="2" charset="2"/>
              </a:rPr>
              <a:t>Berechnet den größten gemeinsamen Teiler von a und b</a:t>
            </a:r>
          </a:p>
          <a:p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math.factorial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(n) </a:t>
            </a:r>
            <a:r>
              <a:rPr lang="de-DE" sz="2800" dirty="0">
                <a:sym typeface="Wingdings" panose="05000000000000000000" pitchFamily="2" charset="2"/>
              </a:rPr>
              <a:t> Fakultät von n. Die Fakultät ist die Anzahl der Vertauschungsmöglichkeiten (Permutationen) von n Objekten</a:t>
            </a:r>
          </a:p>
        </p:txBody>
      </p:sp>
    </p:spTree>
    <p:extLst>
      <p:ext uri="{BB962C8B-B14F-4D97-AF65-F5344CB8AC3E}">
        <p14:creationId xmlns:p14="http://schemas.microsoft.com/office/powerpoint/2010/main" val="233485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438833-EC11-4803-BAFE-451040B32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3600" dirty="0"/>
              <a:t>Listen I (Grundlagen)</a:t>
            </a:r>
            <a:br>
              <a:rPr lang="de-DE" sz="3600" dirty="0"/>
            </a:br>
            <a:r>
              <a:rPr lang="de-DE" sz="3600" dirty="0"/>
              <a:t>in anderen Sprachen auch „Arrays“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02C7AF-B6D7-4DB3-B6EF-C3CEFD35B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600200"/>
            <a:ext cx="9036496" cy="5213176"/>
          </a:xfrm>
        </p:spPr>
        <p:txBody>
          <a:bodyPr>
            <a:normAutofit fontScale="77500" lnSpcReduction="20000"/>
          </a:bodyPr>
          <a:lstStyle/>
          <a:p>
            <a:r>
              <a:rPr lang="de-DE" dirty="0"/>
              <a:t>Enthält beliebig viele (!) Elemente mit unterschiedlichen Datentypen (auch Listen können in Listen gespeichert werden!)</a:t>
            </a:r>
          </a:p>
          <a:p>
            <a:pPr marL="0" indent="0">
              <a:buNone/>
            </a:pPr>
            <a:r>
              <a:rPr lang="de-DE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datenliste=["</a:t>
            </a:r>
            <a:r>
              <a:rPr lang="de-DE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Hans","Watz</a:t>
            </a:r>
            <a:r>
              <a:rPr lang="de-DE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27,False,"Lisa","Lau", 98, True] </a:t>
            </a:r>
            <a:r>
              <a:rPr lang="de-DE" sz="19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</a:t>
            </a:r>
            <a:r>
              <a:rPr lang="de-DE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900" dirty="0">
                <a:cs typeface="Courier New" panose="02070309020205020404" pitchFamily="49" charset="0"/>
              </a:rPr>
              <a:t>Liste erzeugen</a:t>
            </a:r>
            <a:b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(datenliste)</a:t>
            </a:r>
          </a:p>
          <a:p>
            <a:r>
              <a:rPr lang="de-DE" dirty="0"/>
              <a:t>Zugriff / Ändern v. Einzelelementen über den Index (alle Listenelemente </a:t>
            </a:r>
            <a:r>
              <a:rPr lang="de-DE" b="1" dirty="0">
                <a:solidFill>
                  <a:srgbClr val="FF0000"/>
                </a:solidFill>
              </a:rPr>
              <a:t>sind von [0] an </a:t>
            </a:r>
            <a:r>
              <a:rPr lang="de-DE" dirty="0"/>
              <a:t>durchnummeriert):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datenliste[4]="Elisabeth" 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200" dirty="0">
                <a:cs typeface="Courier New" panose="02070309020205020404" pitchFamily="49" charset="0"/>
              </a:rPr>
              <a:t>Ändert das fünfte Element</a:t>
            </a:r>
            <a:b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(datenliste[5]) 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200" dirty="0">
                <a:cs typeface="Courier New" panose="02070309020205020404" pitchFamily="49" charset="0"/>
              </a:rPr>
              <a:t>Gibt das sechste Element aus</a:t>
            </a:r>
            <a:b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(datenliste[0:3]) 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de-DE" sz="2200" dirty="0">
                <a:cs typeface="Courier New" panose="02070309020205020404" pitchFamily="49" charset="0"/>
                <a:sym typeface="Wingdings" panose="05000000000000000000" pitchFamily="2" charset="2"/>
              </a:rPr>
              <a:t>Gibt das erste bis dritte Element aus (also Element 0 bis 2)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(datenliste[-1]) 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de-DE" sz="2200" dirty="0">
                <a:cs typeface="Courier New" panose="02070309020205020404" pitchFamily="49" charset="0"/>
                <a:sym typeface="Wingdings" panose="05000000000000000000" pitchFamily="2" charset="2"/>
              </a:rPr>
              <a:t>Gibt das letzte Element der Liste aus</a:t>
            </a:r>
            <a:endParaRPr lang="de-DE" sz="2200" dirty="0">
              <a:cs typeface="Courier New" panose="02070309020205020404" pitchFamily="49" charset="0"/>
            </a:endParaRPr>
          </a:p>
          <a:p>
            <a:r>
              <a:rPr lang="de-DE" dirty="0"/>
              <a:t>Listenelement(e) anfügen mit .</a:t>
            </a:r>
            <a:r>
              <a:rPr lang="de-DE" dirty="0" err="1"/>
              <a:t>append</a:t>
            </a:r>
            <a:r>
              <a:rPr lang="de-DE" dirty="0"/>
              <a:t>() und .</a:t>
            </a:r>
            <a:r>
              <a:rPr lang="de-DE" dirty="0" err="1"/>
              <a:t>extend</a:t>
            </a:r>
            <a:r>
              <a:rPr lang="de-DE" dirty="0"/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datenliste.append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("Albert")</a:t>
            </a:r>
            <a:b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datenliste.append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("Einstein")</a:t>
            </a:r>
            <a:b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datenliste.append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(78)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datenliste.append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de-DE" sz="2200" dirty="0">
                <a:solidFill>
                  <a:srgbClr val="FF0000"/>
                </a:solidFill>
                <a:cs typeface="Courier New" panose="02070309020205020404" pitchFamily="49" charset="0"/>
              </a:rPr>
              <a:t>oder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datenliste = datenliste + ["Albert","Einstein",78,True]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de-DE" sz="2200" dirty="0">
                <a:solidFill>
                  <a:srgbClr val="FF0000"/>
                </a:solidFill>
                <a:cs typeface="Courier New" panose="02070309020205020404" pitchFamily="49" charset="0"/>
              </a:rPr>
              <a:t>oder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de-DE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datenliste.</a:t>
            </a:r>
            <a:r>
              <a:rPr lang="de-DE" sz="21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extend</a:t>
            </a:r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(["Albert","Einstein",78,True])	</a:t>
            </a:r>
          </a:p>
        </p:txBody>
      </p:sp>
    </p:spTree>
    <p:extLst>
      <p:ext uri="{BB962C8B-B14F-4D97-AF65-F5344CB8AC3E}">
        <p14:creationId xmlns:p14="http://schemas.microsoft.com/office/powerpoint/2010/main" val="2322242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438833-EC11-4803-BAFE-451040B32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3600"/>
              <a:t>Listen II (Nummerierung / </a:t>
            </a:r>
            <a:br>
              <a:rPr lang="de-DE" sz="3600"/>
            </a:br>
            <a:r>
              <a:rPr lang="de-DE" sz="3600"/>
              <a:t>Index </a:t>
            </a:r>
            <a:r>
              <a:rPr lang="de-DE" sz="3600" dirty="0"/>
              <a:t>der Listenelemente)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02C7AF-B6D7-4DB3-B6EF-C3CEFD35B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3917032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</a:pP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datenliste[0] </a:t>
            </a:r>
            <a:r>
              <a:rPr lang="de-DE" sz="2200" dirty="0">
                <a:cs typeface="Courier New" panose="02070309020205020404" pitchFamily="49" charset="0"/>
                <a:sym typeface="Wingdings" panose="05000000000000000000" pitchFamily="2" charset="2"/>
              </a:rPr>
              <a:t> Erstes Element der Liste</a:t>
            </a:r>
          </a:p>
          <a:p>
            <a:pPr>
              <a:spcAft>
                <a:spcPts val="600"/>
              </a:spcAft>
            </a:pP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datenliste[2] </a:t>
            </a:r>
            <a:r>
              <a:rPr lang="de-DE" sz="2200" dirty="0">
                <a:cs typeface="Courier New" panose="02070309020205020404" pitchFamily="49" charset="0"/>
                <a:sym typeface="Wingdings" panose="05000000000000000000" pitchFamily="2" charset="2"/>
              </a:rPr>
              <a:t> Drittes Element der Liste</a:t>
            </a:r>
          </a:p>
          <a:p>
            <a:pPr>
              <a:spcAft>
                <a:spcPts val="600"/>
              </a:spcAft>
            </a:pP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datenliste[-1] </a:t>
            </a:r>
            <a:r>
              <a:rPr lang="de-DE" sz="2200" dirty="0">
                <a:cs typeface="Courier New" panose="02070309020205020404" pitchFamily="49" charset="0"/>
                <a:sym typeface="Wingdings" panose="05000000000000000000" pitchFamily="2" charset="2"/>
              </a:rPr>
              <a:t> Letztes Element der Liste</a:t>
            </a:r>
          </a:p>
          <a:p>
            <a:pPr>
              <a:spcAft>
                <a:spcPts val="600"/>
              </a:spcAft>
            </a:pPr>
            <a:r>
              <a:rPr kumimoji="0" lang="de-DE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  <a:sym typeface="Wingdings" panose="05000000000000000000" pitchFamily="2" charset="2"/>
              </a:rPr>
              <a:t>datenliste[-3] </a:t>
            </a:r>
            <a:r>
              <a:rPr kumimoji="0" lang="de-DE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ourier New" panose="02070309020205020404" pitchFamily="49" charset="0"/>
                <a:sym typeface="Wingdings" panose="05000000000000000000" pitchFamily="2" charset="2"/>
              </a:rPr>
              <a:t> Drittletztes Element der Liste</a:t>
            </a:r>
          </a:p>
          <a:p>
            <a:pPr>
              <a:spcAft>
                <a:spcPts val="600"/>
              </a:spcAft>
            </a:pP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datenliste[0:2] </a:t>
            </a:r>
            <a:r>
              <a:rPr lang="de-DE" sz="2200" dirty="0">
                <a:cs typeface="Courier New" panose="02070309020205020404" pitchFamily="49" charset="0"/>
                <a:sym typeface="Wingdings" panose="05000000000000000000" pitchFamily="2" charset="2"/>
              </a:rPr>
              <a:t>oder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datenliste[:2] </a:t>
            </a:r>
            <a:r>
              <a:rPr lang="de-DE" sz="2200" dirty="0">
                <a:cs typeface="Courier New" panose="02070309020205020404" pitchFamily="49" charset="0"/>
                <a:sym typeface="Wingdings" panose="05000000000000000000" pitchFamily="2" charset="2"/>
              </a:rPr>
              <a:t> Erste 2 Elemente der Liste</a:t>
            </a:r>
          </a:p>
          <a:p>
            <a:pPr>
              <a:spcAft>
                <a:spcPts val="600"/>
              </a:spcAft>
            </a:pP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datenliste[1:5] </a:t>
            </a:r>
            <a:r>
              <a:rPr lang="de-DE" sz="2200" dirty="0">
                <a:cs typeface="Courier New" panose="02070309020205020404" pitchFamily="49" charset="0"/>
                <a:sym typeface="Wingdings" panose="05000000000000000000" pitchFamily="2" charset="2"/>
              </a:rPr>
              <a:t> Zweites bis fünftes Element (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[4]</a:t>
            </a:r>
            <a:r>
              <a:rPr lang="de-DE" sz="2200" dirty="0">
                <a:cs typeface="Courier New" panose="02070309020205020404" pitchFamily="49" charset="0"/>
                <a:sym typeface="Wingdings" panose="05000000000000000000" pitchFamily="2" charset="2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datenliste[-3:] </a:t>
            </a:r>
            <a:r>
              <a:rPr lang="de-DE" sz="2200" dirty="0">
                <a:cs typeface="Courier New" panose="02070309020205020404" pitchFamily="49" charset="0"/>
                <a:sym typeface="Wingdings" panose="05000000000000000000" pitchFamily="2" charset="2"/>
              </a:rPr>
              <a:t> Letze 3 Elemente der Liste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  <a:sym typeface="Wingdings" panose="05000000000000000000" pitchFamily="2" charset="2"/>
              </a:rPr>
              <a:t>datenliste[1:-2] </a:t>
            </a:r>
            <a:r>
              <a:rPr kumimoji="0" lang="de-DE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ourier New" panose="02070309020205020404" pitchFamily="49" charset="0"/>
                <a:sym typeface="Wingdings" panose="05000000000000000000" pitchFamily="2" charset="2"/>
              </a:rPr>
              <a:t> Zweites bis vorletztes Element der Liste</a:t>
            </a:r>
          </a:p>
          <a:p>
            <a:pPr>
              <a:spcAft>
                <a:spcPts val="600"/>
              </a:spcAft>
              <a:defRPr/>
            </a:pPr>
            <a:r>
              <a:rPr kumimoji="0" lang="de-DE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  <a:sym typeface="Wingdings" panose="05000000000000000000" pitchFamily="2" charset="2"/>
              </a:rPr>
              <a:t>datenliste[:] </a:t>
            </a:r>
            <a:r>
              <a:rPr lang="de-DE" sz="22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  <a:sym typeface="Wingdings" panose="05000000000000000000" pitchFamily="2" charset="2"/>
              </a:rPr>
              <a:t>oder</a:t>
            </a:r>
            <a:r>
              <a:rPr kumimoji="0" lang="de-DE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  <a:sym typeface="Wingdings" panose="05000000000000000000" pitchFamily="2" charset="2"/>
              </a:rPr>
              <a:t> datenliste </a:t>
            </a:r>
            <a:r>
              <a:rPr kumimoji="0" lang="de-DE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ourier New" panose="02070309020205020404" pitchFamily="49" charset="0"/>
                <a:sym typeface="Wingdings" panose="05000000000000000000" pitchFamily="2" charset="2"/>
              </a:rPr>
              <a:t> Die gesamte Liste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02F564A-D83F-7CE9-0F87-A38B29D22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373216"/>
            <a:ext cx="565785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4112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C929A9-9778-43AF-AF1C-E0FF2DCE2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Beispielcode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CA36F4-4078-4F48-BEE4-AB8431615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348" y="1628800"/>
            <a:ext cx="8651304" cy="4954562"/>
          </a:xfrm>
          <a:ln>
            <a:solidFill>
              <a:schemeClr val="bg1">
                <a:lumMod val="65000"/>
              </a:schemeClr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autos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=["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Opel","Astra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E",32000,False]</a:t>
            </a:r>
          </a:p>
          <a:p>
            <a:pPr marL="0" indent="0">
              <a:buNone/>
            </a:pP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autos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de-DE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autos.append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("VW")  # Einzelne Elemente mit .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anhängen</a:t>
            </a:r>
          </a:p>
          <a:p>
            <a:pPr marL="0" indent="0">
              <a:buNone/>
            </a:pP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autos.append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("ID.3")</a:t>
            </a:r>
          </a:p>
          <a:p>
            <a:pPr marL="0" indent="0">
              <a:buNone/>
            </a:pP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autos.append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(35000)</a:t>
            </a:r>
          </a:p>
          <a:p>
            <a:pPr marL="0" indent="0">
              <a:buNone/>
            </a:pP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autos.append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</a:t>
            </a:r>
          </a:p>
          <a:p>
            <a:pPr marL="0" indent="0">
              <a:buNone/>
            </a:pP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autos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de-DE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autos.extend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(["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Tesla","Model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3", 43000, True]) # Mehrere anhängen</a:t>
            </a:r>
          </a:p>
          <a:p>
            <a:pPr marL="0" indent="0">
              <a:buNone/>
            </a:pP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autos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de-DE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("Anzahl Elemente in der Liste:", 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autos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 # Anzahl der Listenelemente</a:t>
            </a:r>
          </a:p>
          <a:p>
            <a:pPr marL="0" indent="0">
              <a:buNone/>
            </a:pPr>
            <a:endParaRPr lang="de-DE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 in 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(0, 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autos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)): # Schleife durch alle Elemente</a:t>
            </a:r>
          </a:p>
          <a:p>
            <a:pPr marL="0" indent="0">
              <a:buNone/>
            </a:pP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autos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[i])</a:t>
            </a:r>
            <a:endParaRPr lang="de-DE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375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438833-EC11-4803-BAFE-451040B32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Listen </a:t>
            </a:r>
            <a:r>
              <a:rPr lang="de-DE"/>
              <a:t>III (Listen ändern</a:t>
            </a:r>
            <a:r>
              <a:rPr lang="de-DE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02C7AF-B6D7-4DB3-B6EF-C3CEFD35B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85000" lnSpcReduction="10000"/>
          </a:bodyPr>
          <a:lstStyle/>
          <a:p>
            <a:r>
              <a:rPr lang="de-DE" dirty="0"/>
              <a:t>Anzahl der Listenelemente </a:t>
            </a:r>
          </a:p>
          <a:p>
            <a:pPr marL="0" indent="0">
              <a:buNone/>
            </a:pP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(datenliste</a:t>
            </a:r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 </a:t>
            </a:r>
            <a:r>
              <a:rPr lang="de-DE" sz="2100" dirty="0">
                <a:sym typeface="Wingdings" panose="05000000000000000000" pitchFamily="2" charset="2"/>
              </a:rPr>
              <a:t> </a:t>
            </a:r>
            <a:r>
              <a:rPr lang="de-DE" sz="21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len</a:t>
            </a:r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 </a:t>
            </a:r>
            <a:r>
              <a:rPr lang="de-DE" sz="2100" dirty="0">
                <a:sym typeface="Wingdings" panose="05000000000000000000" pitchFamily="2" charset="2"/>
              </a:rPr>
              <a:t>ermittelt Länge der Liste</a:t>
            </a:r>
            <a:endParaRPr lang="de-DE" sz="2100" dirty="0"/>
          </a:p>
          <a:p>
            <a:r>
              <a:rPr lang="de-DE" dirty="0"/>
              <a:t>Element aus einer Liste Entfernen</a:t>
            </a:r>
          </a:p>
          <a:p>
            <a:pPr marL="0" indent="0">
              <a:buNone/>
            </a:pP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 datenliste[0] 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de-DE" sz="2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Entfernt das 1. Element </a:t>
            </a:r>
            <a:endParaRPr lang="de-DE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dirty="0"/>
              <a:t>Element in Liste einfügen</a:t>
            </a:r>
          </a:p>
          <a:p>
            <a:pPr marL="0" indent="0">
              <a:buNone/>
            </a:pP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datenliste.insert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(0,"Trabant") </a:t>
            </a:r>
            <a:r>
              <a:rPr lang="de-DE" sz="22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Fügt Element an Position 0 ein</a:t>
            </a:r>
          </a:p>
          <a:p>
            <a:r>
              <a:rPr lang="de-DE" dirty="0"/>
              <a:t>Liste kopieren</a:t>
            </a:r>
          </a:p>
          <a:p>
            <a:pPr marL="0" indent="0">
              <a:buNone/>
            </a:pP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datenliste2=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datenliste.copy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de-DE" dirty="0"/>
              <a:t>Listen sortieren</a:t>
            </a:r>
          </a:p>
          <a:p>
            <a:pPr marL="0" indent="0">
              <a:buNone/>
            </a:pP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datenliste.sort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de-DE" sz="2200" dirty="0">
                <a:latin typeface="Calibri" panose="020F0502020204030204" pitchFamily="34" charset="0"/>
                <a:cs typeface="Courier New" panose="02070309020205020404" pitchFamily="49" charset="0"/>
                <a:sym typeface="Wingdings" panose="05000000000000000000" pitchFamily="2" charset="2"/>
              </a:rPr>
              <a:t>sortiert die Liste "</a:t>
            </a:r>
            <a:r>
              <a:rPr lang="de-DE" sz="2200" dirty="0" err="1">
                <a:latin typeface="Calibri" panose="020F0502020204030204" pitchFamily="34" charset="0"/>
                <a:cs typeface="Courier New" panose="02070309020205020404" pitchFamily="49" charset="0"/>
                <a:sym typeface="Wingdings" panose="05000000000000000000" pitchFamily="2" charset="2"/>
              </a:rPr>
              <a:t>inplace</a:t>
            </a:r>
            <a:r>
              <a:rPr lang="de-DE" sz="2200" dirty="0">
                <a:latin typeface="Calibri" panose="020F0502020204030204" pitchFamily="34" charset="0"/>
                <a:cs typeface="Courier New" panose="02070309020205020404" pitchFamily="49" charset="0"/>
                <a:sym typeface="Wingdings" panose="05000000000000000000" pitchFamily="2" charset="2"/>
              </a:rPr>
              <a:t>", ändert sie also!</a:t>
            </a:r>
            <a:b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datenliste.sort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(reverse=True) 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de-DE" sz="2200" dirty="0">
                <a:latin typeface="Calibri" panose="020F0502020204030204" pitchFamily="34" charset="0"/>
                <a:cs typeface="Courier New" panose="02070309020205020404" pitchFamily="49" charset="0"/>
                <a:sym typeface="Wingdings" panose="05000000000000000000" pitchFamily="2" charset="2"/>
              </a:rPr>
              <a:t>sortiert die Liste absteigend </a:t>
            </a:r>
          </a:p>
          <a:p>
            <a:pPr marL="0" indent="0">
              <a:buNone/>
            </a:pP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sorted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(datenliste)) </a:t>
            </a:r>
            <a:b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de-DE" sz="2200" dirty="0">
                <a:latin typeface="Calibri" panose="020F0502020204030204" pitchFamily="34" charset="0"/>
                <a:cs typeface="Courier New" panose="02070309020205020404" pitchFamily="49" charset="0"/>
                <a:sym typeface="Wingdings" panose="05000000000000000000" pitchFamily="2" charset="2"/>
              </a:rPr>
              <a:t>gibt die Liste nur sortiert aus, ohne sie zu verändern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b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de-DE" sz="2200" dirty="0">
              <a:latin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9742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A9E2AF-75CF-4FCE-8CE3-36E152F5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Listen IV (Schleifen)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5C3B0C-7DF2-47AA-AA44-766E4E5B4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141168"/>
          </a:xfrm>
        </p:spPr>
        <p:txBody>
          <a:bodyPr>
            <a:normAutofit/>
          </a:bodyPr>
          <a:lstStyle/>
          <a:p>
            <a:r>
              <a:rPr lang="de-DE" sz="2400" dirty="0"/>
              <a:t>Mit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liste </a:t>
            </a:r>
            <a:r>
              <a:rPr lang="de-DE" sz="2400" dirty="0"/>
              <a:t>durch eine Schleife gehen</a:t>
            </a:r>
          </a:p>
          <a:p>
            <a:pPr marL="400050" lvl="1" indent="0">
              <a:buNone/>
            </a:pPr>
            <a:r>
              <a:rPr lang="de-DE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DE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einzelwert</a:t>
            </a:r>
            <a:r>
              <a:rPr lang="de-DE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datenliste:</a:t>
            </a:r>
          </a:p>
          <a:p>
            <a:pPr marL="400050" lvl="1" indent="0">
              <a:buNone/>
            </a:pP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einzelwert</a:t>
            </a:r>
            <a:r>
              <a:rPr lang="de-DE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2400" u="sng" dirty="0"/>
              <a:t>oder</a:t>
            </a:r>
          </a:p>
          <a:p>
            <a:pPr marL="400050" lvl="1" indent="0">
              <a:buNone/>
            </a:pPr>
            <a:r>
              <a:rPr lang="de-DE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DE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 in </a:t>
            </a:r>
            <a:r>
              <a:rPr lang="de-DE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de-DE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de-DE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(liste)): </a:t>
            </a:r>
            <a:r>
              <a:rPr lang="de-DE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(liste[i])</a:t>
            </a:r>
          </a:p>
          <a:p>
            <a:r>
              <a:rPr lang="de-DE" sz="2400" dirty="0"/>
              <a:t>Mit einer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DE" sz="2400" dirty="0"/>
              <a:t>-Schleife eine beliebig lange Liste erzeugen</a:t>
            </a:r>
          </a:p>
          <a:p>
            <a:pPr marL="400050" lvl="1" indent="0">
              <a:buNone/>
            </a:pPr>
            <a:r>
              <a:rPr lang="de-DE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a=[] </a:t>
            </a:r>
            <a:r>
              <a:rPr lang="de-DE" sz="2000" dirty="0">
                <a:sym typeface="Wingdings" panose="05000000000000000000" pitchFamily="2" charset="2"/>
              </a:rPr>
              <a:t> Leere Liste erzeugen</a:t>
            </a:r>
            <a:br>
              <a:rPr lang="de-DE" sz="2000" dirty="0"/>
            </a:br>
            <a:r>
              <a:rPr lang="de-DE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DE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 in </a:t>
            </a:r>
            <a:r>
              <a:rPr lang="de-DE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de-DE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(10000): </a:t>
            </a:r>
            <a:r>
              <a:rPr lang="de-DE" sz="2000" dirty="0">
                <a:sym typeface="Wingdings" panose="05000000000000000000" pitchFamily="2" charset="2"/>
              </a:rPr>
              <a:t> 10000 Schleifendurchläufe</a:t>
            </a:r>
            <a:endParaRPr lang="de-DE" sz="2000" dirty="0"/>
          </a:p>
          <a:p>
            <a:pPr marL="400050" lvl="1" indent="0">
              <a:buNone/>
            </a:pPr>
            <a:r>
              <a:rPr lang="de-DE" sz="2000" dirty="0"/>
              <a:t>	</a:t>
            </a:r>
            <a:r>
              <a:rPr lang="de-DE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a.append</a:t>
            </a:r>
            <a:r>
              <a:rPr lang="de-DE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 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de-DE" sz="2000" dirty="0">
                <a:sym typeface="Wingdings" panose="05000000000000000000" pitchFamily="2" charset="2"/>
              </a:rPr>
              <a:t> Listenelement 0 anfügen</a:t>
            </a:r>
          </a:p>
          <a:p>
            <a:r>
              <a:rPr lang="de-DE" sz="2400" dirty="0"/>
              <a:t>Liste kopieren</a:t>
            </a:r>
          </a:p>
          <a:p>
            <a:pPr marL="400050" lvl="1" indent="0">
              <a:buNone/>
            </a:pPr>
            <a:r>
              <a:rPr lang="de-DE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 = </a:t>
            </a:r>
            <a:r>
              <a:rPr lang="de-DE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a.copy</a:t>
            </a:r>
            <a:r>
              <a:rPr lang="de-DE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DE" sz="2000" dirty="0"/>
              <a:t>	</a:t>
            </a:r>
            <a:r>
              <a:rPr lang="de-DE" sz="2000" dirty="0">
                <a:sym typeface="Wingdings" panose="05000000000000000000" pitchFamily="2" charset="2"/>
              </a:rPr>
              <a:t> Gesamte Liste a zu b kopieren(duplizieren)</a:t>
            </a:r>
          </a:p>
          <a:p>
            <a:pPr marL="400050" lvl="1" indent="0">
              <a:buNone/>
            </a:pPr>
            <a:r>
              <a:rPr lang="de-DE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= a[0:100] </a:t>
            </a:r>
            <a:r>
              <a:rPr lang="de-DE" sz="2000" dirty="0"/>
              <a:t>	</a:t>
            </a:r>
            <a:r>
              <a:rPr lang="de-DE" sz="2000" dirty="0">
                <a:sym typeface="Wingdings" panose="05000000000000000000" pitchFamily="2" charset="2"/>
              </a:rPr>
              <a:t> Nur die ersten 100 Elemente kopieren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239173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A9E2AF-75CF-4FCE-8CE3-36E152F5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Listen V (Ergänzung) 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5C3B0C-7DF2-47AA-AA44-766E4E5B4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10000"/>
          </a:bodyPr>
          <a:lstStyle/>
          <a:p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datenliste.pop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sz="2400" dirty="0">
                <a:sym typeface="Wingdings" panose="05000000000000000000" pitchFamily="2" charset="2"/>
              </a:rPr>
              <a:t> Entfernt das letzte Element aus der Liste, entspricht dem Befehl 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del datenliste[-1]</a:t>
            </a:r>
          </a:p>
          <a:p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x =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datenliste.index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("Meier")  </a:t>
            </a:r>
            <a:r>
              <a:rPr lang="de-DE" sz="2400" dirty="0">
                <a:sym typeface="Wingdings" panose="05000000000000000000" pitchFamily="2" charset="2"/>
              </a:rPr>
              <a:t>Liefert die Indexposition des gesuchten Elements in der Liste</a:t>
            </a:r>
          </a:p>
          <a:p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datenliste.remove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("Elementinhalt") </a:t>
            </a:r>
            <a:r>
              <a:rPr lang="de-DE" sz="2400" dirty="0">
                <a:sym typeface="Wingdings" panose="05000000000000000000" pitchFamily="2" charset="2"/>
              </a:rPr>
              <a:t> Entfernt das erste Element, dessen Inhalt angegeben wurde, aus einer Liste.</a:t>
            </a:r>
          </a:p>
          <a:p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nummern=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list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range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(1,50,2)) </a:t>
            </a:r>
            <a:r>
              <a:rPr lang="de-DE" sz="2400" dirty="0">
                <a:sym typeface="Wingdings" panose="05000000000000000000" pitchFamily="2" charset="2"/>
              </a:rPr>
              <a:t> Erzeugt eine Datenliste mit der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list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 </a:t>
            </a:r>
            <a:r>
              <a:rPr lang="de-DE" sz="2400" dirty="0">
                <a:sym typeface="Wingdings" panose="05000000000000000000" pitchFamily="2" charset="2"/>
              </a:rPr>
              <a:t>und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range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 </a:t>
            </a:r>
            <a:r>
              <a:rPr lang="de-DE" sz="2400" dirty="0">
                <a:sym typeface="Wingdings" panose="05000000000000000000" pitchFamily="2" charset="2"/>
              </a:rPr>
              <a:t>Funktion</a:t>
            </a:r>
          </a:p>
          <a:p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nummern=[0]*10000 </a:t>
            </a:r>
            <a:r>
              <a:rPr lang="de-DE" sz="2400" dirty="0">
                <a:sym typeface="Wingdings" panose="05000000000000000000" pitchFamily="2" charset="2"/>
              </a:rPr>
              <a:t> Erzeugt eine Datenliste mit 10000 Nullen (oder anderen gleichen Zahlen) per Multiplikation eines Elements</a:t>
            </a:r>
          </a:p>
          <a:p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min(liste)  </a:t>
            </a:r>
            <a:r>
              <a:rPr lang="de-DE" sz="2400" b="1" dirty="0">
                <a:cs typeface="Courier New" panose="02070309020205020404" pitchFamily="49" charset="0"/>
                <a:sym typeface="Wingdings" panose="05000000000000000000" pitchFamily="2" charset="2"/>
              </a:rPr>
              <a:t> Kleines Listenelement</a:t>
            </a:r>
            <a:b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</a:b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max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(liste)  </a:t>
            </a:r>
            <a:r>
              <a:rPr lang="de-DE" sz="2400" b="1" dirty="0">
                <a:cs typeface="Courier New" panose="02070309020205020404" pitchFamily="49" charset="0"/>
                <a:sym typeface="Wingdings" panose="05000000000000000000" pitchFamily="2" charset="2"/>
              </a:rPr>
              <a:t> Größtes Listenelement</a:t>
            </a:r>
            <a:b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</a:b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sum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(liste)  </a:t>
            </a:r>
            <a:r>
              <a:rPr lang="de-DE" sz="2400" b="1" dirty="0">
                <a:cs typeface="Courier New" panose="02070309020205020404" pitchFamily="49" charset="0"/>
                <a:sym typeface="Wingdings" panose="05000000000000000000" pitchFamily="2" charset="2"/>
              </a:rPr>
              <a:t> Summe aller Listenelemente</a:t>
            </a:r>
            <a:b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</a:b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len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(liste)  </a:t>
            </a:r>
            <a:r>
              <a:rPr lang="de-DE" sz="2400" b="1" dirty="0">
                <a:cs typeface="Courier New" panose="02070309020205020404" pitchFamily="49" charset="0"/>
                <a:sym typeface="Wingdings" panose="05000000000000000000" pitchFamily="2" charset="2"/>
              </a:rPr>
              <a:t> Anzahl der Listenelemente</a:t>
            </a:r>
            <a:endParaRPr lang="de-DE" sz="2400" dirty="0">
              <a:sym typeface="Wingdings" panose="05000000000000000000" pitchFamily="2" charset="2"/>
            </a:endParaRPr>
          </a:p>
          <a:p>
            <a:endParaRPr lang="de-DE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7947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A9E2AF-75CF-4FCE-8CE3-36E152F5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Listen VI (Listen in Liste)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5C3B0C-7DF2-47AA-AA44-766E4E5B4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579296" cy="5517232"/>
          </a:xfrm>
        </p:spPr>
        <p:txBody>
          <a:bodyPr>
            <a:normAutofit fontScale="85000" lnSpcReduction="20000"/>
          </a:bodyPr>
          <a:lstStyle/>
          <a:p>
            <a:r>
              <a:rPr lang="de-DE" sz="2400" dirty="0"/>
              <a:t>Eine Liste kann als Elemente auch weitere (Unter-)Listen enthalten (quasi als "verschachtelte Listen"):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kunden</a:t>
            </a: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=[ </a:t>
            </a:r>
            <a:r>
              <a:rPr lang="de-DE" sz="15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["Meier","Bonn",53177,True]</a:t>
            </a: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5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["Schulze","Köln",50191,False] </a:t>
            </a: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kunden.append</a:t>
            </a: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5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["Becker","Hennef",53173,True]</a:t>
            </a: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kunde</a:t>
            </a: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de-DE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kunden</a:t>
            </a: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kunde</a:t>
            </a: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2400" dirty="0"/>
              <a:t>Auf diese Art und Weise könnte man z.B. beliebig viele Datensätze in einer Listenvariablen speichern</a:t>
            </a:r>
          </a:p>
          <a:p>
            <a:r>
              <a:rPr lang="de-DE" sz="2400" dirty="0"/>
              <a:t>Zugriff auf Einzelelemente</a:t>
            </a:r>
          </a:p>
          <a:p>
            <a:pPr marL="0" indent="0">
              <a:buNone/>
            </a:pP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kunden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[1]) </a:t>
            </a:r>
            <a:r>
              <a:rPr lang="de-DE" sz="2400" dirty="0">
                <a:sym typeface="Wingdings" panose="05000000000000000000" pitchFamily="2" charset="2"/>
              </a:rPr>
              <a:t></a:t>
            </a:r>
            <a:r>
              <a:rPr lang="de-DE" sz="2400" dirty="0"/>
              <a:t> Zweite Liste/Datensatz ausgeben</a:t>
            </a:r>
          </a:p>
          <a:p>
            <a:r>
              <a:rPr lang="de-DE" sz="2400" dirty="0"/>
              <a:t>Zugriff auf Einzelelement einer Liste (eines Datensatzes)</a:t>
            </a:r>
          </a:p>
          <a:p>
            <a:pPr marL="0" indent="0">
              <a:buNone/>
            </a:pP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kunden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[1][2]) </a:t>
            </a:r>
            <a:b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de-DE" sz="2400" dirty="0">
                <a:sym typeface="Wingdings" panose="05000000000000000000" pitchFamily="2" charset="2"/>
              </a:rPr>
              <a:t>Gibt das dritte Listenelement des zweiten Kunden aus (50191)</a:t>
            </a:r>
          </a:p>
          <a:p>
            <a:r>
              <a:rPr lang="de-DE" sz="2400" dirty="0">
                <a:sym typeface="Wingdings" panose="05000000000000000000" pitchFamily="2" charset="2"/>
              </a:rPr>
              <a:t>Mit einer Schleife kann man durch die Liste durchiterieren, und dann die einzelnen Spalten der "Unterlisten"-Elemente über ihren Index ansprechen:</a:t>
            </a:r>
          </a:p>
          <a:p>
            <a:pPr marL="0" indent="0">
              <a:buNone/>
            </a:pP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for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ds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in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kunden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: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print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ds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[0],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ds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[2],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ds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[1])</a:t>
            </a:r>
          </a:p>
          <a:p>
            <a:r>
              <a:rPr lang="de-DE" sz="2400" dirty="0">
                <a:sym typeface="Wingdings" panose="05000000000000000000" pitchFamily="2" charset="2"/>
              </a:rPr>
              <a:t>Will man eine Liste nach einem Element einer "Unterliste" sortieren, so muss man beim 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.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sort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 </a:t>
            </a:r>
            <a:r>
              <a:rPr lang="de-DE" sz="2400" dirty="0">
                <a:cs typeface="Arial" panose="020B0604020202020204" pitchFamily="34" charset="0"/>
                <a:sym typeface="Wingdings" panose="05000000000000000000" pitchFamily="2" charset="2"/>
              </a:rPr>
              <a:t>Befehl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sz="2400" dirty="0">
                <a:sym typeface="Wingdings" panose="05000000000000000000" pitchFamily="2" charset="2"/>
              </a:rPr>
              <a:t>eine Lambda-Funktion erstellen, die das entsprechende Element der Unterliste </a:t>
            </a:r>
            <a:r>
              <a:rPr lang="de-DE" sz="2400" b="1" dirty="0">
                <a:sym typeface="Wingdings" panose="05000000000000000000" pitchFamily="2" charset="2"/>
              </a:rPr>
              <a:t>x</a:t>
            </a:r>
            <a:r>
              <a:rPr lang="de-DE" sz="2400" dirty="0">
                <a:sym typeface="Wingdings" panose="05000000000000000000" pitchFamily="2" charset="2"/>
              </a:rPr>
              <a:t> liefert (hier die PLZ, also Element 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x[2]</a:t>
            </a:r>
            <a:r>
              <a:rPr lang="de-DE" sz="2400" dirty="0">
                <a:sym typeface="Wingdings" panose="05000000000000000000" pitchFamily="2" charset="2"/>
              </a:rPr>
              <a:t>):</a:t>
            </a:r>
          </a:p>
          <a:p>
            <a:pPr marL="0" indent="0">
              <a:buNone/>
            </a:pP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kunden.sort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key=lambda x: x[2])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endParaRPr lang="de-DE" sz="24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33546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90CD31-AA32-7EF0-A415-8CCC32071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188640"/>
            <a:ext cx="7283152" cy="1143000"/>
          </a:xfrm>
        </p:spPr>
        <p:txBody>
          <a:bodyPr/>
          <a:lstStyle/>
          <a:p>
            <a:r>
              <a:rPr lang="de-DE" dirty="0" err="1"/>
              <a:t>Tuple</a:t>
            </a:r>
            <a:r>
              <a:rPr lang="de-DE" dirty="0"/>
              <a:t> (deutsch: Tupel)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4DFB69-32CF-9FF5-32FF-60F0DE6FF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196752"/>
            <a:ext cx="8964488" cy="5544616"/>
          </a:xfrm>
        </p:spPr>
        <p:txBody>
          <a:bodyPr>
            <a:normAutofit fontScale="85000" lnSpcReduction="20000"/>
          </a:bodyPr>
          <a:lstStyle/>
          <a:p>
            <a:r>
              <a:rPr lang="de-DE" dirty="0"/>
              <a:t>Tupel sind eine ähnliche Datenstruktur wie Listen, jedoch sind sie unveränderbar ("</a:t>
            </a:r>
            <a:r>
              <a:rPr lang="de-DE" dirty="0" err="1"/>
              <a:t>immutable</a:t>
            </a:r>
            <a:r>
              <a:rPr lang="de-DE" dirty="0"/>
              <a:t>") – es können weder Elemente hinzugefügt werden, noch entfernt oder geändert werden.</a:t>
            </a:r>
          </a:p>
          <a:p>
            <a:r>
              <a:rPr lang="de-DE" dirty="0"/>
              <a:t>Tupel werden statt in eckigen Klammern 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liste=["Fritz",350,True] </a:t>
            </a:r>
            <a:r>
              <a:rPr lang="de-DE" dirty="0"/>
              <a:t>in runden Klammern geschrieben, also z.B. 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t=("Fritz",350,True)</a:t>
            </a:r>
          </a:p>
          <a:p>
            <a:r>
              <a:rPr lang="de-DE" dirty="0"/>
              <a:t>Tupel lassen sich mit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(t)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in eine Liste umwandeln, Listen mit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tuple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(liste) </a:t>
            </a:r>
            <a:r>
              <a:rPr lang="de-DE" dirty="0"/>
              <a:t>in ein Tupel.</a:t>
            </a:r>
          </a:p>
          <a:p>
            <a:r>
              <a:rPr lang="de-DE" dirty="0"/>
              <a:t>Tupel brauchen weniger Speicher als Listen, sie verhindern außerdem, dass Werte in dieser Datenstruktur "aus Versehen" geändert werden.</a:t>
            </a:r>
          </a:p>
          <a:p>
            <a:r>
              <a:rPr lang="de-DE" dirty="0"/>
              <a:t>Sie haben fast keine eingebauten Funktionen, da sie ja unveränderlich sind.</a:t>
            </a:r>
          </a:p>
        </p:txBody>
      </p:sp>
    </p:spTree>
    <p:extLst>
      <p:ext uri="{BB962C8B-B14F-4D97-AF65-F5344CB8AC3E}">
        <p14:creationId xmlns:p14="http://schemas.microsoft.com/office/powerpoint/2010/main" val="4013349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AE1F3-5C1D-40CC-9E46-6C28F7C21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Dictionaries</a:t>
            </a:r>
            <a:r>
              <a:rPr lang="de-DE" dirty="0"/>
              <a:t> 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686173-233E-4F98-A034-DEE46C181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68" y="1548011"/>
            <a:ext cx="5915000" cy="5141168"/>
          </a:xfrm>
        </p:spPr>
        <p:txBody>
          <a:bodyPr>
            <a:normAutofit fontScale="85000" lnSpcReduction="20000"/>
          </a:bodyPr>
          <a:lstStyle/>
          <a:p>
            <a:r>
              <a:rPr lang="de-DE" sz="2800" dirty="0" err="1"/>
              <a:t>Dictionaries</a:t>
            </a:r>
            <a:r>
              <a:rPr lang="de-DE" sz="2800" dirty="0"/>
              <a:t> („Verzeichnisse") bestehen aus </a:t>
            </a:r>
            <a:r>
              <a:rPr lang="de-DE" sz="2800" dirty="0" err="1"/>
              <a:t>Key:Value</a:t>
            </a:r>
            <a:r>
              <a:rPr lang="de-DE" sz="2800" dirty="0"/>
              <a:t> - Paaren (</a:t>
            </a:r>
            <a:r>
              <a:rPr lang="de-DE" sz="2800" dirty="0" err="1"/>
              <a:t>Schlüssel:Wert</a:t>
            </a:r>
            <a:r>
              <a:rPr lang="de-DE" sz="2800" dirty="0"/>
              <a:t>), die mit Kommas getrennt sind, das gesamte Dictionary ist mit {…} umklammert</a:t>
            </a:r>
          </a:p>
          <a:p>
            <a:pPr marL="0" indent="0" algn="ctr">
              <a:buNone/>
            </a:pP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dict1={"</a:t>
            </a:r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country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":"DE", "temp":22.5 } </a:t>
            </a:r>
          </a:p>
          <a:p>
            <a:r>
              <a:rPr lang="de-DE" sz="2800" dirty="0"/>
              <a:t>Der Key ist im immer als String gespeichert, der Value kann ein beliebiger Datentyp sein (</a:t>
            </a:r>
            <a:r>
              <a:rPr lang="de-DE" sz="2800" dirty="0" err="1"/>
              <a:t>Int</a:t>
            </a:r>
            <a:r>
              <a:rPr lang="de-DE" sz="2800" dirty="0"/>
              <a:t>, </a:t>
            </a:r>
            <a:r>
              <a:rPr lang="de-DE" sz="2800" dirty="0" err="1"/>
              <a:t>Float</a:t>
            </a:r>
            <a:r>
              <a:rPr lang="de-DE" sz="2800" dirty="0"/>
              <a:t>, String, Boolean, Liste, weiteres Dictionary)</a:t>
            </a:r>
          </a:p>
          <a:p>
            <a:r>
              <a:rPr lang="de-DE" sz="2800" dirty="0"/>
              <a:t>Mehrere gleiche Keys darf es nicht geben!</a:t>
            </a:r>
          </a:p>
          <a:p>
            <a:r>
              <a:rPr lang="de-DE" sz="2800" dirty="0"/>
              <a:t>Zugriff erfolgt </a:t>
            </a:r>
            <a:r>
              <a:rPr lang="de-DE" sz="2800" b="1" dirty="0"/>
              <a:t>nur</a:t>
            </a:r>
            <a:r>
              <a:rPr lang="de-DE" sz="2800" dirty="0"/>
              <a:t> (!) über den Key:</a:t>
            </a:r>
          </a:p>
          <a:p>
            <a:pPr marL="0" indent="0" algn="ctr">
              <a:buNone/>
            </a:pPr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(dict1["</a:t>
            </a:r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"]) </a:t>
            </a:r>
            <a:r>
              <a:rPr lang="de-DE" sz="2800" dirty="0">
                <a:sym typeface="Wingdings" panose="05000000000000000000" pitchFamily="2" charset="2"/>
              </a:rPr>
              <a:t> 22.5</a:t>
            </a:r>
          </a:p>
          <a:p>
            <a:r>
              <a:rPr lang="de-DE" sz="2800" dirty="0">
                <a:sym typeface="Wingdings" panose="05000000000000000000" pitchFamily="2" charset="2"/>
              </a:rPr>
              <a:t>Weitere Paare werden einfach durch Zuweisung angehangen, es gibt kein </a:t>
            </a:r>
            <a:r>
              <a:rPr lang="de-DE" sz="2800" dirty="0" err="1">
                <a:sym typeface="Wingdings" panose="05000000000000000000" pitchFamily="2" charset="2"/>
              </a:rPr>
              <a:t>append</a:t>
            </a:r>
            <a:r>
              <a:rPr lang="de-DE" sz="2800" dirty="0">
                <a:sym typeface="Wingdings" panose="05000000000000000000" pitchFamily="2" charset="2"/>
              </a:rPr>
              <a:t>() o.ä.:</a:t>
            </a:r>
          </a:p>
          <a:p>
            <a:pPr marL="0" indent="0" algn="ctr">
              <a:buNone/>
            </a:pP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dict1["</a:t>
            </a:r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timestamp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"]=</a:t>
            </a:r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time.time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</a:t>
            </a:r>
          </a:p>
          <a:p>
            <a:pPr marL="0" indent="0" algn="ctr">
              <a:buNone/>
            </a:pPr>
            <a:endParaRPr lang="de-DE" sz="28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BB89324-3835-10C2-AFFA-D01E28649E12}"/>
              </a:ext>
            </a:extLst>
          </p:cNvPr>
          <p:cNvSpPr txBox="1"/>
          <p:nvPr/>
        </p:nvSpPr>
        <p:spPr>
          <a:xfrm>
            <a:off x="6025905" y="2954126"/>
            <a:ext cx="3096343" cy="378565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1500" dirty="0">
                <a:latin typeface="Consolas" panose="020B0609020204030204" pitchFamily="49" charset="0"/>
              </a:rPr>
              <a:t>einwohner = </a:t>
            </a:r>
          </a:p>
          <a:p>
            <a:r>
              <a:rPr lang="de-DE" sz="1500" dirty="0">
                <a:latin typeface="Consolas" panose="020B0609020204030204" pitchFamily="49" charset="0"/>
              </a:rPr>
              <a:t> {"Berlin": 3669491,</a:t>
            </a:r>
          </a:p>
          <a:p>
            <a:r>
              <a:rPr lang="de-DE" sz="1500" dirty="0">
                <a:latin typeface="Consolas" panose="020B0609020204030204" pitchFamily="49" charset="0"/>
              </a:rPr>
              <a:t>  "Hamburg": 1847253,</a:t>
            </a:r>
          </a:p>
          <a:p>
            <a:r>
              <a:rPr lang="de-DE" sz="1500" dirty="0">
                <a:latin typeface="Consolas" panose="020B0609020204030204" pitchFamily="49" charset="0"/>
              </a:rPr>
              <a:t>  "München": 1484226,</a:t>
            </a:r>
          </a:p>
          <a:p>
            <a:r>
              <a:rPr lang="de-DE" sz="1500" dirty="0">
                <a:latin typeface="Consolas" panose="020B0609020204030204" pitchFamily="49" charset="0"/>
              </a:rPr>
              <a:t>  "Köln": 1087863,</a:t>
            </a:r>
          </a:p>
          <a:p>
            <a:r>
              <a:rPr lang="de-DE" sz="1500" dirty="0">
                <a:latin typeface="Consolas" panose="020B0609020204030204" pitchFamily="49" charset="0"/>
              </a:rPr>
              <a:t>  "Frankfurt </a:t>
            </a:r>
            <a:r>
              <a:rPr lang="de-DE" sz="1500" dirty="0" err="1">
                <a:latin typeface="Consolas" panose="020B0609020204030204" pitchFamily="49" charset="0"/>
              </a:rPr>
              <a:t>aM</a:t>
            </a:r>
            <a:r>
              <a:rPr lang="de-DE" sz="1500" dirty="0">
                <a:latin typeface="Consolas" panose="020B0609020204030204" pitchFamily="49" charset="0"/>
              </a:rPr>
              <a:t>": 763380,</a:t>
            </a:r>
          </a:p>
          <a:p>
            <a:r>
              <a:rPr lang="de-DE" sz="1500" dirty="0">
                <a:latin typeface="Consolas" panose="020B0609020204030204" pitchFamily="49" charset="0"/>
              </a:rPr>
              <a:t>  "Stuttgart": 635911,</a:t>
            </a:r>
          </a:p>
          <a:p>
            <a:r>
              <a:rPr lang="de-DE" sz="1500" dirty="0">
                <a:latin typeface="Consolas" panose="020B0609020204030204" pitchFamily="49" charset="0"/>
              </a:rPr>
              <a:t>  "Düsseldorf": 621877,</a:t>
            </a:r>
          </a:p>
          <a:p>
            <a:r>
              <a:rPr lang="de-DE" sz="1500" dirty="0">
                <a:latin typeface="Consolas" panose="020B0609020204030204" pitchFamily="49" charset="0"/>
              </a:rPr>
              <a:t>  "Leipzig": 593145,</a:t>
            </a:r>
          </a:p>
          <a:p>
            <a:r>
              <a:rPr lang="de-DE" sz="1500" dirty="0">
                <a:latin typeface="Consolas" panose="020B0609020204030204" pitchFamily="49" charset="0"/>
              </a:rPr>
              <a:t>  "Dortmund": 588250,</a:t>
            </a:r>
          </a:p>
          <a:p>
            <a:r>
              <a:rPr lang="de-DE" sz="1500" dirty="0">
                <a:latin typeface="Consolas" panose="020B0609020204030204" pitchFamily="49" charset="0"/>
              </a:rPr>
              <a:t>  "Essen": 582760,</a:t>
            </a:r>
          </a:p>
          <a:p>
            <a:r>
              <a:rPr lang="de-DE" sz="1500" dirty="0">
                <a:latin typeface="Consolas" panose="020B0609020204030204" pitchFamily="49" charset="0"/>
              </a:rPr>
              <a:t>  "Bremen": 567559,</a:t>
            </a:r>
          </a:p>
          <a:p>
            <a:r>
              <a:rPr lang="de-DE" sz="1500" dirty="0">
                <a:latin typeface="Consolas" panose="020B0609020204030204" pitchFamily="49" charset="0"/>
              </a:rPr>
              <a:t>  "Dresden": 556780,</a:t>
            </a:r>
          </a:p>
          <a:p>
            <a:r>
              <a:rPr lang="de-DE" sz="1500" dirty="0">
                <a:latin typeface="Consolas" panose="020B0609020204030204" pitchFamily="49" charset="0"/>
              </a:rPr>
              <a:t>  "Hannover": 536925,</a:t>
            </a:r>
          </a:p>
          <a:p>
            <a:r>
              <a:rPr lang="de-DE" sz="1500" dirty="0">
                <a:latin typeface="Consolas" panose="020B0609020204030204" pitchFamily="49" charset="0"/>
              </a:rPr>
              <a:t>  "Nürnberg": 518370</a:t>
            </a:r>
          </a:p>
          <a:p>
            <a:r>
              <a:rPr lang="de-DE" sz="1500" dirty="0">
                <a:latin typeface="Consolas" panose="020B0609020204030204" pitchFamily="49" charset="0"/>
              </a:rPr>
              <a:t>  }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C998F4D-439F-6822-27FE-82AE2105570F}"/>
              </a:ext>
            </a:extLst>
          </p:cNvPr>
          <p:cNvSpPr txBox="1"/>
          <p:nvPr/>
        </p:nvSpPr>
        <p:spPr>
          <a:xfrm>
            <a:off x="6025905" y="1628800"/>
            <a:ext cx="3096343" cy="95410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dict1 =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{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"</a:t>
            </a:r>
            <a:r>
              <a:rPr lang="en-US" sz="1400" dirty="0" err="1">
                <a:latin typeface="Consolas" panose="020B0609020204030204" pitchFamily="49" charset="0"/>
              </a:rPr>
              <a:t>country":"DE</a:t>
            </a:r>
            <a:r>
              <a:rPr lang="en-US" sz="1400" dirty="0">
                <a:latin typeface="Consolas" panose="020B0609020204030204" pitchFamily="49" charset="0"/>
              </a:rPr>
              <a:t>", "temp":22.5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3669792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AE1F3-5C1D-40CC-9E46-6C28F7C21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Dictionaries</a:t>
            </a:r>
            <a:r>
              <a:rPr lang="de-DE" dirty="0"/>
              <a:t> II</a:t>
            </a:r>
            <a:br>
              <a:rPr lang="de-DE" dirty="0"/>
            </a:br>
            <a:r>
              <a:rPr lang="de-DE" sz="2700" dirty="0"/>
              <a:t>(Keys / Values mit Schleifen durchlaufen)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686173-233E-4F98-A034-DEE46C181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72208"/>
            <a:ext cx="8784976" cy="5141168"/>
          </a:xfrm>
        </p:spPr>
        <p:txBody>
          <a:bodyPr>
            <a:normAutofit fontScale="85000" lnSpcReduction="20000"/>
          </a:bodyPr>
          <a:lstStyle/>
          <a:p>
            <a:r>
              <a:rPr lang="de-DE" sz="2800" dirty="0"/>
              <a:t>Für </a:t>
            </a:r>
            <a:r>
              <a:rPr lang="de-DE" sz="2800" dirty="0" err="1"/>
              <a:t>Dictionaries</a:t>
            </a:r>
            <a:r>
              <a:rPr lang="de-DE" sz="2800" dirty="0"/>
              <a:t> gibt es die Methoden .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items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(), .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keys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sz="2800" dirty="0"/>
              <a:t>und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.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de-DE" sz="2800" dirty="0"/>
              <a:t>diese liefern sämtliche Paare, Schlüssel oder Werte eines Dictionary</a:t>
            </a:r>
          </a:p>
          <a:p>
            <a:r>
              <a:rPr lang="de-DE" sz="2800" dirty="0">
                <a:sym typeface="Wingdings" panose="05000000000000000000" pitchFamily="2" charset="2"/>
              </a:rPr>
              <a:t>Diese Methoden können in Schleifen verwendet werden um sämtliche Paare, Schlüssel oder Werte zu durchlaufen</a:t>
            </a:r>
          </a:p>
          <a:p>
            <a:pPr marL="0" indent="0" algn="ctr">
              <a:buNone/>
            </a:pP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for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k,v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in dict1.items():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print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(k, v)</a:t>
            </a:r>
          </a:p>
          <a:p>
            <a:r>
              <a:rPr lang="de-DE" sz="2800" dirty="0">
                <a:sym typeface="Wingdings" panose="05000000000000000000" pitchFamily="2" charset="2"/>
              </a:rPr>
              <a:t>Oder eventuell einfacher zu verstehen:</a:t>
            </a:r>
          </a:p>
          <a:p>
            <a:pPr marL="0" indent="0">
              <a:buNone/>
            </a:pPr>
            <a:r>
              <a:rPr lang="de-DE" sz="2800" dirty="0">
                <a:sym typeface="Wingdings" panose="05000000000000000000" pitchFamily="2" charset="2"/>
              </a:rPr>
              <a:t>	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for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key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in dict1: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print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key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dict1[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key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])</a:t>
            </a:r>
          </a:p>
          <a:p>
            <a:r>
              <a:rPr lang="de-DE" sz="2800" dirty="0">
                <a:sym typeface="Wingdings" panose="05000000000000000000" pitchFamily="2" charset="2"/>
              </a:rPr>
              <a:t>Funktionen für/mit </a:t>
            </a:r>
            <a:r>
              <a:rPr lang="de-DE" sz="2800" dirty="0" err="1">
                <a:sym typeface="Wingdings" panose="05000000000000000000" pitchFamily="2" charset="2"/>
              </a:rPr>
              <a:t>Dictionaries</a:t>
            </a:r>
            <a:r>
              <a:rPr lang="de-DE" sz="2800" dirty="0"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de-DE" sz="19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del dict1["</a:t>
            </a:r>
            <a:r>
              <a:rPr lang="de-DE" sz="19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key</a:t>
            </a:r>
            <a:r>
              <a:rPr lang="de-DE" sz="19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"] 	</a:t>
            </a:r>
            <a:r>
              <a:rPr lang="de-DE" dirty="0">
                <a:sym typeface="Wingdings" panose="05000000000000000000" pitchFamily="2" charset="2"/>
              </a:rPr>
              <a:t> Löscht ein </a:t>
            </a:r>
            <a:r>
              <a:rPr lang="de-DE" b="1" dirty="0" err="1">
                <a:sym typeface="Wingdings" panose="05000000000000000000" pitchFamily="2" charset="2"/>
              </a:rPr>
              <a:t>Key:Value</a:t>
            </a:r>
            <a:r>
              <a:rPr lang="de-DE" b="1" dirty="0">
                <a:sym typeface="Wingdings" panose="05000000000000000000" pitchFamily="2" charset="2"/>
              </a:rPr>
              <a:t> </a:t>
            </a:r>
            <a:r>
              <a:rPr lang="de-DE" dirty="0">
                <a:sym typeface="Wingdings" panose="05000000000000000000" pitchFamily="2" charset="2"/>
              </a:rPr>
              <a:t>Paar</a:t>
            </a:r>
          </a:p>
          <a:p>
            <a:pPr lvl="1"/>
            <a:r>
              <a:rPr lang="de-DE" sz="19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len</a:t>
            </a:r>
            <a:r>
              <a:rPr lang="de-DE" sz="19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(dict1) 		</a:t>
            </a:r>
            <a:r>
              <a:rPr lang="de-DE" dirty="0">
                <a:sym typeface="Wingdings" panose="05000000000000000000" pitchFamily="2" charset="2"/>
              </a:rPr>
              <a:t> Anzahl der </a:t>
            </a:r>
            <a:r>
              <a:rPr lang="de-DE" b="1" dirty="0" err="1">
                <a:sym typeface="Wingdings" panose="05000000000000000000" pitchFamily="2" charset="2"/>
              </a:rPr>
              <a:t>Key:Value</a:t>
            </a:r>
            <a:r>
              <a:rPr lang="de-DE" dirty="0" err="1">
                <a:sym typeface="Wingdings" panose="05000000000000000000" pitchFamily="2" charset="2"/>
              </a:rPr>
              <a:t>-Paare</a:t>
            </a:r>
            <a:endParaRPr lang="de-DE" dirty="0">
              <a:sym typeface="Wingdings" panose="05000000000000000000" pitchFamily="2" charset="2"/>
            </a:endParaRPr>
          </a:p>
          <a:p>
            <a:pPr lvl="1"/>
            <a:r>
              <a:rPr lang="de-DE" sz="19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sorted</a:t>
            </a:r>
            <a:r>
              <a:rPr lang="de-DE" sz="19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(dict1) 	</a:t>
            </a:r>
            <a:r>
              <a:rPr lang="de-DE" dirty="0">
                <a:sym typeface="Wingdings" panose="05000000000000000000" pitchFamily="2" charset="2"/>
              </a:rPr>
              <a:t> Liefert das Dictionary sortiert zurück</a:t>
            </a:r>
          </a:p>
          <a:p>
            <a:pPr lvl="1"/>
            <a:r>
              <a:rPr lang="de-DE" sz="19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dict1.get("</a:t>
            </a:r>
            <a:r>
              <a:rPr lang="de-DE" sz="19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key</a:t>
            </a:r>
            <a:r>
              <a:rPr lang="de-DE" sz="19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") </a:t>
            </a:r>
            <a:r>
              <a:rPr lang="de-DE" dirty="0">
                <a:sym typeface="Wingdings" panose="05000000000000000000" pitchFamily="2" charset="2"/>
              </a:rPr>
              <a:t> Liefert ein Value zurück, ohne mit einem Fehler abzubrechen, wenn der Key nicht existiert (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None</a:t>
            </a:r>
            <a:r>
              <a:rPr lang="de-DE" dirty="0">
                <a:sym typeface="Wingdings" panose="05000000000000000000" pitchFamily="2" charset="2"/>
              </a:rPr>
              <a:t>)</a:t>
            </a:r>
          </a:p>
          <a:p>
            <a:endParaRPr lang="de-DE" sz="2800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12509103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C27116-DA87-1E6B-CAB0-A9001DFED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Dictionaries</a:t>
            </a:r>
            <a:r>
              <a:rPr lang="de-DE" dirty="0"/>
              <a:t> III</a:t>
            </a:r>
            <a:br>
              <a:rPr lang="de-DE" dirty="0"/>
            </a:br>
            <a:r>
              <a:rPr lang="de-DE" sz="2700" dirty="0"/>
              <a:t>(verschachtelte </a:t>
            </a:r>
            <a:r>
              <a:rPr lang="de-DE" sz="2700" dirty="0" err="1"/>
              <a:t>Dictionaries</a:t>
            </a:r>
            <a:r>
              <a:rPr lang="de-DE" sz="2700" dirty="0"/>
              <a:t>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A2910E-BE44-C113-BAD5-B97ED97BF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5257800"/>
          </a:xfrm>
        </p:spPr>
        <p:txBody>
          <a:bodyPr>
            <a:normAutofit fontScale="77500" lnSpcReduction="20000"/>
          </a:bodyPr>
          <a:lstStyle/>
          <a:p>
            <a:r>
              <a:rPr lang="de-DE" dirty="0"/>
              <a:t>Mehrere </a:t>
            </a:r>
            <a:r>
              <a:rPr lang="de-DE" dirty="0" err="1"/>
              <a:t>Dictionaries</a:t>
            </a:r>
            <a:r>
              <a:rPr lang="de-DE" dirty="0"/>
              <a:t> lassen sich in einem Dictionary zusammenfassen. Diese können dann in einer verschachtelten Schleife ausgegeben / verarbeitet werden:</a:t>
            </a:r>
          </a:p>
          <a:p>
            <a:pPr marL="0" indent="0">
              <a:buNone/>
            </a:pP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kundendict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{"kunde1": {"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Name":"Schmitz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"Saldo":1250.50, "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GebJahr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1965},</a:t>
            </a:r>
          </a:p>
          <a:p>
            <a:pPr marL="0" indent="0">
              <a:buNone/>
            </a:pP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	  "kunde2": {"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Name":"Meier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  "Saldo":750.99,  "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GebJahr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1985} }</a:t>
            </a:r>
          </a:p>
          <a:p>
            <a:pPr marL="0" indent="0">
              <a:buNone/>
            </a:pP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for 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kunde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kundendict.values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0" indent="0">
              <a:buNone/>
            </a:pP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for 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kunde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kunde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de-DE" dirty="0"/>
              <a:t>Auch möglich ist das zusammenfassen mehrerer </a:t>
            </a:r>
            <a:r>
              <a:rPr lang="de-DE" dirty="0" err="1"/>
              <a:t>Dictionaries</a:t>
            </a:r>
            <a:r>
              <a:rPr lang="de-DE" dirty="0"/>
              <a:t> in einer Liste:</a:t>
            </a:r>
          </a:p>
          <a:p>
            <a:pPr marL="0" indent="0">
              <a:buNone/>
            </a:pP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kundenliste=[]</a:t>
            </a:r>
          </a:p>
          <a:p>
            <a:pPr marL="0" indent="0">
              <a:buNone/>
            </a:pP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kundenliste.append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({"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Name":"Schmitz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"Saldo":1250.50, "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GebJahr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1965})</a:t>
            </a:r>
          </a:p>
          <a:p>
            <a:pPr marL="0" indent="0">
              <a:buNone/>
            </a:pP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kundenliste.append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({"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Name":"Meier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  "Saldo":750.99,  "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GebJahr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1985})</a:t>
            </a:r>
          </a:p>
          <a:p>
            <a:pPr marL="0" indent="0">
              <a:buNone/>
            </a:pP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de-DE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kunde</a:t>
            </a: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kundenliste:</a:t>
            </a:r>
          </a:p>
          <a:p>
            <a:pPr marL="0" indent="0">
              <a:buNone/>
            </a:pPr>
            <a:r>
              <a:rPr lang="de-DE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for key in </a:t>
            </a:r>
            <a:r>
              <a:rPr lang="en-US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kunde</a:t>
            </a:r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print(key, </a:t>
            </a:r>
            <a:r>
              <a:rPr lang="en-US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kunde</a:t>
            </a:r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[key])</a:t>
            </a:r>
          </a:p>
          <a:p>
            <a:r>
              <a:rPr lang="de-DE" dirty="0"/>
              <a:t>Auf diese Art und Weise ist ähnlich wie bei verschachtelten Liste das Speichern mehrerer Datensätze in einer Variable möglich.</a:t>
            </a:r>
          </a:p>
          <a:p>
            <a:r>
              <a:rPr lang="de-DE" dirty="0"/>
              <a:t>Das klassische Dateiformat für </a:t>
            </a:r>
            <a:r>
              <a:rPr lang="de-DE" dirty="0" err="1"/>
              <a:t>Dictionaries</a:t>
            </a:r>
            <a:r>
              <a:rPr lang="de-DE" dirty="0"/>
              <a:t> ist das </a:t>
            </a:r>
            <a:r>
              <a:rPr lang="de-DE" b="1" dirty="0"/>
              <a:t>.</a:t>
            </a:r>
            <a:r>
              <a:rPr lang="de-DE" b="1" dirty="0" err="1"/>
              <a:t>json</a:t>
            </a:r>
            <a:r>
              <a:rPr lang="de-DE" dirty="0"/>
              <a:t>-Format. Das Modul </a:t>
            </a:r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de-DE" dirty="0"/>
              <a:t> ermöglicht Export und Import dieser Dateien (siehe entsprechende Folien in diese Präsentation!)</a:t>
            </a:r>
          </a:p>
        </p:txBody>
      </p:sp>
    </p:spTree>
    <p:extLst>
      <p:ext uri="{BB962C8B-B14F-4D97-AF65-F5344CB8AC3E}">
        <p14:creationId xmlns:p14="http://schemas.microsoft.com/office/powerpoint/2010/main" val="3791555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E8518A-8F7F-4A9C-9479-83EB5294D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Zufallszahlen (</a:t>
            </a:r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de-DE"/>
              <a:t>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AFBE69-2AAF-4713-B8F4-E07C6C646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268760"/>
            <a:ext cx="9036496" cy="5589240"/>
          </a:xfrm>
        </p:spPr>
        <p:txBody>
          <a:bodyPr>
            <a:normAutofit fontScale="92500" lnSpcReduction="20000"/>
          </a:bodyPr>
          <a:lstStyle/>
          <a:p>
            <a:r>
              <a:rPr lang="de-DE" dirty="0"/>
              <a:t>Python erzeugt mit dem Modul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de-DE" dirty="0"/>
              <a:t> scheinbare Zufallswerte (mit einem Algorithmus)</a:t>
            </a:r>
          </a:p>
          <a:p>
            <a:r>
              <a:rPr lang="de-DE" dirty="0"/>
              <a:t>Statistisch verhalten sich die "Pseudo-Zufallswerte" wie echte Zufallszahlen (Münzwurf, Würfel, Roulette, Rauschen…)</a:t>
            </a:r>
          </a:p>
          <a:p>
            <a:r>
              <a:rPr lang="de-DE" dirty="0"/>
              <a:t>Erzeugbar sind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dirty="0"/>
              <a:t>,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de-DE" dirty="0"/>
              <a:t> und andere Typen</a:t>
            </a:r>
          </a:p>
          <a:p>
            <a:pPr marL="0" indent="0">
              <a:buNone/>
            </a:pPr>
            <a:b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200" dirty="0">
                <a:sym typeface="Wingdings" panose="05000000000000000000" pitchFamily="2" charset="2"/>
              </a:rPr>
              <a:t> Importieren des Moduls, Voraussetzung!</a:t>
            </a:r>
          </a:p>
          <a:p>
            <a:pPr marL="0" indent="0">
              <a:buNone/>
            </a:pP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random.seed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(1)  </a:t>
            </a:r>
            <a:r>
              <a:rPr lang="de-DE" sz="2200" dirty="0">
                <a:sym typeface="Wingdings" panose="05000000000000000000" pitchFamily="2" charset="2"/>
              </a:rPr>
              <a:t>Setzt den Zufallsgenerator auf einen Startwert (</a:t>
            </a:r>
            <a:r>
              <a:rPr lang="de-DE" sz="2200" b="1" i="1" dirty="0">
                <a:sym typeface="Wingdings" panose="05000000000000000000" pitchFamily="2" charset="2"/>
              </a:rPr>
              <a:t>optional</a:t>
            </a:r>
            <a:r>
              <a:rPr lang="de-DE" sz="2200" dirty="0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print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random.random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()) 		</a:t>
            </a:r>
            <a:r>
              <a:rPr lang="de-DE" sz="2200" dirty="0">
                <a:sym typeface="Wingdings" panose="05000000000000000000" pitchFamily="2" charset="2"/>
              </a:rPr>
              <a:t> </a:t>
            </a:r>
            <a:r>
              <a:rPr lang="de-DE" sz="2200" dirty="0" err="1">
                <a:sym typeface="Wingdings" panose="05000000000000000000" pitchFamily="2" charset="2"/>
              </a:rPr>
              <a:t>float-Zufallszahl</a:t>
            </a:r>
            <a:r>
              <a:rPr lang="de-DE" sz="2200" dirty="0">
                <a:sym typeface="Wingdings" panose="05000000000000000000" pitchFamily="2" charset="2"/>
              </a:rPr>
              <a:t> </a:t>
            </a:r>
            <a:r>
              <a:rPr lang="de-DE" sz="2200" b="1" dirty="0">
                <a:sym typeface="Wingdings" panose="05000000000000000000" pitchFamily="2" charset="2"/>
              </a:rPr>
              <a:t>[0,1)  </a:t>
            </a:r>
            <a:r>
              <a:rPr lang="de-DE" sz="2200" dirty="0">
                <a:sym typeface="Wingdings" panose="05000000000000000000" pitchFamily="2" charset="2"/>
              </a:rPr>
              <a:t>0&lt;= Zahl &lt; 1</a:t>
            </a:r>
          </a:p>
          <a:p>
            <a:pPr marL="0" indent="0">
              <a:buNone/>
            </a:pP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print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random.uniform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(0,1))	</a:t>
            </a:r>
            <a:r>
              <a:rPr lang="de-DE" sz="2200" dirty="0">
                <a:sym typeface="Wingdings" panose="05000000000000000000" pitchFamily="2" charset="2"/>
              </a:rPr>
              <a:t> </a:t>
            </a:r>
            <a:r>
              <a:rPr lang="de-DE" sz="2200" dirty="0" err="1">
                <a:sym typeface="Wingdings" panose="05000000000000000000" pitchFamily="2" charset="2"/>
              </a:rPr>
              <a:t>float-Zufallszahl</a:t>
            </a:r>
            <a:r>
              <a:rPr lang="de-DE" sz="2200" dirty="0">
                <a:sym typeface="Wingdings" panose="05000000000000000000" pitchFamily="2" charset="2"/>
              </a:rPr>
              <a:t> </a:t>
            </a:r>
            <a:r>
              <a:rPr lang="de-DE" sz="2200" b="1" dirty="0">
                <a:sym typeface="Wingdings" panose="05000000000000000000" pitchFamily="2" charset="2"/>
              </a:rPr>
              <a:t>[0,1] </a:t>
            </a:r>
            <a:r>
              <a:rPr lang="de-DE" sz="2200" dirty="0">
                <a:sym typeface="Wingdings" panose="05000000000000000000" pitchFamily="2" charset="2"/>
              </a:rPr>
              <a:t> 0&lt;= Zahl &lt;=1</a:t>
            </a:r>
          </a:p>
          <a:p>
            <a:pPr marL="0" indent="0">
              <a:buNone/>
            </a:pP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print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random.randint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(0,99)) 	</a:t>
            </a:r>
            <a:r>
              <a:rPr lang="de-DE" sz="2200" dirty="0">
                <a:sym typeface="Wingdings" panose="05000000000000000000" pitchFamily="2" charset="2"/>
              </a:rPr>
              <a:t> </a:t>
            </a:r>
            <a:r>
              <a:rPr lang="de-DE" sz="2200" dirty="0" err="1">
                <a:sym typeface="Wingdings" panose="05000000000000000000" pitchFamily="2" charset="2"/>
              </a:rPr>
              <a:t>int</a:t>
            </a:r>
            <a:r>
              <a:rPr lang="de-DE" sz="2200" dirty="0">
                <a:sym typeface="Wingdings" panose="05000000000000000000" pitchFamily="2" charset="2"/>
              </a:rPr>
              <a:t>-Zufallszahl 0&lt;= Zahl &lt;=99</a:t>
            </a:r>
          </a:p>
          <a:p>
            <a:pPr marL="0" indent="0">
              <a:buNone/>
            </a:pP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print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random.randrange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(0,99))	</a:t>
            </a:r>
            <a:r>
              <a:rPr lang="de-DE" sz="2200" dirty="0">
                <a:sym typeface="Wingdings" panose="05000000000000000000" pitchFamily="2" charset="2"/>
              </a:rPr>
              <a:t> </a:t>
            </a:r>
            <a:r>
              <a:rPr lang="de-DE" sz="2200" dirty="0" err="1">
                <a:sym typeface="Wingdings" panose="05000000000000000000" pitchFamily="2" charset="2"/>
              </a:rPr>
              <a:t>int</a:t>
            </a:r>
            <a:r>
              <a:rPr lang="de-DE" sz="2200" dirty="0">
                <a:sym typeface="Wingdings" panose="05000000000000000000" pitchFamily="2" charset="2"/>
              </a:rPr>
              <a:t>-Zufallszahl 0&lt;= Zahl &lt;  99</a:t>
            </a:r>
          </a:p>
          <a:p>
            <a:pPr marL="0" indent="0">
              <a:buNone/>
            </a:pP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print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random.choice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(["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Ja","Nein","Vielleicht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"]))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sz="1900" dirty="0">
                <a:sym typeface="Wingdings" panose="05000000000000000000" pitchFamily="2" charset="2"/>
              </a:rPr>
              <a:t>Liefert ein zufälliges Element aus einer Liste von Werten (beliebiger Datentyp)</a:t>
            </a:r>
          </a:p>
          <a:p>
            <a:pPr marL="0" indent="0">
              <a:buNone/>
            </a:pP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print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random.shuffle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(liste))</a:t>
            </a:r>
            <a:r>
              <a:rPr lang="de-DE" sz="2200" dirty="0">
                <a:sym typeface="Wingdings" panose="05000000000000000000" pitchFamily="2" charset="2"/>
              </a:rPr>
              <a:t>	 Mischt eine Liste zufällig durch</a:t>
            </a:r>
          </a:p>
        </p:txBody>
      </p:sp>
    </p:spTree>
    <p:extLst>
      <p:ext uri="{BB962C8B-B14F-4D97-AF65-F5344CB8AC3E}">
        <p14:creationId xmlns:p14="http://schemas.microsoft.com/office/powerpoint/2010/main" val="39740829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8026C21-35FF-869B-E525-CB180D8241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5" r="8323"/>
          <a:stretch/>
        </p:blipFill>
        <p:spPr bwMode="auto">
          <a:xfrm>
            <a:off x="7596336" y="4293096"/>
            <a:ext cx="1512168" cy="1558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BF34F16-02C1-52E8-8B66-3F34A1BF8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Anwendungsbereiche von (Pseudo-) Zufallszahlen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296355-AF96-F9F7-F86A-5D0A1169B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600200"/>
            <a:ext cx="8640960" cy="4983162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Nutzung in Spielen (dadurch </a:t>
            </a:r>
            <a:r>
              <a:rPr lang="de-DE" dirty="0" err="1"/>
              <a:t>abwechelungs</a:t>
            </a:r>
            <a:r>
              <a:rPr lang="de-DE" dirty="0"/>
              <a:t>-reicherer Verlauf)</a:t>
            </a:r>
          </a:p>
          <a:p>
            <a:r>
              <a:rPr lang="de-DE" dirty="0">
                <a:solidFill>
                  <a:srgbClr val="002060"/>
                </a:solidFill>
              </a:rPr>
              <a:t>Erzeugung von Testdaten / Dateien</a:t>
            </a:r>
          </a:p>
          <a:p>
            <a:r>
              <a:rPr lang="de-DE" dirty="0"/>
              <a:t>Lösung von statistischen, mathematischen und physikalischen Problemen (z.B. "Welche Augenzahl wird mit 3 </a:t>
            </a:r>
            <a:r>
              <a:rPr lang="de-DE" dirty="0" err="1"/>
              <a:t>sechseitigen</a:t>
            </a:r>
            <a:r>
              <a:rPr lang="de-DE" dirty="0"/>
              <a:t> Würfeln am häufigsten geworfen?") </a:t>
            </a:r>
            <a:r>
              <a:rPr lang="de-DE" dirty="0">
                <a:sym typeface="Wingdings" panose="05000000000000000000" pitchFamily="2" charset="2"/>
              </a:rPr>
              <a:t> Monte-Carlo-Simulationen</a:t>
            </a:r>
          </a:p>
          <a:p>
            <a:r>
              <a:rPr lang="de-DE" dirty="0">
                <a:solidFill>
                  <a:srgbClr val="002060"/>
                </a:solidFill>
              </a:rPr>
              <a:t>Kryptographie </a:t>
            </a:r>
            <a:r>
              <a:rPr lang="de-DE" dirty="0">
                <a:solidFill>
                  <a:srgbClr val="002060"/>
                </a:solidFill>
                <a:sym typeface="Wingdings" panose="05000000000000000000" pitchFamily="2" charset="2"/>
              </a:rPr>
              <a:t> Erzeugung von Schlüsseln</a:t>
            </a:r>
            <a:endParaRPr lang="de-DE" dirty="0">
              <a:solidFill>
                <a:srgbClr val="002060"/>
              </a:solidFill>
            </a:endParaRPr>
          </a:p>
          <a:p>
            <a:r>
              <a:rPr lang="de-DE" dirty="0"/>
              <a:t>Erzeugung von zufälligen Eingabewerten für Softwaretests</a:t>
            </a:r>
          </a:p>
        </p:txBody>
      </p:sp>
    </p:spTree>
    <p:extLst>
      <p:ext uri="{BB962C8B-B14F-4D97-AF65-F5344CB8AC3E}">
        <p14:creationId xmlns:p14="http://schemas.microsoft.com/office/powerpoint/2010/main" val="26833903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C81AEA-E42F-4AE8-9DF6-B097A7B1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Zeitmessung mit </a:t>
            </a:r>
            <a:r>
              <a:rPr lang="de-DE" sz="4000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time.time</a:t>
            </a:r>
            <a:r>
              <a:rPr lang="de-DE" sz="40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</a:t>
            </a:r>
            <a:endParaRPr lang="de-DE" sz="24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6FBD67-6F86-40A5-A402-189451A3F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/>
          </a:bodyPr>
          <a:lstStyle/>
          <a:p>
            <a:r>
              <a:rPr lang="de-DE" sz="2800" dirty="0"/>
              <a:t>Gelegentlich will / muss man die Laufzeit eines Programms / Algorithmus messen. Dies kann man mit der </a:t>
            </a:r>
            <a:r>
              <a:rPr lang="de-DE" sz="24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time.time</a:t>
            </a:r>
            <a:r>
              <a:rPr lang="de-DE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() </a:t>
            </a:r>
            <a:r>
              <a:rPr lang="de-DE" sz="2800" dirty="0"/>
              <a:t>– Methode machen, die uns die die Anzahl der Sekunden seit "</a:t>
            </a:r>
            <a:r>
              <a:rPr lang="de-DE" sz="2800" b="1" dirty="0" err="1"/>
              <a:t>Epoch</a:t>
            </a:r>
            <a:r>
              <a:rPr lang="de-DE" sz="2800" dirty="0"/>
              <a:t>" (0</a:t>
            </a:r>
            <a:r>
              <a:rPr lang="de-DE" sz="2800" b="0" i="0" dirty="0">
                <a:solidFill>
                  <a:srgbClr val="333333"/>
                </a:solidFill>
                <a:effectLst/>
              </a:rPr>
              <a:t>1.01.1970 um 00:00:00 UTC) liefert:</a:t>
            </a:r>
          </a:p>
          <a:p>
            <a:endParaRPr lang="de-DE" sz="28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AA75457-9DAB-4425-8546-0827F5A6C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1" y="3789040"/>
            <a:ext cx="6836885" cy="302433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618913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EF2087-BDEE-A375-68C5-BEFC44B0D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189" y="116632"/>
            <a:ext cx="7925062" cy="1143000"/>
          </a:xfrm>
        </p:spPr>
        <p:txBody>
          <a:bodyPr>
            <a:noAutofit/>
          </a:bodyPr>
          <a:lstStyle/>
          <a:p>
            <a:r>
              <a:rPr lang="de-DE" sz="3600" dirty="0"/>
              <a:t>Weitere Möglichkeiten des Moduls </a:t>
            </a:r>
            <a:r>
              <a:rPr lang="de-DE" sz="3600" b="1" dirty="0"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time</a:t>
            </a:r>
            <a:endParaRPr lang="de-DE" sz="2400" b="1" dirty="0">
              <a:latin typeface="Consolas" panose="020B06090202040302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420084-6BC6-2478-6056-9086B86AA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124744"/>
            <a:ext cx="8784976" cy="5733256"/>
          </a:xfrm>
        </p:spPr>
        <p:txBody>
          <a:bodyPr>
            <a:normAutofit fontScale="85000" lnSpcReduction="20000"/>
          </a:bodyPr>
          <a:lstStyle/>
          <a:p>
            <a:r>
              <a:rPr lang="de-DE" sz="24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time.sleep</a:t>
            </a:r>
            <a:r>
              <a:rPr lang="de-DE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(2.56) </a:t>
            </a:r>
            <a:r>
              <a:rPr lang="de-DE" dirty="0">
                <a:sym typeface="Wingdings" panose="05000000000000000000" pitchFamily="2" charset="2"/>
              </a:rPr>
              <a:t> Wartet 2,56s (praktisch, um den Programmablauf zu verzögern)</a:t>
            </a:r>
            <a:endParaRPr lang="de-DE" dirty="0"/>
          </a:p>
          <a:p>
            <a:r>
              <a:rPr lang="de-DE" sz="24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now</a:t>
            </a:r>
            <a:r>
              <a:rPr lang="de-DE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de-DE" sz="24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time.time</a:t>
            </a:r>
            <a:r>
              <a:rPr lang="de-DE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() </a:t>
            </a:r>
            <a:r>
              <a:rPr lang="de-DE" dirty="0">
                <a:sym typeface="Wingdings" panose="05000000000000000000" pitchFamily="2" charset="2"/>
              </a:rPr>
              <a:t> Liefert den lokalen aktuellen UNIX-Zeitstempel (Sekunden seit "</a:t>
            </a:r>
            <a:r>
              <a:rPr lang="de-DE" dirty="0" err="1">
                <a:sym typeface="Wingdings" panose="05000000000000000000" pitchFamily="2" charset="2"/>
              </a:rPr>
              <a:t>Epoch</a:t>
            </a:r>
            <a:r>
              <a:rPr lang="de-DE" dirty="0">
                <a:sym typeface="Wingdings" panose="05000000000000000000" pitchFamily="2" charset="2"/>
              </a:rPr>
              <a:t>")  siehe vorige Folie, Einheit ist in Sekunden (</a:t>
            </a:r>
            <a:r>
              <a:rPr lang="de-DE" dirty="0" err="1">
                <a:sym typeface="Wingdings" panose="05000000000000000000" pitchFamily="2" charset="2"/>
              </a:rPr>
              <a:t>float</a:t>
            </a:r>
            <a:r>
              <a:rPr lang="de-DE" dirty="0">
                <a:sym typeface="Wingdings" panose="05000000000000000000" pitchFamily="2" charset="2"/>
              </a:rPr>
              <a:t>-Wert)</a:t>
            </a:r>
          </a:p>
          <a:p>
            <a:r>
              <a:rPr lang="de-DE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s = </a:t>
            </a:r>
            <a:r>
              <a:rPr lang="de-DE" sz="24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time.ctime</a:t>
            </a:r>
            <a:r>
              <a:rPr lang="de-DE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de-DE" sz="24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now</a:t>
            </a:r>
            <a:r>
              <a:rPr lang="de-DE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) </a:t>
            </a:r>
            <a:r>
              <a:rPr lang="de-DE" dirty="0">
                <a:sym typeface="Wingdings" panose="05000000000000000000" pitchFamily="2" charset="2"/>
              </a:rPr>
              <a:t> Wandelt die UNIX-Zeit in einen lesbaren String  um: </a:t>
            </a:r>
          </a:p>
          <a:p>
            <a:r>
              <a:rPr lang="de-DE" sz="2400" b="1" dirty="0" err="1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st</a:t>
            </a:r>
            <a:r>
              <a:rPr lang="de-DE" sz="2400" b="1" dirty="0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</a:t>
            </a:r>
            <a:r>
              <a:rPr lang="de-DE" sz="2400" b="1" dirty="0" err="1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time.localtime</a:t>
            </a:r>
            <a:r>
              <a:rPr lang="de-DE" sz="2400" b="1" dirty="0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 </a:t>
            </a:r>
            <a:r>
              <a:rPr lang="de-DE" dirty="0">
                <a:sym typeface="Wingdings" panose="05000000000000000000" pitchFamily="2" charset="2"/>
              </a:rPr>
              <a:t> Erzeugt ein </a:t>
            </a:r>
            <a:r>
              <a:rPr lang="de-DE" dirty="0" err="1">
                <a:sym typeface="Wingdings" panose="05000000000000000000" pitchFamily="2" charset="2"/>
              </a:rPr>
              <a:t>struct_time</a:t>
            </a:r>
            <a:r>
              <a:rPr lang="de-DE" dirty="0">
                <a:sym typeface="Wingdings" panose="05000000000000000000" pitchFamily="2" charset="2"/>
              </a:rPr>
              <a:t>-Objekt mit einzelnen Zeitkomponenten:</a:t>
            </a:r>
            <a:br>
              <a:rPr lang="de-DE" dirty="0">
                <a:sym typeface="Wingdings" panose="05000000000000000000" pitchFamily="2" charset="2"/>
              </a:rPr>
            </a:br>
            <a:endParaRPr lang="de-DE" dirty="0">
              <a:sym typeface="Wingdings" panose="05000000000000000000" pitchFamily="2" charset="2"/>
            </a:endParaRPr>
          </a:p>
          <a:p>
            <a:r>
              <a:rPr lang="de-DE" sz="2400" b="1" dirty="0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 = </a:t>
            </a:r>
            <a:r>
              <a:rPr lang="de-DE" sz="2400" b="1" dirty="0" err="1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time.asctime</a:t>
            </a:r>
            <a:r>
              <a:rPr lang="de-DE" sz="2400" b="1" dirty="0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2400" b="1" dirty="0" err="1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st</a:t>
            </a:r>
            <a:r>
              <a:rPr lang="de-DE" sz="2400" b="1" dirty="0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 </a:t>
            </a:r>
            <a:r>
              <a:rPr lang="de-DE" dirty="0">
                <a:sym typeface="Wingdings" panose="05000000000000000000" pitchFamily="2" charset="2"/>
              </a:rPr>
              <a:t> Wandelt ein </a:t>
            </a:r>
            <a:r>
              <a:rPr lang="de-DE" sz="2600" b="1" dirty="0" err="1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struct_time</a:t>
            </a:r>
            <a:r>
              <a:rPr lang="de-DE" sz="2600" b="1" dirty="0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>
                <a:sym typeface="Wingdings" panose="05000000000000000000" pitchFamily="2" charset="2"/>
              </a:rPr>
              <a:t>Objekt in einen lesebaren String (wie es </a:t>
            </a:r>
            <a:r>
              <a:rPr lang="de-DE" sz="2600" b="1" dirty="0" err="1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ctime</a:t>
            </a:r>
            <a:r>
              <a:rPr lang="de-DE" sz="2600" b="1" dirty="0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 </a:t>
            </a:r>
            <a:r>
              <a:rPr lang="de-DE" dirty="0">
                <a:sym typeface="Wingdings" panose="05000000000000000000" pitchFamily="2" charset="2"/>
              </a:rPr>
              <a:t>mit der Unix-Zeit macht)</a:t>
            </a:r>
            <a:br>
              <a:rPr lang="de-DE" dirty="0">
                <a:sym typeface="Wingdings" panose="05000000000000000000" pitchFamily="2" charset="2"/>
              </a:rPr>
            </a:br>
            <a:r>
              <a:rPr lang="de-DE" sz="2800" i="1" u="sng" dirty="0">
                <a:sym typeface="Wingdings" panose="05000000000000000000" pitchFamily="2" charset="2"/>
              </a:rPr>
              <a:t>Hinweis</a:t>
            </a:r>
            <a:r>
              <a:rPr lang="de-DE" sz="2800" i="1" dirty="0">
                <a:sym typeface="Wingdings" panose="05000000000000000000" pitchFamily="2" charset="2"/>
              </a:rPr>
              <a:t>: mit</a:t>
            </a:r>
            <a:r>
              <a:rPr lang="de-DE" sz="2100" b="1" i="1" dirty="0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sz="2100" b="1" i="1" dirty="0" err="1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time.strftime</a:t>
            </a:r>
            <a:r>
              <a:rPr lang="de-DE" sz="2100" b="1" i="1" dirty="0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("%</a:t>
            </a:r>
            <a:r>
              <a:rPr lang="de-DE" sz="2100" b="1" i="1" dirty="0" err="1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d.%m.%Y</a:t>
            </a:r>
            <a:r>
              <a:rPr lang="de-DE" sz="2100" b="1" i="1" dirty="0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- %H:%M",</a:t>
            </a:r>
            <a:r>
              <a:rPr lang="de-DE" sz="2100" b="1" i="1" dirty="0" err="1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st</a:t>
            </a:r>
            <a:r>
              <a:rPr lang="de-DE" sz="2100" b="1" i="1" dirty="0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 </a:t>
            </a:r>
            <a:r>
              <a:rPr lang="de-DE" sz="2800" i="1" dirty="0">
                <a:sym typeface="Wingdings" panose="05000000000000000000" pitchFamily="2" charset="2"/>
              </a:rPr>
              <a:t>kann man ein </a:t>
            </a:r>
            <a:r>
              <a:rPr lang="de-DE" sz="2100" b="1" i="1" dirty="0" err="1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struct_time</a:t>
            </a:r>
            <a:r>
              <a:rPr lang="de-DE" sz="2100" b="1" i="1" dirty="0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sz="2800" i="1" dirty="0">
                <a:sym typeface="Wingdings" panose="05000000000000000000" pitchFamily="2" charset="2"/>
              </a:rPr>
              <a:t>Objekt in einen selbst definierten String konvertieren, siehe entsprechende Folie im Bereich Datenbanken!</a:t>
            </a:r>
            <a:endParaRPr lang="de-DE" i="1" dirty="0">
              <a:sym typeface="Wingdings" panose="05000000000000000000" pitchFamily="2" charset="2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26AEFBF-055E-EE8E-0407-ACAF7C5DE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3273274"/>
            <a:ext cx="5034107" cy="37174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3E20B0E-F5B1-3C8F-7A62-F7D30E7BD3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"/>
          <a:stretch/>
        </p:blipFill>
        <p:spPr>
          <a:xfrm>
            <a:off x="702828" y="4309844"/>
            <a:ext cx="8117644" cy="46683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F5CB2C8-F5DE-39EE-A897-A1D56BAB2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986" y="6389621"/>
            <a:ext cx="1907704" cy="18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3984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18AD77-01BB-4705-A04B-663854DF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40" y="116632"/>
            <a:ext cx="7431704" cy="1088086"/>
          </a:xfrm>
        </p:spPr>
        <p:txBody>
          <a:bodyPr>
            <a:normAutofit fontScale="90000"/>
          </a:bodyPr>
          <a:lstStyle/>
          <a:p>
            <a:r>
              <a:rPr lang="de-DE" dirty="0"/>
              <a:t>String-Formatierung </a:t>
            </a:r>
            <a:br>
              <a:rPr lang="de-DE" dirty="0"/>
            </a:br>
            <a:r>
              <a:rPr lang="de-DE" dirty="0"/>
              <a:t>mit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f-Strings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868129-B2C6-4D32-A5BD-958DBC9F1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240060"/>
            <a:ext cx="8435280" cy="5544616"/>
          </a:xfrm>
        </p:spPr>
        <p:txBody>
          <a:bodyPr>
            <a:normAutofit fontScale="40000" lnSpcReduction="20000"/>
          </a:bodyPr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b="1" dirty="0"/>
              <a:t>f-Strings</a:t>
            </a:r>
            <a:r>
              <a:rPr lang="de-DE" dirty="0"/>
              <a:t> werden durch ein vorgestelltes </a:t>
            </a:r>
            <a:r>
              <a:rPr lang="de-DE" b="1" dirty="0"/>
              <a:t>f</a:t>
            </a:r>
            <a:r>
              <a:rPr lang="de-DE" dirty="0"/>
              <a:t> deklariert. (Beispiel: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f"Hallo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de-DE" dirty="0" err="1"/>
              <a:t>Plazierung</a:t>
            </a:r>
            <a:r>
              <a:rPr lang="de-DE" dirty="0"/>
              <a:t> und Formatierung der Variablen wird im </a:t>
            </a:r>
            <a:r>
              <a:rPr lang="de-DE" sz="3300" dirty="0"/>
              <a:t>f-String</a:t>
            </a:r>
            <a:r>
              <a:rPr lang="de-DE" dirty="0"/>
              <a:t> mit den bekannten Platzhaltern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{:} </a:t>
            </a:r>
            <a:r>
              <a:rPr lang="de-DE" dirty="0"/>
              <a:t>festgelegt, vorbei der Name der Variable direkt im String vor dem "</a:t>
            </a:r>
            <a:r>
              <a:rPr lang="de-DE" b="1" dirty="0"/>
              <a:t>:"</a:t>
            </a:r>
            <a:r>
              <a:rPr lang="de-DE" dirty="0"/>
              <a:t> und die Formatierungscodes nach dem "</a:t>
            </a:r>
            <a:r>
              <a:rPr lang="de-DE" b="1" dirty="0"/>
              <a:t>:"</a:t>
            </a:r>
            <a:r>
              <a:rPr lang="de-DE" dirty="0"/>
              <a:t> stehen.</a:t>
            </a:r>
          </a:p>
          <a:p>
            <a:pPr marL="0" indent="0" defTabSz="717550">
              <a:buNone/>
            </a:pPr>
            <a:r>
              <a:rPr lang="de-DE" b="1" dirty="0"/>
              <a:t>	{name:25}		</a:t>
            </a:r>
            <a:r>
              <a:rPr lang="de-DE" b="1" dirty="0">
                <a:sym typeface="Wingdings" panose="05000000000000000000" pitchFamily="2" charset="2"/>
              </a:rPr>
              <a:t> </a:t>
            </a:r>
            <a:r>
              <a:rPr lang="de-DE" sz="3300" dirty="0">
                <a:sym typeface="Wingdings" panose="05000000000000000000" pitchFamily="2" charset="2"/>
              </a:rPr>
              <a:t>Variable</a:t>
            </a:r>
            <a:r>
              <a:rPr lang="de-DE" b="1" dirty="0">
                <a:sym typeface="Wingdings" panose="05000000000000000000" pitchFamily="2" charset="2"/>
              </a:rPr>
              <a:t> </a:t>
            </a:r>
            <a:r>
              <a:rPr lang="de-DE" b="1" dirty="0" err="1">
                <a:sym typeface="Wingdings" panose="05000000000000000000" pitchFamily="2" charset="2"/>
              </a:rPr>
              <a:t>name</a:t>
            </a:r>
            <a:r>
              <a:rPr lang="de-DE" sz="3300" dirty="0">
                <a:sym typeface="Wingdings" panose="05000000000000000000" pitchFamily="2" charset="2"/>
              </a:rPr>
              <a:t>, 25 Stellen breit</a:t>
            </a:r>
            <a:br>
              <a:rPr lang="de-DE" b="1" dirty="0"/>
            </a:br>
            <a:r>
              <a:rPr lang="de-DE" b="1" dirty="0"/>
              <a:t>	{stk:4d}</a:t>
            </a:r>
            <a:r>
              <a:rPr lang="de-DE" dirty="0"/>
              <a:t> 		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Variable </a:t>
            </a:r>
            <a:r>
              <a:rPr lang="de-DE" b="1" dirty="0" err="1"/>
              <a:t>stk</a:t>
            </a:r>
            <a:r>
              <a:rPr lang="de-DE" dirty="0"/>
              <a:t>, Ganzzahl 4 Stellen</a:t>
            </a:r>
          </a:p>
          <a:p>
            <a:pPr marL="0" indent="0" defTabSz="717550">
              <a:buNone/>
            </a:pPr>
            <a:r>
              <a:rPr lang="de-DE" b="1" dirty="0"/>
              <a:t>	{plz:05d}</a:t>
            </a:r>
            <a:r>
              <a:rPr lang="de-DE" dirty="0"/>
              <a:t> 		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Variable </a:t>
            </a:r>
            <a:r>
              <a:rPr lang="de-DE" b="1" dirty="0" err="1"/>
              <a:t>plz</a:t>
            </a:r>
            <a:r>
              <a:rPr lang="de-DE" dirty="0"/>
              <a:t>, 5 Stellen Integer mit führenden Nullen</a:t>
            </a:r>
          </a:p>
          <a:p>
            <a:pPr marL="0" indent="0" defTabSz="717550">
              <a:buNone/>
            </a:pPr>
            <a:r>
              <a:rPr lang="de-DE" b="1" dirty="0"/>
              <a:t>	{preis:8.2f} €	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Variable </a:t>
            </a:r>
            <a:r>
              <a:rPr lang="de-DE" b="1" dirty="0"/>
              <a:t>preis</a:t>
            </a:r>
            <a:r>
              <a:rPr lang="de-DE" dirty="0"/>
              <a:t>, 8 Stellen, Fließkomma mit 2 Nachkommastellen und €-Zeichen</a:t>
            </a:r>
          </a:p>
          <a:p>
            <a:pPr marL="0" indent="0" defTabSz="717550">
              <a:buNone/>
            </a:pPr>
            <a:r>
              <a:rPr lang="de-DE" b="1" dirty="0"/>
              <a:t>	{</a:t>
            </a:r>
            <a:r>
              <a:rPr lang="de-DE" b="1" dirty="0" err="1"/>
              <a:t>nr</a:t>
            </a:r>
            <a:r>
              <a:rPr lang="de-DE" b="1" dirty="0"/>
              <a:t>:&lt;10d}		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Variable </a:t>
            </a:r>
            <a:r>
              <a:rPr lang="de-DE" b="1" dirty="0" err="1"/>
              <a:t>nr</a:t>
            </a:r>
            <a:r>
              <a:rPr lang="de-DE" dirty="0"/>
              <a:t>, 10 Stellen linksbündig, </a:t>
            </a:r>
            <a:r>
              <a:rPr lang="de-DE" dirty="0" err="1"/>
              <a:t>Int</a:t>
            </a:r>
            <a:endParaRPr lang="de-DE" dirty="0"/>
          </a:p>
          <a:p>
            <a:pPr marL="0" indent="0" defTabSz="717550">
              <a:buNone/>
            </a:pPr>
            <a:r>
              <a:rPr lang="de-DE" b="1" dirty="0"/>
              <a:t>	{</a:t>
            </a:r>
            <a:r>
              <a:rPr lang="de-DE" b="1" dirty="0" err="1"/>
              <a:t>nr</a:t>
            </a:r>
            <a:r>
              <a:rPr lang="de-DE" b="1" dirty="0"/>
              <a:t>:&gt;10d}		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Variable </a:t>
            </a:r>
            <a:r>
              <a:rPr lang="de-DE" b="1" dirty="0" err="1"/>
              <a:t>nr</a:t>
            </a:r>
            <a:r>
              <a:rPr lang="de-DE" dirty="0"/>
              <a:t>, 10 Stellen rechtsbündig, </a:t>
            </a:r>
            <a:r>
              <a:rPr lang="de-DE" dirty="0" err="1"/>
              <a:t>Int</a:t>
            </a:r>
            <a:endParaRPr lang="de-DE" dirty="0"/>
          </a:p>
          <a:p>
            <a:pPr marL="0" indent="0" defTabSz="717550">
              <a:buNone/>
            </a:pPr>
            <a:r>
              <a:rPr lang="de-DE" b="1" dirty="0"/>
              <a:t>	{masse:12,.3f}	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Variable </a:t>
            </a:r>
            <a:r>
              <a:rPr lang="de-DE" b="1" dirty="0" err="1"/>
              <a:t>masse</a:t>
            </a:r>
            <a:r>
              <a:rPr lang="de-DE" dirty="0"/>
              <a:t>, 12 Stellen Fließkomma, 1.000er-Trennung, 3 Nachkomma</a:t>
            </a:r>
          </a:p>
          <a:p>
            <a:pPr marL="0" indent="0" defTabSz="717550">
              <a:buNone/>
            </a:pPr>
            <a:r>
              <a:rPr lang="de-DE" b="1" dirty="0"/>
              <a:t>	{addr:4x}		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Variable </a:t>
            </a:r>
            <a:r>
              <a:rPr lang="de-DE" b="1" dirty="0" err="1"/>
              <a:t>addr</a:t>
            </a:r>
            <a:r>
              <a:rPr lang="de-DE" dirty="0"/>
              <a:t>, Integer als Hexadezimal, 4 Stellen</a:t>
            </a:r>
          </a:p>
          <a:p>
            <a:pPr marL="0" indent="0" defTabSz="717550">
              <a:buNone/>
            </a:pPr>
            <a:r>
              <a:rPr lang="de-DE" b="1" dirty="0"/>
              <a:t>	{addr:16b}	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Variable </a:t>
            </a:r>
            <a:r>
              <a:rPr lang="de-DE" b="1" dirty="0" err="1"/>
              <a:t>addr</a:t>
            </a:r>
            <a:r>
              <a:rPr lang="de-DE" dirty="0"/>
              <a:t>, Integer als 16Bit Binärzahl</a:t>
            </a:r>
            <a:endParaRPr lang="de-DE" b="1" dirty="0"/>
          </a:p>
          <a:p>
            <a:pPr marL="0" indent="0" defTabSz="717550">
              <a:buNone/>
            </a:pPr>
            <a:r>
              <a:rPr lang="de-DE" b="1" dirty="0"/>
              <a:t>	{rabatt:.2%}</a:t>
            </a:r>
            <a:r>
              <a:rPr lang="de-DE" dirty="0"/>
              <a:t>	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Variable </a:t>
            </a:r>
            <a:r>
              <a:rPr lang="de-DE" b="1" dirty="0" err="1"/>
              <a:t>rabatt</a:t>
            </a:r>
            <a:r>
              <a:rPr lang="de-DE" dirty="0"/>
              <a:t>, 2 Nachkomma mit %, mit 100 multipliziert</a:t>
            </a:r>
          </a:p>
          <a:p>
            <a:pPr marL="0" indent="0" defTabSz="717550">
              <a:buNone/>
            </a:pPr>
            <a:r>
              <a:rPr lang="de-DE" b="1" dirty="0"/>
              <a:t>	{</a:t>
            </a:r>
            <a:r>
              <a:rPr lang="de-DE" b="1" dirty="0" err="1"/>
              <a:t>ort</a:t>
            </a:r>
            <a:r>
              <a:rPr lang="de-DE" b="1" dirty="0"/>
              <a:t>:^16s}</a:t>
            </a:r>
            <a:r>
              <a:rPr lang="de-DE" dirty="0"/>
              <a:t>		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Variable </a:t>
            </a:r>
            <a:r>
              <a:rPr lang="de-DE" b="1" dirty="0" err="1"/>
              <a:t>ort</a:t>
            </a:r>
            <a:r>
              <a:rPr lang="de-DE" dirty="0"/>
              <a:t>, 16 stelliger String zentriert</a:t>
            </a:r>
          </a:p>
          <a:p>
            <a:pPr marL="0" indent="0" defTabSz="717550">
              <a:buNone/>
            </a:pPr>
            <a:r>
              <a:rPr lang="de-DE" b="1" dirty="0"/>
              <a:t>	{dist:10e}	km	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Variable </a:t>
            </a:r>
            <a:r>
              <a:rPr lang="de-DE" b="1" dirty="0" err="1"/>
              <a:t>dist</a:t>
            </a:r>
            <a:r>
              <a:rPr lang="de-DE" dirty="0"/>
              <a:t>, 10 stellige Exponentialzahl (wissenschaftliche Darstellung)</a:t>
            </a:r>
          </a:p>
          <a:p>
            <a:pPr marL="0" indent="0" defTabSz="717550">
              <a:buNone/>
            </a:pPr>
            <a:r>
              <a:rPr lang="de-DE" b="1" dirty="0"/>
              <a:t>	{verbrauch:.2f} kWh	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Variable </a:t>
            </a:r>
            <a:r>
              <a:rPr lang="de-DE" b="1" dirty="0"/>
              <a:t>verbrauch</a:t>
            </a:r>
            <a:r>
              <a:rPr lang="de-DE" dirty="0"/>
              <a:t>, Fließkomma mit 2 Nachkommastellen, mit Einheit kWh</a:t>
            </a:r>
          </a:p>
          <a:p>
            <a:pPr marL="0" indent="0" defTabSz="717550">
              <a:buNone/>
            </a:pPr>
            <a:r>
              <a:rPr lang="de-DE" b="1" dirty="0"/>
              <a:t>	{</a:t>
            </a:r>
            <a:r>
              <a:rPr lang="de-DE" b="1" dirty="0" err="1"/>
              <a:t>ucode:c</a:t>
            </a:r>
            <a:r>
              <a:rPr lang="de-DE" b="1" dirty="0"/>
              <a:t>}		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Variable </a:t>
            </a:r>
            <a:r>
              <a:rPr lang="de-DE" b="1" dirty="0" err="1"/>
              <a:t>ucode</a:t>
            </a:r>
            <a:r>
              <a:rPr lang="de-DE" dirty="0"/>
              <a:t>, Integer konvertiert in das entsprechende Unicode-Zeichen</a:t>
            </a:r>
            <a:endParaRPr lang="de-DE" b="1" dirty="0"/>
          </a:p>
          <a:p>
            <a:pPr marL="0" indent="0" algn="ctr">
              <a:buNone/>
            </a:pPr>
            <a:r>
              <a:rPr lang="de-DE" sz="2500" dirty="0"/>
              <a:t>Alle Formatierungsplatzhalter-Codes unter </a:t>
            </a:r>
            <a:r>
              <a:rPr lang="de-DE" sz="2500" dirty="0">
                <a:hlinkClick r:id="rId2"/>
              </a:rPr>
              <a:t>https://docs.python.org/3/library/string.html#format-specification-mini-language</a:t>
            </a:r>
            <a:r>
              <a:rPr lang="de-DE" sz="2500" dirty="0"/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FCA27B6-552F-9AC7-5CF0-4BA326483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11" y="1176199"/>
            <a:ext cx="7863753" cy="200825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439925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336D5B-9327-4DF5-B11A-A907B294D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Mit </a:t>
            </a:r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/>
              <a:t> zusätzliche </a:t>
            </a:r>
            <a:br>
              <a:rPr lang="de-DE"/>
            </a:br>
            <a:r>
              <a:rPr lang="de-DE"/>
              <a:t>Python-Module nutzen - Teil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740EC4-1E08-4491-A6DA-BD28DD5CC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600200"/>
            <a:ext cx="8712968" cy="5141168"/>
          </a:xfrm>
        </p:spPr>
        <p:txBody>
          <a:bodyPr>
            <a:normAutofit fontScale="77500" lnSpcReduction="20000"/>
          </a:bodyPr>
          <a:lstStyle/>
          <a:p>
            <a:r>
              <a:rPr lang="de-DE" dirty="0"/>
              <a:t>Python kann "von Haus aus" schon sehr viel: Arithmetik (=Rechnen), Listen, Ein- und Ausgabe auf dem Bildschirm, </a:t>
            </a:r>
            <a:r>
              <a:rPr lang="de-DE" dirty="0" err="1"/>
              <a:t>for</a:t>
            </a:r>
            <a:r>
              <a:rPr lang="de-DE" dirty="0"/>
              <a:t>-Schleifen, </a:t>
            </a:r>
            <a:r>
              <a:rPr lang="de-DE" dirty="0" err="1"/>
              <a:t>if</a:t>
            </a:r>
            <a:r>
              <a:rPr lang="de-DE" dirty="0"/>
              <a:t>-Verzweigungen u.v.a.m.</a:t>
            </a:r>
          </a:p>
          <a:p>
            <a:r>
              <a:rPr lang="de-DE" dirty="0"/>
              <a:t>Für weitere Funktionalität kann man externe Module einbinden (z.B. </a:t>
            </a:r>
            <a:r>
              <a:rPr lang="de-DE" dirty="0" err="1"/>
              <a:t>Timer</a:t>
            </a:r>
            <a:r>
              <a:rPr lang="de-DE" dirty="0"/>
              <a:t>, höhere Mathematik oder Zufallszahlen). Viele Module sind schon vorinstalliert, andere müssen mit </a:t>
            </a:r>
            <a:r>
              <a:rPr lang="de-DE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pip</a:t>
            </a:r>
            <a:r>
              <a:rPr lang="de-DE" dirty="0"/>
              <a:t> installiert werden, bevor man sie verwenden kann</a:t>
            </a:r>
          </a:p>
          <a:p>
            <a:r>
              <a:rPr lang="de-DE" dirty="0"/>
              <a:t>Durch die riesige Auswahl an Modulen (siehe </a:t>
            </a:r>
            <a:r>
              <a:rPr lang="de-DE" b="1" dirty="0"/>
              <a:t>pypi.org</a:t>
            </a:r>
            <a:r>
              <a:rPr lang="de-DE" dirty="0"/>
              <a:t>) ist Python fast unbegrenzt erweiterbar vielfältig nutzbar</a:t>
            </a:r>
          </a:p>
          <a:p>
            <a:r>
              <a:rPr lang="de-DE" dirty="0"/>
              <a:t>Das Verwenden der Module, beziehungsweise deren Funktionen (auch Methoden genannt) erfolgt mit dem Befehl </a:t>
            </a:r>
            <a:r>
              <a:rPr lang="de-DE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endParaRPr lang="de-DE" sz="3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/>
              <a:t>Den </a:t>
            </a:r>
            <a:r>
              <a:rPr lang="de-DE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dirty="0"/>
              <a:t> – Befehl schreibt der Programmierer üblicherweise relativ weit oben im Programmcode und kann auf 3 verschiedene Arten verwendet werden:</a:t>
            </a:r>
          </a:p>
        </p:txBody>
      </p:sp>
    </p:spTree>
    <p:extLst>
      <p:ext uri="{BB962C8B-B14F-4D97-AF65-F5344CB8AC3E}">
        <p14:creationId xmlns:p14="http://schemas.microsoft.com/office/powerpoint/2010/main" val="42637298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336D5B-9327-4DF5-B11A-A907B294D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Mit </a:t>
            </a:r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/>
              <a:t> zusätzliche </a:t>
            </a:r>
            <a:br>
              <a:rPr lang="de-DE"/>
            </a:br>
            <a:r>
              <a:rPr lang="de-DE"/>
              <a:t>Python-Module nutzen - Teil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740EC4-1E08-4491-A6DA-BD28DD5CC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638"/>
            <a:ext cx="9144000" cy="5440362"/>
          </a:xfrm>
        </p:spPr>
        <p:txBody>
          <a:bodyPr>
            <a:normAutofit fontScale="55000" lnSpcReduction="20000"/>
          </a:bodyPr>
          <a:lstStyle/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modulname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dirty="0"/>
              <a:t>Dadurch können alle Funktionen des Moduls verwendet werden, die Funktionen werden durch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modulname.funktion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dirty="0"/>
              <a:t>aufgerufen, Beispiel:</a:t>
            </a:r>
            <a:br>
              <a:rPr lang="de-DE" dirty="0"/>
            </a:b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b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b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 = </a:t>
            </a: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random.randint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(1, 100)</a:t>
            </a:r>
            <a:b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(z))</a:t>
            </a:r>
            <a:endParaRPr lang="de-DE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de-DE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modulname</a:t>
            </a:r>
            <a: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de-DE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de-DE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funktion</a:t>
            </a:r>
            <a: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dirty="0"/>
              <a:t>Dadurch wird nur eine einzige bzw. einzelne Funktion(en) eines Moduls importiert, diese können dann ohne Erwähnung des Modulnamens verwendet werden:</a:t>
            </a:r>
            <a:br>
              <a:rPr lang="de-DE" dirty="0"/>
            </a:b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</a:t>
            </a:r>
            <a:b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randint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seed</a:t>
            </a:r>
            <a:b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seed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(100)</a:t>
            </a:r>
            <a:b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randint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(0, 1000))</a:t>
            </a:r>
            <a: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de-DE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de-DE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modulname</a:t>
            </a:r>
            <a: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de-DE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b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300" dirty="0"/>
              <a:t>Radikalverfahren, importiert </a:t>
            </a:r>
            <a:r>
              <a:rPr lang="de-DE" sz="3300" b="1" dirty="0"/>
              <a:t>alle</a:t>
            </a:r>
            <a:r>
              <a:rPr lang="de-DE" sz="3300" dirty="0"/>
              <a:t> Funktionen eines Moduls, die dann ohne Erwähnung des Moduls genutzt werden können:</a:t>
            </a:r>
            <a:br>
              <a:rPr lang="de-DE" sz="3300" dirty="0"/>
            </a:br>
            <a:r>
              <a:rPr lang="de-DE" sz="3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de-DE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br>
              <a:rPr lang="de-DE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(sin(</a:t>
            </a:r>
            <a:r>
              <a:rPr lang="de-DE" sz="3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</a:t>
            </a:r>
            <a:r>
              <a:rPr lang="de-DE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)+cos(</a:t>
            </a:r>
            <a:r>
              <a:rPr lang="de-DE" sz="3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</a:t>
            </a:r>
            <a:r>
              <a:rPr lang="de-DE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)+tan(</a:t>
            </a:r>
            <a:r>
              <a:rPr lang="de-DE" sz="3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</a:t>
            </a:r>
            <a:r>
              <a:rPr lang="de-DE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)+</a:t>
            </a:r>
            <a:r>
              <a:rPr lang="de-DE" sz="3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de-DE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3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</a:t>
            </a:r>
            <a:r>
              <a:rPr lang="de-DE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3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</a:t>
            </a:r>
            <a:r>
              <a:rPr lang="de-DE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endParaRPr lang="de-DE" sz="3300" dirty="0"/>
          </a:p>
          <a:p>
            <a:r>
              <a:rPr lang="de-DE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de-DE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modulname</a:t>
            </a:r>
            <a: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de-DE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&lt;alias&gt;</a:t>
            </a:r>
            <a:b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dirty="0"/>
              <a:t>Dadurch kann man ein Modul unter einem selbstgewählten "Aliasnamen" importieren und diesen dann im Code verwenden:</a:t>
            </a:r>
            <a:br>
              <a:rPr lang="de-DE" dirty="0"/>
            </a:b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b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de-DE" sz="3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r.randseed</a:t>
            </a:r>
            <a:r>
              <a:rPr lang="de-DE" sz="3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(1,6))</a:t>
            </a:r>
          </a:p>
        </p:txBody>
      </p:sp>
    </p:spTree>
    <p:extLst>
      <p:ext uri="{BB962C8B-B14F-4D97-AF65-F5344CB8AC3E}">
        <p14:creationId xmlns:p14="http://schemas.microsoft.com/office/powerpoint/2010/main" val="21741253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79A4E-40FD-7949-9B46-0AF8603F1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124280"/>
            <a:ext cx="7283152" cy="1143000"/>
          </a:xfrm>
        </p:spPr>
        <p:txBody>
          <a:bodyPr/>
          <a:lstStyle/>
          <a:p>
            <a:r>
              <a:rPr lang="de-DE" dirty="0"/>
              <a:t>Python Module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2CCA8C-DD43-4A47-ADEA-96A787F9D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4744"/>
            <a:ext cx="9144000" cy="5733256"/>
          </a:xfrm>
        </p:spPr>
        <p:txBody>
          <a:bodyPr>
            <a:normAutofit fontScale="70000" lnSpcReduction="20000"/>
          </a:bodyPr>
          <a:lstStyle/>
          <a:p>
            <a:r>
              <a:rPr lang="de-DE" sz="2000" dirty="0"/>
              <a:t>Module importieren mit </a:t>
            </a:r>
            <a:r>
              <a:rPr lang="de-DE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&lt;Modulname&gt; oder </a:t>
            </a:r>
            <a:r>
              <a:rPr lang="de-DE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&lt;Modulname&gt; </a:t>
            </a:r>
            <a:r>
              <a:rPr lang="de-DE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DE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&lt;Abkürzung&gt;</a:t>
            </a:r>
            <a:endParaRPr lang="de-DE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de-DE" sz="1800" dirty="0"/>
              <a:t>z.B. 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</a:t>
            </a:r>
          </a:p>
          <a:p>
            <a:r>
              <a:rPr lang="de-DE" sz="2000" dirty="0"/>
              <a:t>Einzelfunktion/Methode importieren mit </a:t>
            </a:r>
            <a:r>
              <a:rPr lang="de-DE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de-DE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modul</a:t>
            </a:r>
            <a:r>
              <a:rPr lang="de-DE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de-DE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de-DE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methode</a:t>
            </a:r>
            <a:r>
              <a:rPr lang="de-DE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/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Beispiel: 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de-DE" sz="2400" dirty="0"/>
              <a:t>Wichtige Module</a:t>
            </a:r>
          </a:p>
          <a:p>
            <a:pPr lvl="1"/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de-DE" sz="1800" dirty="0"/>
              <a:t> Mathematische Funktionen wie 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sin(), 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(), log(), 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800" dirty="0"/>
              <a:t>usw.</a:t>
            </a:r>
          </a:p>
          <a:p>
            <a:pPr lvl="1"/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800" dirty="0"/>
              <a:t>Pseudo-Zufallszahlen</a:t>
            </a:r>
          </a:p>
          <a:p>
            <a:pPr lvl="1"/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pickle</a:t>
            </a:r>
            <a:r>
              <a:rPr lang="de-DE" sz="1800" dirty="0"/>
              <a:t> Erlaubt das Abspeichern von Daten (Listen, Tupel, </a:t>
            </a:r>
            <a:r>
              <a:rPr lang="de-DE" sz="1800" dirty="0" err="1"/>
              <a:t>Dictionaries</a:t>
            </a:r>
            <a:r>
              <a:rPr lang="de-DE" sz="1800" dirty="0"/>
              <a:t>…)</a:t>
            </a:r>
          </a:p>
          <a:p>
            <a:pPr lvl="1"/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</a:t>
            </a:r>
            <a:r>
              <a:rPr lang="de-DE" sz="1800" dirty="0"/>
              <a:t> Systemfunktionen (andere Programme ausführen, Dateioperationen)</a:t>
            </a:r>
          </a:p>
          <a:p>
            <a:pPr lvl="1"/>
            <a:r>
              <a:rPr lang="de-DE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r>
              <a:rPr lang="de-DE" sz="1800" dirty="0"/>
              <a:t> Liefert Informationen über das OS, Textcodierung, Pfade und Verzeichnisnamen, Prozessmanagement etc. </a:t>
            </a:r>
          </a:p>
          <a:p>
            <a:pPr lvl="1"/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de-DE" sz="1800" dirty="0"/>
              <a:t> liefert Zeit/Datum und Berechnungsfunktionen für Zeit/Datumswerte</a:t>
            </a:r>
          </a:p>
          <a:p>
            <a:pPr lvl="1"/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decimal</a:t>
            </a:r>
            <a:r>
              <a:rPr lang="de-DE" sz="1800" dirty="0"/>
              <a:t> Fließkomma-Rechenoperationen mit beliebiger Genauigkeit</a:t>
            </a:r>
          </a:p>
          <a:p>
            <a:pPr lvl="1"/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</a:t>
            </a:r>
            <a:r>
              <a:rPr lang="de-DE" sz="1800" dirty="0"/>
              <a:t> Zugriff auf </a:t>
            </a:r>
            <a:r>
              <a:rPr lang="de-DE" sz="1800" dirty="0" err="1"/>
              <a:t>csv</a:t>
            </a:r>
            <a:r>
              <a:rPr lang="de-DE" sz="1800" dirty="0"/>
              <a:t>-Datenstrukturen</a:t>
            </a:r>
          </a:p>
          <a:p>
            <a:pPr lvl="1"/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de-DE" sz="1800" dirty="0"/>
              <a:t> Zugriff auf </a:t>
            </a:r>
            <a:r>
              <a:rPr lang="de-DE" sz="1800" dirty="0" err="1"/>
              <a:t>json</a:t>
            </a:r>
            <a:r>
              <a:rPr lang="de-DE" sz="1800" dirty="0"/>
              <a:t> Datenstrukturen</a:t>
            </a:r>
          </a:p>
          <a:p>
            <a:pPr lvl="1"/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sqlite3</a:t>
            </a:r>
            <a:r>
              <a:rPr lang="de-DE" sz="1800" dirty="0"/>
              <a:t> Komplette, weitgehend SQL-kompatible und lokale Datenbank zur Verwendung in Python</a:t>
            </a:r>
          </a:p>
          <a:p>
            <a:pPr lvl="1"/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turtle</a:t>
            </a:r>
            <a:r>
              <a:rPr lang="de-DE" sz="1800" dirty="0"/>
              <a:t> Grafikmodul für "Turtle"-Grafiken</a:t>
            </a:r>
          </a:p>
          <a:p>
            <a:pPr lvl="1"/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secrets</a:t>
            </a:r>
            <a:r>
              <a:rPr lang="de-DE" sz="1800" dirty="0"/>
              <a:t> Generiert Zufallszahlen tauglich für Kryptografie</a:t>
            </a:r>
          </a:p>
          <a:p>
            <a:pPr lvl="1"/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de-DE" sz="1800" dirty="0"/>
              <a:t> Grafische Benutzeroberflächen </a:t>
            </a:r>
            <a:r>
              <a:rPr lang="de-DE" sz="1800"/>
              <a:t>mit Python</a:t>
            </a:r>
            <a:endParaRPr lang="de-DE" sz="1800" dirty="0"/>
          </a:p>
          <a:p>
            <a:pPr lvl="1"/>
            <a:r>
              <a:rPr lang="de-DE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mariadb</a:t>
            </a:r>
            <a:r>
              <a:rPr lang="de-DE" sz="1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Zugriff auf </a:t>
            </a:r>
            <a:r>
              <a:rPr lang="de-DE" sz="19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MariaDB</a:t>
            </a:r>
            <a:r>
              <a:rPr lang="de-DE" sz="1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und MySQL-Datenbanken</a:t>
            </a:r>
          </a:p>
          <a:p>
            <a:pPr lvl="1"/>
            <a:r>
              <a:rPr lang="de-DE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de-DE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Ermöglicht die Auswertung und Darstellung von Zahlen </a:t>
            </a:r>
          </a:p>
          <a:p>
            <a:pPr lvl="1"/>
            <a:r>
              <a:rPr lang="de-DE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requests</a:t>
            </a:r>
            <a:r>
              <a:rPr lang="de-DE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erlaubt den einfachen Zugriff auf Web-APIs</a:t>
            </a:r>
          </a:p>
          <a:p>
            <a:pPr lvl="1"/>
            <a:r>
              <a:rPr lang="de-DE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de-DE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Schnelle und speichersparende Arrays </a:t>
            </a:r>
            <a:r>
              <a:rPr lang="de-DE" sz="1800" dirty="0">
                <a:solidFill>
                  <a:schemeClr val="tx2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www.numpy.org</a:t>
            </a:r>
            <a:r>
              <a:rPr lang="de-DE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/>
            <a:r>
              <a:rPr lang="de-DE" sz="19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de-DE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Sehr populäres Modul zum Einlesen und Auswerten von Tabellendaten. Stellt den Datentyp </a:t>
            </a:r>
            <a:r>
              <a:rPr lang="de-DE" sz="19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de-DE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(Tabellenobjekt) zur Verfügung, arbeitet gut mit </a:t>
            </a:r>
            <a:r>
              <a:rPr lang="de-DE" sz="19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de-DE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und </a:t>
            </a:r>
            <a:r>
              <a:rPr lang="de-DE" sz="19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de-DE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zusammen</a:t>
            </a:r>
          </a:p>
          <a:p>
            <a:pPr lvl="1"/>
            <a:r>
              <a:rPr lang="de-DE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de-DE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de-DE" sz="18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Jupyter</a:t>
            </a:r>
            <a:r>
              <a:rPr lang="de-DE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-Notebook Weboberfläche zum Entwickeln und Lernen von Python, Schwerpunkt Zahlenanalyse</a:t>
            </a:r>
          </a:p>
          <a:p>
            <a:r>
              <a:rPr lang="de-DE" sz="2200" dirty="0"/>
              <a:t>Installation eines Moduls unter </a:t>
            </a:r>
            <a:r>
              <a:rPr lang="de-DE" sz="2200" dirty="0" err="1"/>
              <a:t>cmd</a:t>
            </a:r>
            <a:r>
              <a:rPr lang="de-DE" sz="2200" dirty="0"/>
              <a:t> mit 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pip3 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&lt;Modulname&gt; </a:t>
            </a:r>
            <a:r>
              <a:rPr lang="de-DE" sz="2100" dirty="0"/>
              <a:t>oder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python -m pip install &lt;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modulname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de-DE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2200" dirty="0"/>
              <a:t>Für Dokumentation und Beispiele für ein Modul z.B. "</a:t>
            </a:r>
            <a:r>
              <a:rPr lang="de-DE" sz="2200" dirty="0" err="1"/>
              <a:t>python</a:t>
            </a:r>
            <a:r>
              <a:rPr lang="de-DE" sz="2200" dirty="0"/>
              <a:t> </a:t>
            </a:r>
            <a:r>
              <a:rPr lang="de-DE" sz="2200" dirty="0" err="1"/>
              <a:t>modul</a:t>
            </a:r>
            <a:r>
              <a:rPr lang="de-DE" sz="2200" dirty="0"/>
              <a:t> </a:t>
            </a:r>
            <a:r>
              <a:rPr lang="de-DE" sz="2200" dirty="0" err="1"/>
              <a:t>pandas</a:t>
            </a:r>
            <a:r>
              <a:rPr lang="de-DE" sz="2200" dirty="0"/>
              <a:t>" </a:t>
            </a:r>
            <a:r>
              <a:rPr lang="de-DE" sz="2200" dirty="0" err="1"/>
              <a:t>googlen</a:t>
            </a:r>
            <a:endParaRPr lang="de-DE" sz="2200" dirty="0"/>
          </a:p>
        </p:txBody>
      </p:sp>
    </p:spTree>
    <p:extLst>
      <p:ext uri="{BB962C8B-B14F-4D97-AF65-F5344CB8AC3E}">
        <p14:creationId xmlns:p14="http://schemas.microsoft.com/office/powerpoint/2010/main" val="5413287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8842A4-F918-4C6B-89D1-31E282484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IDLE-Shell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90709E-3ADF-48DD-B46C-9D23E0091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91264" cy="5440362"/>
          </a:xfrm>
        </p:spPr>
        <p:txBody>
          <a:bodyPr>
            <a:normAutofit fontScale="77500" lnSpcReduction="20000"/>
          </a:bodyPr>
          <a:lstStyle/>
          <a:p>
            <a:r>
              <a:rPr lang="de-DE" dirty="0"/>
              <a:t>Außer den bereits bekannten Befehlen können Sie in der </a:t>
            </a:r>
            <a:r>
              <a:rPr lang="de-DE" b="1" dirty="0"/>
              <a:t>IDLE-Shell</a:t>
            </a:r>
            <a:r>
              <a:rPr lang="de-DE" dirty="0"/>
              <a:t> die nützlichen Befehle 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de-DE" dirty="0"/>
              <a:t> und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help</a:t>
            </a:r>
            <a:r>
              <a:rPr lang="de-DE" dirty="0"/>
              <a:t> verwenden:</a:t>
            </a:r>
          </a:p>
          <a:p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dir(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modulname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de-DE" dirty="0">
                <a:sym typeface="Wingdings" panose="05000000000000000000" pitchFamily="2" charset="2"/>
              </a:rPr>
              <a:t> zeigt die Funktionen eines Moduls an (Modul vorher mit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import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modulname</a:t>
            </a:r>
            <a:r>
              <a:rPr lang="de-DE" dirty="0">
                <a:sym typeface="Wingdings" panose="05000000000000000000" pitchFamily="2" charset="2"/>
              </a:rPr>
              <a:t> importieren)</a:t>
            </a:r>
            <a:br>
              <a:rPr lang="de-DE" dirty="0">
                <a:sym typeface="Wingdings" panose="05000000000000000000" pitchFamily="2" charset="2"/>
              </a:rPr>
            </a:br>
            <a:r>
              <a:rPr lang="de-DE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import</a:t>
            </a:r>
            <a:r>
              <a:rPr lang="de-DE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random</a:t>
            </a:r>
            <a:br>
              <a:rPr lang="de-DE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</a:br>
            <a:r>
              <a:rPr lang="de-DE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dir(</a:t>
            </a:r>
            <a:r>
              <a:rPr lang="de-DE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random</a:t>
            </a:r>
            <a:r>
              <a:rPr lang="de-DE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</a:t>
            </a:r>
          </a:p>
          <a:p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help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modulname.funktion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 </a:t>
            </a:r>
            <a:r>
              <a:rPr lang="de-DE" dirty="0">
                <a:sym typeface="Wingdings" panose="05000000000000000000" pitchFamily="2" charset="2"/>
              </a:rPr>
              <a:t> Zeigt die Hilfe für eine bestimmte Funktion an</a:t>
            </a:r>
            <a:br>
              <a:rPr lang="de-DE" dirty="0">
                <a:sym typeface="Wingdings" panose="05000000000000000000" pitchFamily="2" charset="2"/>
              </a:rPr>
            </a:br>
            <a:r>
              <a:rPr lang="de-DE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help</a:t>
            </a:r>
            <a:r>
              <a:rPr lang="de-DE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random</a:t>
            </a:r>
            <a:r>
              <a:rPr lang="de-DE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            Modulhilfe</a:t>
            </a:r>
            <a:br>
              <a:rPr lang="de-DE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</a:br>
            <a:r>
              <a:rPr lang="de-DE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help</a:t>
            </a:r>
            <a:r>
              <a:rPr lang="de-DE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random.randint</a:t>
            </a:r>
            <a:r>
              <a:rPr lang="de-DE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    Funktionshilfe</a:t>
            </a:r>
          </a:p>
          <a:p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help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 </a:t>
            </a:r>
            <a:r>
              <a:rPr lang="de-DE" dirty="0">
                <a:sym typeface="Wingdings" panose="05000000000000000000" pitchFamily="2" charset="2"/>
              </a:rPr>
              <a:t> Ruft das interaktive Hilfesystem auf. Danach können weitere Befehle aufgerufen werden, </a:t>
            </a:r>
            <a:r>
              <a:rPr lang="de-DE" dirty="0" err="1">
                <a:sym typeface="Wingdings" panose="05000000000000000000" pitchFamily="2" charset="2"/>
              </a:rPr>
              <a:t>z.b</a:t>
            </a:r>
            <a:r>
              <a:rPr lang="de-DE" dirty="0">
                <a:sym typeface="Wingdings" panose="05000000000000000000" pitchFamily="2" charset="2"/>
              </a:rPr>
              <a:t>:</a:t>
            </a:r>
            <a:br>
              <a:rPr lang="de-DE" dirty="0">
                <a:sym typeface="Wingdings" panose="05000000000000000000" pitchFamily="2" charset="2"/>
              </a:rPr>
            </a:br>
            <a:r>
              <a:rPr lang="de-DE" dirty="0">
                <a:sym typeface="Wingdings" panose="05000000000000000000" pitchFamily="2" charset="2"/>
              </a:rPr>
              <a:t>	</a:t>
            </a:r>
            <a:r>
              <a:rPr lang="de-DE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modules</a:t>
            </a:r>
            <a:r>
              <a:rPr lang="de-DE" dirty="0">
                <a:sym typeface="Wingdings" panose="05000000000000000000" pitchFamily="2" charset="2"/>
              </a:rPr>
              <a:t>    Listet alle installierten Module auf</a:t>
            </a:r>
            <a:br>
              <a:rPr lang="de-DE" dirty="0">
                <a:sym typeface="Wingdings" panose="05000000000000000000" pitchFamily="2" charset="2"/>
              </a:rPr>
            </a:br>
            <a:r>
              <a:rPr lang="de-DE" dirty="0">
                <a:sym typeface="Wingdings" panose="05000000000000000000" pitchFamily="2" charset="2"/>
              </a:rPr>
              <a:t>	</a:t>
            </a:r>
            <a:r>
              <a:rPr lang="de-DE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keywords</a:t>
            </a:r>
            <a:r>
              <a:rPr lang="de-DE" dirty="0">
                <a:sym typeface="Wingdings" panose="05000000000000000000" pitchFamily="2" charset="2"/>
              </a:rPr>
              <a:t>  Listet die Python-Schlüsselwörter auf</a:t>
            </a:r>
          </a:p>
          <a:p>
            <a:r>
              <a:rPr lang="de-DE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import</a:t>
            </a:r>
            <a:r>
              <a:rPr lang="de-DE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this</a:t>
            </a:r>
            <a:r>
              <a:rPr lang="de-DE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>
                <a:sym typeface="Wingdings" panose="05000000000000000000" pitchFamily="2" charset="2"/>
              </a:rPr>
              <a:t> Listet "The Zen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Python" auf (die Python Philosophie)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94063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67FC1E17-67E3-43A8-8110-C25A4BFA7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090" y="4410410"/>
            <a:ext cx="2639334" cy="233095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018AD77-01BB-4705-A04B-663854DF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32" y="197768"/>
            <a:ext cx="7283152" cy="1143000"/>
          </a:xfrm>
        </p:spPr>
        <p:txBody>
          <a:bodyPr>
            <a:normAutofit fontScale="90000"/>
          </a:bodyPr>
          <a:lstStyle/>
          <a:p>
            <a:r>
              <a:rPr lang="de-DE"/>
              <a:t>Unterprogramme </a:t>
            </a:r>
            <a:br>
              <a:rPr lang="de-DE"/>
            </a:br>
            <a:r>
              <a:rPr lang="de-DE"/>
              <a:t>(Prozeduren &amp; Funktionen)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868129-B2C6-4D32-A5BD-958DBC9F1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32" y="1340768"/>
            <a:ext cx="8856984" cy="2673598"/>
          </a:xfrm>
        </p:spPr>
        <p:txBody>
          <a:bodyPr>
            <a:normAutofit fontScale="70000" lnSpcReduction="20000"/>
          </a:bodyPr>
          <a:lstStyle/>
          <a:p>
            <a:r>
              <a:rPr lang="de-DE" dirty="0"/>
              <a:t>Prozeduren &amp; Funktionen sind Unterprogramme, die nicht unmittelbar ausgeführt werden, sondern erst dann, wenn sie mit Ihrem Namen aufgerufen werden. Sie werden mit dem Schlüsselwort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de-DE" dirty="0"/>
              <a:t> definiert.</a:t>
            </a:r>
          </a:p>
          <a:p>
            <a:r>
              <a:rPr lang="de-DE" dirty="0"/>
              <a:t>Ein Unterprogramm, das mit </a:t>
            </a:r>
            <a:r>
              <a:rPr lang="de-DE" sz="3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DE" dirty="0"/>
              <a:t> einen Wert zurückliefert, nennt man eine </a:t>
            </a:r>
            <a:r>
              <a:rPr lang="de-DE" b="1" i="1" dirty="0"/>
              <a:t>Funktion, </a:t>
            </a:r>
            <a:r>
              <a:rPr lang="de-DE" dirty="0"/>
              <a:t>der Funktionsaufruf</a:t>
            </a:r>
            <a:r>
              <a:rPr lang="de-DE" b="1" i="1" dirty="0"/>
              <a:t> </a:t>
            </a:r>
            <a:r>
              <a:rPr lang="de-DE" dirty="0"/>
              <a:t>kann ausgegeben oder einer Variablen zugewiesen werden (siehe unten).</a:t>
            </a:r>
          </a:p>
          <a:p>
            <a:r>
              <a:rPr lang="de-DE" dirty="0"/>
              <a:t>Unterprogramme ohne </a:t>
            </a:r>
            <a:r>
              <a:rPr lang="de-DE" sz="3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DE" dirty="0"/>
              <a:t> nennt man </a:t>
            </a:r>
            <a:r>
              <a:rPr lang="de-DE" b="1" i="1" dirty="0"/>
              <a:t>Prozeduren</a:t>
            </a:r>
            <a:r>
              <a:rPr lang="de-DE" dirty="0"/>
              <a:t>. Sie liefern logischerweise auch keinen Wert zurück.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8" name="Legende: mit gebogener Linie 7">
            <a:extLst>
              <a:ext uri="{FF2B5EF4-FFF2-40B4-BE49-F238E27FC236}">
                <a16:creationId xmlns:a16="http://schemas.microsoft.com/office/drawing/2014/main" id="{62B7851F-D791-4C64-9FA1-C47E1952D868}"/>
              </a:ext>
            </a:extLst>
          </p:cNvPr>
          <p:cNvSpPr/>
          <p:nvPr/>
        </p:nvSpPr>
        <p:spPr>
          <a:xfrm flipH="1">
            <a:off x="748478" y="4014366"/>
            <a:ext cx="2169163" cy="504056"/>
          </a:xfrm>
          <a:prstGeom prst="borderCallout2">
            <a:avLst>
              <a:gd name="adj1" fmla="val 18751"/>
              <a:gd name="adj2" fmla="val -2024"/>
              <a:gd name="adj3" fmla="val 18750"/>
              <a:gd name="adj4" fmla="val -16667"/>
              <a:gd name="adj5" fmla="val 87819"/>
              <a:gd name="adj6" fmla="val -497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Name der Funktion</a:t>
            </a:r>
          </a:p>
        </p:txBody>
      </p:sp>
      <p:sp>
        <p:nvSpPr>
          <p:cNvPr id="9" name="Legende: mit gebogener Linie 8">
            <a:extLst>
              <a:ext uri="{FF2B5EF4-FFF2-40B4-BE49-F238E27FC236}">
                <a16:creationId xmlns:a16="http://schemas.microsoft.com/office/drawing/2014/main" id="{F92EAA4E-08CF-4107-ACF1-E5ACBB7529BC}"/>
              </a:ext>
            </a:extLst>
          </p:cNvPr>
          <p:cNvSpPr/>
          <p:nvPr/>
        </p:nvSpPr>
        <p:spPr>
          <a:xfrm flipH="1">
            <a:off x="748477" y="5233722"/>
            <a:ext cx="2169164" cy="589589"/>
          </a:xfrm>
          <a:prstGeom prst="borderCallout2">
            <a:avLst>
              <a:gd name="adj1" fmla="val 18750"/>
              <a:gd name="adj2" fmla="val -1451"/>
              <a:gd name="adj3" fmla="val 18750"/>
              <a:gd name="adj4" fmla="val -16667"/>
              <a:gd name="adj5" fmla="val 64110"/>
              <a:gd name="adj6" fmla="val -417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Aufruf der Funktion</a:t>
            </a:r>
            <a:br>
              <a:rPr lang="de-DE"/>
            </a:br>
            <a:r>
              <a:rPr lang="de-DE"/>
              <a:t>im Hauptprogramm</a:t>
            </a:r>
          </a:p>
        </p:txBody>
      </p:sp>
      <p:sp>
        <p:nvSpPr>
          <p:cNvPr id="10" name="Legende: mit gebogener Linie 9">
            <a:extLst>
              <a:ext uri="{FF2B5EF4-FFF2-40B4-BE49-F238E27FC236}">
                <a16:creationId xmlns:a16="http://schemas.microsoft.com/office/drawing/2014/main" id="{B6F893B8-5A1A-4F5E-AEF4-DF8B4D84973A}"/>
              </a:ext>
            </a:extLst>
          </p:cNvPr>
          <p:cNvSpPr/>
          <p:nvPr/>
        </p:nvSpPr>
        <p:spPr>
          <a:xfrm>
            <a:off x="5940148" y="4014366"/>
            <a:ext cx="2600325" cy="863556"/>
          </a:xfrm>
          <a:prstGeom prst="borderCallout2">
            <a:avLst>
              <a:gd name="adj1" fmla="val 18030"/>
              <a:gd name="adj2" fmla="val -1396"/>
              <a:gd name="adj3" fmla="val 18750"/>
              <a:gd name="adj4" fmla="val -16667"/>
              <a:gd name="adj5" fmla="val 50697"/>
              <a:gd name="adj6" fmla="val -413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Übergabewert (Argument) - auch mehrere möglich</a:t>
            </a:r>
          </a:p>
        </p:txBody>
      </p:sp>
      <p:sp>
        <p:nvSpPr>
          <p:cNvPr id="11" name="Legende: mit gebogener Linie 10">
            <a:extLst>
              <a:ext uri="{FF2B5EF4-FFF2-40B4-BE49-F238E27FC236}">
                <a16:creationId xmlns:a16="http://schemas.microsoft.com/office/drawing/2014/main" id="{89266E5E-0593-4A7B-91BC-7ED0AB90ABFD}"/>
              </a:ext>
            </a:extLst>
          </p:cNvPr>
          <p:cNvSpPr/>
          <p:nvPr/>
        </p:nvSpPr>
        <p:spPr>
          <a:xfrm>
            <a:off x="5940150" y="5131301"/>
            <a:ext cx="2600325" cy="575523"/>
          </a:xfrm>
          <a:prstGeom prst="borderCallout2">
            <a:avLst>
              <a:gd name="adj1" fmla="val 32801"/>
              <a:gd name="adj2" fmla="val -1396"/>
              <a:gd name="adj3" fmla="val 18750"/>
              <a:gd name="adj4" fmla="val -16667"/>
              <a:gd name="adj5" fmla="val 7806"/>
              <a:gd name="adj6" fmla="val -226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Rückgabe eines Wertes ans Hauptprogramm</a:t>
            </a:r>
          </a:p>
        </p:txBody>
      </p:sp>
      <p:sp>
        <p:nvSpPr>
          <p:cNvPr id="12" name="Legende: mit gebogener Linie 11">
            <a:extLst>
              <a:ext uri="{FF2B5EF4-FFF2-40B4-BE49-F238E27FC236}">
                <a16:creationId xmlns:a16="http://schemas.microsoft.com/office/drawing/2014/main" id="{EC0D6AFF-F312-44B4-971D-D154BC6AC5A1}"/>
              </a:ext>
            </a:extLst>
          </p:cNvPr>
          <p:cNvSpPr/>
          <p:nvPr/>
        </p:nvSpPr>
        <p:spPr>
          <a:xfrm>
            <a:off x="5940148" y="5815107"/>
            <a:ext cx="2600325" cy="359499"/>
          </a:xfrm>
          <a:prstGeom prst="borderCallout2">
            <a:avLst>
              <a:gd name="adj1" fmla="val 30862"/>
              <a:gd name="adj2" fmla="val -1157"/>
              <a:gd name="adj3" fmla="val 18750"/>
              <a:gd name="adj4" fmla="val -16667"/>
              <a:gd name="adj5" fmla="val -25704"/>
              <a:gd name="adj6" fmla="val -403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Argument</a:t>
            </a:r>
          </a:p>
        </p:txBody>
      </p:sp>
      <p:sp>
        <p:nvSpPr>
          <p:cNvPr id="15" name="Legende: mit gebogener Linie 14">
            <a:extLst>
              <a:ext uri="{FF2B5EF4-FFF2-40B4-BE49-F238E27FC236}">
                <a16:creationId xmlns:a16="http://schemas.microsoft.com/office/drawing/2014/main" id="{F5D67E96-D492-4893-9B03-61F4A5100119}"/>
              </a:ext>
            </a:extLst>
          </p:cNvPr>
          <p:cNvSpPr/>
          <p:nvPr/>
        </p:nvSpPr>
        <p:spPr>
          <a:xfrm>
            <a:off x="5940147" y="6284510"/>
            <a:ext cx="2600325" cy="359499"/>
          </a:xfrm>
          <a:prstGeom prst="borderCallout2">
            <a:avLst>
              <a:gd name="adj1" fmla="val 15289"/>
              <a:gd name="adj2" fmla="val -1635"/>
              <a:gd name="adj3" fmla="val 18750"/>
              <a:gd name="adj4" fmla="val -16667"/>
              <a:gd name="adj5" fmla="val 53890"/>
              <a:gd name="adj6" fmla="val -231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Argument</a:t>
            </a:r>
          </a:p>
        </p:txBody>
      </p:sp>
      <p:sp>
        <p:nvSpPr>
          <p:cNvPr id="16" name="Legende: mit gebogener Linie 15">
            <a:extLst>
              <a:ext uri="{FF2B5EF4-FFF2-40B4-BE49-F238E27FC236}">
                <a16:creationId xmlns:a16="http://schemas.microsoft.com/office/drawing/2014/main" id="{4E9B8328-B66C-4475-A814-BA7888D6AB12}"/>
              </a:ext>
            </a:extLst>
          </p:cNvPr>
          <p:cNvSpPr/>
          <p:nvPr/>
        </p:nvSpPr>
        <p:spPr>
          <a:xfrm flipH="1">
            <a:off x="750234" y="6054420"/>
            <a:ext cx="2169164" cy="589589"/>
          </a:xfrm>
          <a:prstGeom prst="borderCallout2">
            <a:avLst>
              <a:gd name="adj1" fmla="val 18750"/>
              <a:gd name="adj2" fmla="val -1737"/>
              <a:gd name="adj3" fmla="val 18750"/>
              <a:gd name="adj4" fmla="val -16667"/>
              <a:gd name="adj5" fmla="val 86266"/>
              <a:gd name="adj6" fmla="val -629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Aufruf der Funktion</a:t>
            </a:r>
            <a:br>
              <a:rPr lang="de-DE"/>
            </a:br>
            <a:r>
              <a:rPr lang="de-DE"/>
              <a:t>im Hauptprogramm</a:t>
            </a:r>
          </a:p>
        </p:txBody>
      </p:sp>
      <p:sp>
        <p:nvSpPr>
          <p:cNvPr id="17" name="Legende: mit gebogener Linie 16">
            <a:extLst>
              <a:ext uri="{FF2B5EF4-FFF2-40B4-BE49-F238E27FC236}">
                <a16:creationId xmlns:a16="http://schemas.microsoft.com/office/drawing/2014/main" id="{8E269461-4864-4367-8C0F-E99303262E38}"/>
              </a:ext>
            </a:extLst>
          </p:cNvPr>
          <p:cNvSpPr/>
          <p:nvPr/>
        </p:nvSpPr>
        <p:spPr>
          <a:xfrm flipH="1">
            <a:off x="748477" y="4634292"/>
            <a:ext cx="2169163" cy="368322"/>
          </a:xfrm>
          <a:prstGeom prst="borderCallout2">
            <a:avLst>
              <a:gd name="adj1" fmla="val 18750"/>
              <a:gd name="adj2" fmla="val -2598"/>
              <a:gd name="adj3" fmla="val 18750"/>
              <a:gd name="adj4" fmla="val -16667"/>
              <a:gd name="adj5" fmla="val 5065"/>
              <a:gd name="adj6" fmla="val -188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de-DE"/>
              <a:t> - Schlüsselwort</a:t>
            </a:r>
          </a:p>
        </p:txBody>
      </p:sp>
    </p:spTree>
    <p:extLst>
      <p:ext uri="{BB962C8B-B14F-4D97-AF65-F5344CB8AC3E}">
        <p14:creationId xmlns:p14="http://schemas.microsoft.com/office/powerpoint/2010/main" val="9226730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18AD77-01BB-4705-A04B-663854DF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32" y="197768"/>
            <a:ext cx="7283152" cy="1143000"/>
          </a:xfrm>
        </p:spPr>
        <p:txBody>
          <a:bodyPr>
            <a:normAutofit fontScale="90000"/>
          </a:bodyPr>
          <a:lstStyle/>
          <a:p>
            <a:r>
              <a:rPr lang="de-DE"/>
              <a:t>Unterprogramme </a:t>
            </a:r>
            <a:br>
              <a:rPr lang="de-DE"/>
            </a:br>
            <a:r>
              <a:rPr lang="de-DE"/>
              <a:t>(Prozeduren &amp; Funktionen)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868129-B2C6-4D32-A5BD-958DBC9F1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340768"/>
            <a:ext cx="7283152" cy="5400600"/>
          </a:xfrm>
        </p:spPr>
        <p:txBody>
          <a:bodyPr>
            <a:normAutofit fontScale="55000" lnSpcReduction="20000"/>
          </a:bodyPr>
          <a:lstStyle/>
          <a:p>
            <a:r>
              <a:rPr lang="de-DE"/>
              <a:t>Die innerhalb eines Unterprogramms </a:t>
            </a:r>
            <a:r>
              <a:rPr lang="de-DE" dirty="0"/>
              <a:t>verwendeten Variablen </a:t>
            </a:r>
            <a:r>
              <a:rPr lang="de-DE"/>
              <a:t>gelten auch dort, </a:t>
            </a:r>
            <a:r>
              <a:rPr lang="de-DE" dirty="0"/>
              <a:t>allerdings kann </a:t>
            </a:r>
            <a:r>
              <a:rPr lang="de-DE"/>
              <a:t>innerhalb des Unterprogramms </a:t>
            </a:r>
            <a:r>
              <a:rPr lang="de-DE" dirty="0"/>
              <a:t>lesend auf außerhalb </a:t>
            </a:r>
            <a:r>
              <a:rPr lang="de-DE"/>
              <a:t>der Funktion/Prozedur definierte (globalen) Variablen </a:t>
            </a:r>
            <a:r>
              <a:rPr lang="de-DE" dirty="0"/>
              <a:t>zugegriffen </a:t>
            </a:r>
            <a:r>
              <a:rPr lang="de-DE"/>
              <a:t>werden (gilt aber als </a:t>
            </a:r>
            <a:r>
              <a:rPr lang="de-DE" dirty="0"/>
              <a:t>"unsauber").</a:t>
            </a:r>
          </a:p>
          <a:p>
            <a:endParaRPr lang="de-DE"/>
          </a:p>
          <a:p>
            <a:r>
              <a:rPr lang="de-DE"/>
              <a:t>Beispiel für eine Prozedur (Gibt etwas aus, liefert aber keinen Wert zurück):</a:t>
            </a:r>
            <a:endParaRPr lang="de-DE" dirty="0"/>
          </a:p>
          <a:p>
            <a:pPr marL="0" indent="0">
              <a:buNone/>
            </a:pPr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3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3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printvol</a:t>
            </a:r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b, h, t):</a:t>
            </a:r>
          </a:p>
          <a:p>
            <a:pPr marL="0" indent="0">
              <a:buNone/>
            </a:pPr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de-DE" sz="33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("Das Volumen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beträgt:",b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*h*t)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>
                <a:sym typeface="Wingdings" panose="05000000000000000000" pitchFamily="2" charset="2"/>
              </a:rPr>
              <a:t>Beispiela</a:t>
            </a:r>
            <a:r>
              <a:rPr lang="de-DE"/>
              <a:t>ufruf </a:t>
            </a:r>
            <a:r>
              <a:rPr lang="de-DE" dirty="0"/>
              <a:t>dieser Prozedur z.B. </a:t>
            </a:r>
            <a:r>
              <a:rPr lang="de-DE"/>
              <a:t>mit </a:t>
            </a:r>
            <a:r>
              <a:rPr lang="de-DE" sz="3300" b="1">
                <a:latin typeface="Courier New" panose="02070309020205020404" pitchFamily="49" charset="0"/>
                <a:cs typeface="Courier New" panose="02070309020205020404" pitchFamily="49" charset="0"/>
              </a:rPr>
              <a:t>printvol(</a:t>
            </a:r>
            <a:r>
              <a:rPr lang="de-DE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10,20,15)</a:t>
            </a:r>
            <a:br>
              <a:rPr lang="de-DE" sz="33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de-DE" sz="33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à"/>
            </a:pPr>
            <a:endParaRPr lang="de-DE" sz="3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/>
              <a:t>Das gleiche Beispiel </a:t>
            </a:r>
            <a:r>
              <a:rPr lang="de-DE"/>
              <a:t>als Funktion (weil mit </a:t>
            </a:r>
            <a:r>
              <a:rPr lang="de-DE" sz="3300" b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DE"/>
              <a:t> ein Wert zurückgegeben wird):</a:t>
            </a:r>
            <a:endParaRPr lang="de-DE" dirty="0"/>
          </a:p>
          <a:p>
            <a:pPr marL="0" indent="0">
              <a:buNone/>
            </a:pPr>
            <a:r>
              <a:rPr lang="de-DE" sz="33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33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de-DE" sz="33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3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</a:t>
            </a:r>
            <a:r>
              <a:rPr lang="de-DE" sz="3300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b, h, t):</a:t>
            </a:r>
          </a:p>
          <a:p>
            <a:pPr marL="0" indent="0">
              <a:buNone/>
            </a:pPr>
            <a:r>
              <a:rPr lang="de-DE" sz="3300" b="1">
                <a:latin typeface="Courier New" panose="02070309020205020404" pitchFamily="49" charset="0"/>
                <a:cs typeface="Courier New" panose="02070309020205020404" pitchFamily="49" charset="0"/>
              </a:rPr>
              <a:t>		v = b * h * t</a:t>
            </a:r>
            <a:endParaRPr lang="de-DE" sz="3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3300" b="1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de-DE" sz="3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DE" sz="33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</a:p>
          <a:p>
            <a:pPr marL="0" indent="0">
              <a:buNone/>
            </a:pPr>
            <a:r>
              <a:rPr lang="de-DE">
                <a:sym typeface="Wingdings" panose="05000000000000000000" pitchFamily="2" charset="2"/>
              </a:rPr>
              <a:t> </a:t>
            </a:r>
            <a:r>
              <a:rPr lang="de-DE" dirty="0">
                <a:sym typeface="Wingdings" panose="05000000000000000000" pitchFamily="2" charset="2"/>
              </a:rPr>
              <a:t>Aufruf dieser Funktion z.B. </a:t>
            </a:r>
            <a:r>
              <a:rPr lang="de-DE">
                <a:sym typeface="Wingdings" panose="05000000000000000000" pitchFamily="2" charset="2"/>
              </a:rPr>
              <a:t>mit </a:t>
            </a:r>
            <a:br>
              <a:rPr lang="de-DE">
                <a:sym typeface="Wingdings" panose="05000000000000000000" pitchFamily="2" charset="2"/>
              </a:rPr>
            </a:br>
            <a:r>
              <a:rPr lang="de-DE">
                <a:sym typeface="Wingdings" panose="05000000000000000000" pitchFamily="2" charset="2"/>
              </a:rPr>
              <a:t>	</a:t>
            </a:r>
            <a:r>
              <a:rPr lang="de-DE" sz="3300" b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y = vol(</a:t>
            </a:r>
            <a:r>
              <a:rPr lang="de-DE" sz="33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5,10,25)</a:t>
            </a:r>
            <a:endParaRPr lang="de-DE" sz="3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33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3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("Das Volumen beträgt:", y)</a:t>
            </a:r>
            <a:r>
              <a:rPr lang="de-DE" dirty="0"/>
              <a:t>	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86DDF7A-BA9B-4489-8381-CFF2F19B2D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66" t="13333" r="6664" b="10000"/>
          <a:stretch/>
        </p:blipFill>
        <p:spPr>
          <a:xfrm>
            <a:off x="6372200" y="4293095"/>
            <a:ext cx="2673965" cy="191388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19ECB1E-0354-456E-9006-796A2077DD6F}"/>
              </a:ext>
            </a:extLst>
          </p:cNvPr>
          <p:cNvSpPr txBox="1"/>
          <p:nvPr/>
        </p:nvSpPr>
        <p:spPr>
          <a:xfrm>
            <a:off x="7236296" y="4509120"/>
            <a:ext cx="10102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/>
              <a:t>Struktogramm</a:t>
            </a:r>
          </a:p>
        </p:txBody>
      </p:sp>
    </p:spTree>
    <p:extLst>
      <p:ext uri="{BB962C8B-B14F-4D97-AF65-F5344CB8AC3E}">
        <p14:creationId xmlns:p14="http://schemas.microsoft.com/office/powerpoint/2010/main" val="19673458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54D30-3E83-4699-8E31-3C95F0965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Eigene Module erstellen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634C46-843D-48F8-B4E7-4438F4E20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340768"/>
            <a:ext cx="8856984" cy="4525963"/>
          </a:xfrm>
        </p:spPr>
        <p:txBody>
          <a:bodyPr>
            <a:normAutofit fontScale="92500" lnSpcReduction="20000"/>
          </a:bodyPr>
          <a:lstStyle/>
          <a:p>
            <a:r>
              <a:rPr lang="de-DE" sz="2800" dirty="0"/>
              <a:t>Selbsterstellte Prozeduren/Funktionen und Klassen kann man in einer eigenen .</a:t>
            </a:r>
            <a:r>
              <a:rPr lang="de-DE" sz="2800" dirty="0" err="1"/>
              <a:t>py</a:t>
            </a:r>
            <a:r>
              <a:rPr lang="de-DE" sz="2800" dirty="0"/>
              <a:t>-Datei sammeln, z.B. </a:t>
            </a:r>
            <a:r>
              <a:rPr lang="de-DE" sz="2800" b="1" i="1" dirty="0"/>
              <a:t>meinModul.py</a:t>
            </a:r>
          </a:p>
          <a:p>
            <a:r>
              <a:rPr lang="de-DE" sz="2800" dirty="0"/>
              <a:t>Die Datei sollte sich im </a:t>
            </a:r>
            <a:r>
              <a:rPr lang="de-DE" sz="2800" b="1" dirty="0"/>
              <a:t>gleichen Ordner </a:t>
            </a:r>
            <a:r>
              <a:rPr lang="de-DE" sz="2800" dirty="0"/>
              <a:t>wie das aufrufende Programm befinden</a:t>
            </a:r>
            <a:br>
              <a:rPr lang="de-DE" sz="2800" dirty="0"/>
            </a:br>
            <a:r>
              <a:rPr lang="de-DE" sz="1900" dirty="0"/>
              <a:t>oder im Ordner </a:t>
            </a:r>
            <a:r>
              <a:rPr lang="en-US" sz="1900" dirty="0"/>
              <a:t>C:\&lt;Benutzer&gt;\Username\AppData\Local\Programs\Python\Python</a:t>
            </a:r>
            <a:r>
              <a:rPr lang="en-US" sz="1900" b="1" dirty="0"/>
              <a:t>312</a:t>
            </a:r>
            <a:r>
              <a:rPr lang="en-US" sz="1900" dirty="0"/>
              <a:t>\Lib </a:t>
            </a:r>
            <a:endParaRPr lang="de-DE" sz="3000" dirty="0"/>
          </a:p>
          <a:p>
            <a:r>
              <a:rPr lang="de-DE" sz="2800" dirty="0"/>
              <a:t>Diese Datei kann man dann durch </a:t>
            </a:r>
            <a:r>
              <a:rPr lang="de-DE" sz="2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meinModul</a:t>
            </a:r>
            <a:r>
              <a:rPr lang="de-DE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800" dirty="0"/>
              <a:t>importieren und die eigenen Dateien nutzen.</a:t>
            </a:r>
          </a:p>
          <a:p>
            <a:r>
              <a:rPr lang="de-DE" sz="2800" dirty="0"/>
              <a:t>Wichtig: Da Python-Code, der in der Datei </a:t>
            </a:r>
            <a:r>
              <a:rPr lang="de-DE" sz="2800" b="1" i="1" dirty="0"/>
              <a:t>meinModul.py </a:t>
            </a:r>
            <a:r>
              <a:rPr lang="de-DE" sz="2800" dirty="0"/>
              <a:t>außerhalb von Funktionen steht, beim importieren ausgeführt wird, </a:t>
            </a:r>
            <a:r>
              <a:rPr lang="de-DE" sz="2800" b="1" dirty="0"/>
              <a:t>muss er aus der Datei entfernt </a:t>
            </a:r>
            <a:r>
              <a:rPr lang="de-DE" sz="2800" dirty="0"/>
              <a:t>oder mit einer speziellen </a:t>
            </a:r>
            <a:r>
              <a:rPr lang="de-DE" sz="2800" dirty="0" err="1"/>
              <a:t>if</a:t>
            </a:r>
            <a:r>
              <a:rPr lang="de-DE" sz="2800" dirty="0"/>
              <a:t>-Anweisung verhindert bzw. abgetrennt werden:</a:t>
            </a:r>
            <a:br>
              <a:rPr lang="de-DE" sz="2800" dirty="0"/>
            </a:br>
            <a:endParaRPr lang="de-DE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3EDEA0-6FC8-49BD-BE90-E4C893F41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5473668"/>
            <a:ext cx="7344816" cy="1292662"/>
          </a:xfrm>
          <a:prstGeom prst="rect">
            <a:avLst/>
          </a:prstGeom>
          <a:solidFill>
            <a:srgbClr val="EE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400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blafunktion</a:t>
            </a:r>
            <a:r>
              <a:rPr lang="de-DE" altLang="de-DE" sz="1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1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de-DE" altLang="de-DE" sz="1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DE" altLang="de-DE" sz="1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* "</a:t>
            </a:r>
            <a:r>
              <a:rPr lang="de-DE" altLang="de-DE" sz="1400" dirty="0" err="1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Bla</a:t>
            </a:r>
            <a:r>
              <a:rPr lang="de-DE" altLang="de-DE" sz="1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400" b="1" i="0" u="none" strike="noStrike" cap="none" normalizeH="0" baseline="0" dirty="0">
              <a:ln>
                <a:noFill/>
              </a:ln>
              <a:solidFill>
                <a:srgbClr val="008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19177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19177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19177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BA212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"__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BA212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BA212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__"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("Hier steht Code, der nicht beim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ausgeführt wird")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14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blafunktion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(3))</a:t>
            </a:r>
          </a:p>
        </p:txBody>
      </p:sp>
      <p:sp>
        <p:nvSpPr>
          <p:cNvPr id="5" name="Legende: mit gebogener Linie mit Akzentuierungsbalken 4">
            <a:extLst>
              <a:ext uri="{FF2B5EF4-FFF2-40B4-BE49-F238E27FC236}">
                <a16:creationId xmlns:a16="http://schemas.microsoft.com/office/drawing/2014/main" id="{6D556B4A-20D6-485D-A465-F12ACBC8CE56}"/>
              </a:ext>
            </a:extLst>
          </p:cNvPr>
          <p:cNvSpPr/>
          <p:nvPr/>
        </p:nvSpPr>
        <p:spPr>
          <a:xfrm>
            <a:off x="3635896" y="5589240"/>
            <a:ext cx="1512168" cy="442507"/>
          </a:xfrm>
          <a:prstGeom prst="accentCallout2">
            <a:avLst>
              <a:gd name="adj1" fmla="val 18750"/>
              <a:gd name="adj2" fmla="val -2163"/>
              <a:gd name="adj3" fmla="val 18750"/>
              <a:gd name="adj4" fmla="val -16667"/>
              <a:gd name="adj5" fmla="val 159603"/>
              <a:gd name="adj6" fmla="val -346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Doppelte Unterstriche!</a:t>
            </a:r>
          </a:p>
        </p:txBody>
      </p:sp>
      <p:sp>
        <p:nvSpPr>
          <p:cNvPr id="6" name="Legende: mit gebogener Linie 5">
            <a:extLst>
              <a:ext uri="{FF2B5EF4-FFF2-40B4-BE49-F238E27FC236}">
                <a16:creationId xmlns:a16="http://schemas.microsoft.com/office/drawing/2014/main" id="{297AF685-1D62-03A4-CBC9-F1BE7FF43AB9}"/>
              </a:ext>
            </a:extLst>
          </p:cNvPr>
          <p:cNvSpPr/>
          <p:nvPr/>
        </p:nvSpPr>
        <p:spPr>
          <a:xfrm>
            <a:off x="7441976" y="2420888"/>
            <a:ext cx="1702024" cy="50405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1161"/>
              <a:gd name="adj6" fmla="val -222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/>
              <a:t>Versionsnummer  entsprechend der verwendeten Python-Version</a:t>
            </a:r>
          </a:p>
        </p:txBody>
      </p:sp>
    </p:spTree>
    <p:extLst>
      <p:ext uri="{BB962C8B-B14F-4D97-AF65-F5344CB8AC3E}">
        <p14:creationId xmlns:p14="http://schemas.microsoft.com/office/powerpoint/2010/main" val="41947915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32730D-81D6-68DA-ED65-326F1D482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Debugging in IDLE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08A48E-5ED4-FE89-C0DE-E16BB36FA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96752"/>
            <a:ext cx="8229600" cy="2232248"/>
          </a:xfrm>
        </p:spPr>
        <p:txBody>
          <a:bodyPr>
            <a:normAutofit fontScale="70000" lnSpcReduction="20000"/>
          </a:bodyPr>
          <a:lstStyle/>
          <a:p>
            <a:r>
              <a:rPr lang="de-DE"/>
              <a:t>IDLE enthält einen Debugger, der es ermöglicht, Python-Code im Einzelschritt auszuführen und Breakpoints (Anhaltepunkte)  zu setzen. Außerdem werden die aktuellen Werte der Variablen angezeigt, was die Fehlersuche (Debugging) erleichtert.</a:t>
            </a:r>
          </a:p>
          <a:p>
            <a:r>
              <a:rPr lang="de-DE"/>
              <a:t>Der Debugger wird in der IDLE-Shell im Menü "Debug" aktiviert und öffnet einen Debug-Controller. Außerdem können mit der rechten Maustaste im Quellcode Breakpoints gesetzt werden.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49A31A4-6064-269A-AE3D-B13E379B7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32" y="3298823"/>
            <a:ext cx="8460432" cy="354044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Legende: mit gebogener Linie 5">
            <a:extLst>
              <a:ext uri="{FF2B5EF4-FFF2-40B4-BE49-F238E27FC236}">
                <a16:creationId xmlns:a16="http://schemas.microsoft.com/office/drawing/2014/main" id="{55DFBBED-CEC7-86AB-8DD3-BE86150F724D}"/>
              </a:ext>
            </a:extLst>
          </p:cNvPr>
          <p:cNvSpPr/>
          <p:nvPr/>
        </p:nvSpPr>
        <p:spPr>
          <a:xfrm>
            <a:off x="7956376" y="4537781"/>
            <a:ext cx="861729" cy="531266"/>
          </a:xfrm>
          <a:prstGeom prst="borderCallout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Breakpoint setzen</a:t>
            </a:r>
          </a:p>
        </p:txBody>
      </p:sp>
      <p:sp>
        <p:nvSpPr>
          <p:cNvPr id="7" name="Legende: mit gebogener Linie 6">
            <a:extLst>
              <a:ext uri="{FF2B5EF4-FFF2-40B4-BE49-F238E27FC236}">
                <a16:creationId xmlns:a16="http://schemas.microsoft.com/office/drawing/2014/main" id="{1F8B6E01-4BBE-2460-E5F0-DC77F76D7142}"/>
              </a:ext>
            </a:extLst>
          </p:cNvPr>
          <p:cNvSpPr/>
          <p:nvPr/>
        </p:nvSpPr>
        <p:spPr>
          <a:xfrm>
            <a:off x="1043608" y="4857939"/>
            <a:ext cx="1440160" cy="53126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16768"/>
              <a:gd name="adj6" fmla="val -433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Einzelschrittmodus beenden</a:t>
            </a:r>
          </a:p>
        </p:txBody>
      </p:sp>
      <p:sp>
        <p:nvSpPr>
          <p:cNvPr id="8" name="Legende: mit gebogener Linie 7">
            <a:extLst>
              <a:ext uri="{FF2B5EF4-FFF2-40B4-BE49-F238E27FC236}">
                <a16:creationId xmlns:a16="http://schemas.microsoft.com/office/drawing/2014/main" id="{3AD36AD4-5018-C10E-BB00-1ED120650BD6}"/>
              </a:ext>
            </a:extLst>
          </p:cNvPr>
          <p:cNvSpPr/>
          <p:nvPr/>
        </p:nvSpPr>
        <p:spPr>
          <a:xfrm>
            <a:off x="1043608" y="4537780"/>
            <a:ext cx="1440160" cy="26563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00332"/>
              <a:gd name="adj6" fmla="val -318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Einzelschritt weiter</a:t>
            </a:r>
          </a:p>
        </p:txBody>
      </p:sp>
      <p:sp>
        <p:nvSpPr>
          <p:cNvPr id="9" name="Legende: mit gebogener Linie 8">
            <a:extLst>
              <a:ext uri="{FF2B5EF4-FFF2-40B4-BE49-F238E27FC236}">
                <a16:creationId xmlns:a16="http://schemas.microsoft.com/office/drawing/2014/main" id="{4293BBF1-16C9-535C-92B9-8CE860768964}"/>
              </a:ext>
            </a:extLst>
          </p:cNvPr>
          <p:cNvSpPr/>
          <p:nvPr/>
        </p:nvSpPr>
        <p:spPr>
          <a:xfrm>
            <a:off x="1619672" y="3951988"/>
            <a:ext cx="1440160" cy="53126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4651"/>
              <a:gd name="adj6" fmla="val -447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Unterprogramm überspringen (Over) bzw. verlassen (Out)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26F40714-BB6A-E581-6D06-F3A0EAE6DDCA}"/>
              </a:ext>
            </a:extLst>
          </p:cNvPr>
          <p:cNvSpPr/>
          <p:nvPr/>
        </p:nvSpPr>
        <p:spPr>
          <a:xfrm>
            <a:off x="241779" y="6453336"/>
            <a:ext cx="993241" cy="385935"/>
          </a:xfrm>
          <a:prstGeom prst="round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Legende: mit gebogener Linie 9">
            <a:extLst>
              <a:ext uri="{FF2B5EF4-FFF2-40B4-BE49-F238E27FC236}">
                <a16:creationId xmlns:a16="http://schemas.microsoft.com/office/drawing/2014/main" id="{A1B39952-7F9F-DA1D-29A6-7D701B1DE6D5}"/>
              </a:ext>
            </a:extLst>
          </p:cNvPr>
          <p:cNvSpPr/>
          <p:nvPr/>
        </p:nvSpPr>
        <p:spPr>
          <a:xfrm>
            <a:off x="1907704" y="6253515"/>
            <a:ext cx="1440160" cy="53126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55127"/>
              <a:gd name="adj6" fmla="val -479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Variable</a:t>
            </a:r>
          </a:p>
        </p:txBody>
      </p:sp>
    </p:spTree>
    <p:extLst>
      <p:ext uri="{BB962C8B-B14F-4D97-AF65-F5344CB8AC3E}">
        <p14:creationId xmlns:p14="http://schemas.microsoft.com/office/powerpoint/2010/main" val="6997886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EB2BED-C592-8DDB-668B-F6D22F179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68760"/>
            <a:ext cx="5760640" cy="5589240"/>
          </a:xfrm>
        </p:spPr>
        <p:txBody>
          <a:bodyPr>
            <a:normAutofit fontScale="77500" lnSpcReduction="20000"/>
          </a:bodyPr>
          <a:lstStyle/>
          <a:p>
            <a:r>
              <a:rPr lang="de-DE" dirty="0"/>
              <a:t>Homepage und Download: </a:t>
            </a:r>
            <a:r>
              <a:rPr lang="de-DE" dirty="0">
                <a:hlinkClick r:id="rId2"/>
              </a:rPr>
              <a:t>https://code.visualstudio.com/</a:t>
            </a:r>
            <a:r>
              <a:rPr lang="de-DE" dirty="0"/>
              <a:t> </a:t>
            </a:r>
          </a:p>
          <a:p>
            <a:r>
              <a:rPr lang="de-DE" dirty="0"/>
              <a:t>Open Source von Microsoft (!), Multiplattform (Windows, Linux, </a:t>
            </a:r>
            <a:r>
              <a:rPr lang="de-DE" dirty="0" err="1"/>
              <a:t>macOS</a:t>
            </a:r>
            <a:r>
              <a:rPr lang="de-DE" dirty="0"/>
              <a:t>), Multilingual</a:t>
            </a:r>
          </a:p>
          <a:p>
            <a:r>
              <a:rPr lang="de-DE" dirty="0"/>
              <a:t>Sehr viele "</a:t>
            </a:r>
            <a:r>
              <a:rPr lang="de-DE" dirty="0" err="1"/>
              <a:t>Extensions</a:t>
            </a:r>
            <a:r>
              <a:rPr lang="de-DE" dirty="0"/>
              <a:t>" für verschiedenste Sprachen und Applikationen</a:t>
            </a:r>
          </a:p>
          <a:p>
            <a:r>
              <a:rPr lang="de-DE" dirty="0"/>
              <a:t>Beispiele: Java, C++, Arduino, PHP, HTML, XML, CSS, JSON, SQL usw. usw.</a:t>
            </a:r>
          </a:p>
          <a:p>
            <a:r>
              <a:rPr lang="de-DE" dirty="0"/>
              <a:t>Empfehlung für Python: Das Python-IntelliSense-Plugin von Microsoft </a:t>
            </a:r>
            <a:br>
              <a:rPr lang="de-DE" dirty="0"/>
            </a:br>
            <a:r>
              <a:rPr lang="de-DE" sz="1400" dirty="0">
                <a:hlinkClick r:id="rId3"/>
              </a:rPr>
              <a:t>https://marketplace.visualstudio.com/items?itemName=ms-python.python</a:t>
            </a:r>
            <a:r>
              <a:rPr lang="de-DE" sz="1400" dirty="0"/>
              <a:t> </a:t>
            </a:r>
            <a:endParaRPr lang="de-DE" dirty="0"/>
          </a:p>
          <a:p>
            <a:r>
              <a:rPr lang="de-DE" dirty="0"/>
              <a:t>Syntaxcheck bei der Eingabe</a:t>
            </a:r>
          </a:p>
          <a:p>
            <a:r>
              <a:rPr lang="de-DE" dirty="0"/>
              <a:t>Versionskontrolle mit </a:t>
            </a:r>
            <a:r>
              <a:rPr lang="de-DE" b="1" dirty="0" err="1"/>
              <a:t>Git</a:t>
            </a:r>
            <a:r>
              <a:rPr lang="de-DE" dirty="0"/>
              <a:t> ist in </a:t>
            </a:r>
            <a:r>
              <a:rPr lang="de-DE" dirty="0" err="1"/>
              <a:t>VSCode</a:t>
            </a:r>
            <a:r>
              <a:rPr lang="de-DE" dirty="0"/>
              <a:t> integriert</a:t>
            </a:r>
            <a:br>
              <a:rPr lang="de-DE" dirty="0"/>
            </a:br>
            <a:r>
              <a:rPr lang="de-DE" sz="2100" dirty="0">
                <a:hlinkClick r:id="rId4"/>
              </a:rPr>
              <a:t>https://www.youtube.com/watch?v=i_23KUAEtUM</a:t>
            </a:r>
            <a:r>
              <a:rPr lang="de-DE" sz="2100" dirty="0"/>
              <a:t> 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A609968-9051-9462-C7AE-AFE3175104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240" y="3835044"/>
            <a:ext cx="2207005" cy="77208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FA7C78A-3505-8116-C1EA-A022559B02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8101" y="4945458"/>
            <a:ext cx="3319174" cy="179591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51CEF92-6E5C-F20D-1A93-F7E5359C89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2160" y="320623"/>
            <a:ext cx="3064205" cy="334785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F3D1D30F-AE19-C1B4-09A6-C3A1606396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7" t="37973" r="7046" b="37973"/>
          <a:stretch/>
        </p:blipFill>
        <p:spPr bwMode="auto">
          <a:xfrm>
            <a:off x="1331640" y="510200"/>
            <a:ext cx="4608512" cy="638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4655DB4F-0A2A-E355-5E92-42E3777313DC}"/>
              </a:ext>
            </a:extLst>
          </p:cNvPr>
          <p:cNvCxnSpPr/>
          <p:nvPr/>
        </p:nvCxnSpPr>
        <p:spPr>
          <a:xfrm flipV="1">
            <a:off x="4860032" y="4221088"/>
            <a:ext cx="1872208" cy="4605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5384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EB2BED-C592-8DDB-668B-F6D22F179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6" y="1124745"/>
            <a:ext cx="4896544" cy="5832648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de-DE" b="1" dirty="0"/>
              <a:t>Wichtige Tastenkombinationen:</a:t>
            </a:r>
          </a:p>
          <a:p>
            <a:pPr>
              <a:spcAft>
                <a:spcPts val="1200"/>
              </a:spcAft>
            </a:pPr>
            <a:r>
              <a:rPr lang="de-DE" sz="7000" dirty="0" err="1">
                <a:latin typeface="aa QWERTZ-Tasten" panose="02000500000000000000" pitchFamily="2" charset="0"/>
              </a:rPr>
              <a:t>DkDs</a:t>
            </a:r>
            <a:r>
              <a:rPr lang="de-DE" sz="7000" dirty="0">
                <a:latin typeface="aa QWERTZ-Tasten" panose="02000500000000000000" pitchFamily="2" charset="0"/>
              </a:rPr>
              <a:t> </a:t>
            </a:r>
            <a:br>
              <a:rPr lang="de-DE" dirty="0"/>
            </a:b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Alle Befehle und Tastenkombinationen anzeigen und durchsuchen</a:t>
            </a:r>
          </a:p>
          <a:p>
            <a:pPr>
              <a:spcAft>
                <a:spcPts val="1200"/>
              </a:spcAft>
            </a:pPr>
            <a:r>
              <a:rPr lang="de-DE" sz="7000" dirty="0" err="1">
                <a:latin typeface="aa QWERTZ-Tasten" panose="02000500000000000000" pitchFamily="2" charset="0"/>
              </a:rPr>
              <a:t>DAk</a:t>
            </a:r>
            <a:br>
              <a:rPr lang="de-DE" dirty="0"/>
            </a:br>
            <a:r>
              <a:rPr lang="de-DE" dirty="0">
                <a:sym typeface="Wingdings" panose="05000000000000000000" pitchFamily="2" charset="2"/>
              </a:rPr>
              <a:t> Aktuelle Zeile löschen</a:t>
            </a:r>
            <a:endParaRPr lang="de-DE" dirty="0">
              <a:latin typeface="aa QWERTZ-Tasten" panose="02000500000000000000" pitchFamily="2" charset="0"/>
            </a:endParaRPr>
          </a:p>
          <a:p>
            <a:pPr>
              <a:spcAft>
                <a:spcPts val="1200"/>
              </a:spcAft>
            </a:pPr>
            <a:r>
              <a:rPr lang="de-DE" sz="7000" dirty="0">
                <a:latin typeface="aa QWERTZ-Tasten" panose="02000500000000000000" pitchFamily="2" charset="0"/>
              </a:rPr>
              <a:t>D#</a:t>
            </a:r>
            <a:br>
              <a:rPr lang="de-DE" dirty="0"/>
            </a:br>
            <a:r>
              <a:rPr lang="de-DE" dirty="0">
                <a:sym typeface="Wingdings" panose="05000000000000000000" pitchFamily="2" charset="2"/>
              </a:rPr>
              <a:t> Markierte Zeilen kommentieren / auskommentieren</a:t>
            </a:r>
            <a:r>
              <a:rPr lang="de-DE" dirty="0">
                <a:latin typeface="aa QWERTZ-Tasten" panose="02000500000000000000" pitchFamily="2" charset="0"/>
              </a:rPr>
              <a:t> </a:t>
            </a:r>
          </a:p>
          <a:p>
            <a:pPr>
              <a:spcAft>
                <a:spcPts val="1200"/>
              </a:spcAft>
            </a:pPr>
            <a:r>
              <a:rPr lang="de-DE" sz="7000" dirty="0">
                <a:latin typeface="aa QWERTZ-Tasten" panose="02000500000000000000" pitchFamily="2" charset="0"/>
              </a:rPr>
              <a:t>FK      FJ </a:t>
            </a:r>
            <a:br>
              <a:rPr lang="de-DE" dirty="0"/>
            </a:b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Zeilen nach oben / unten verschieben</a:t>
            </a:r>
          </a:p>
          <a:p>
            <a:pPr>
              <a:spcAft>
                <a:spcPts val="1200"/>
              </a:spcAft>
            </a:pPr>
            <a:r>
              <a:rPr lang="de-DE" sz="7000" dirty="0">
                <a:latin typeface="aa QWERTZ-Tasten" panose="02000500000000000000" pitchFamily="2" charset="0"/>
              </a:rPr>
              <a:t>AFK   AFJ</a:t>
            </a:r>
            <a:br>
              <a:rPr lang="de-DE" dirty="0"/>
            </a:b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Zeilen nach oben / unten kopieren</a:t>
            </a:r>
          </a:p>
          <a:p>
            <a:pPr>
              <a:spcAft>
                <a:spcPts val="1200"/>
              </a:spcAft>
            </a:pPr>
            <a:r>
              <a:rPr lang="de-DE" sz="7000" dirty="0" err="1">
                <a:latin typeface="aa QWERTZ-Tasten" panose="02000500000000000000" pitchFamily="2" charset="0"/>
              </a:rPr>
              <a:t>DAl</a:t>
            </a:r>
            <a:br>
              <a:rPr lang="de-DE" dirty="0"/>
            </a:b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Alle Instanzen des gerade markierten Wortes markieren</a:t>
            </a:r>
          </a:p>
          <a:p>
            <a:pPr>
              <a:spcAft>
                <a:spcPts val="1200"/>
              </a:spcAft>
            </a:pPr>
            <a:r>
              <a:rPr lang="de-DE" sz="7000" dirty="0" err="1">
                <a:latin typeface="aa QWERTZ-Tasten" panose="02000500000000000000" pitchFamily="2" charset="0"/>
              </a:rPr>
              <a:t>DkDt</a:t>
            </a:r>
            <a:br>
              <a:rPr lang="de-DE" sz="3800" dirty="0"/>
            </a:b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Farbschema auswählen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3D1D30F-AE19-C1B4-09A6-C3A1606396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7" t="37973" r="7046" b="37973"/>
          <a:stretch/>
        </p:blipFill>
        <p:spPr bwMode="auto">
          <a:xfrm>
            <a:off x="1331640" y="410665"/>
            <a:ext cx="4608512" cy="638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3068CFC-DF0A-1E2E-2F7A-CA9618ABC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24745"/>
            <a:ext cx="4512015" cy="572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6275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31ABB82-FBA0-A3A6-22D3-697F62349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dirty="0"/>
              <a:t>Debugging in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EB2BED-C592-8DDB-668B-F6D22F179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317105"/>
            <a:ext cx="8424936" cy="3129640"/>
          </a:xfrm>
        </p:spPr>
        <p:txBody>
          <a:bodyPr>
            <a:normAutofit fontScale="77500" lnSpcReduction="20000"/>
          </a:bodyPr>
          <a:lstStyle/>
          <a:p>
            <a:r>
              <a:rPr lang="de-DE" dirty="0"/>
              <a:t>Durch starten mit </a:t>
            </a:r>
            <a:r>
              <a:rPr lang="de-DE" b="1" dirty="0"/>
              <a:t>F5</a:t>
            </a:r>
            <a:r>
              <a:rPr lang="de-DE" dirty="0"/>
              <a:t> wird das Programm im </a:t>
            </a:r>
            <a:r>
              <a:rPr lang="de-DE" dirty="0" err="1"/>
              <a:t>Debug</a:t>
            </a:r>
            <a:r>
              <a:rPr lang="de-DE" dirty="0"/>
              <a:t>-Mode gestartet und stoppt am ersten Breakpoint.</a:t>
            </a:r>
          </a:p>
          <a:p>
            <a:r>
              <a:rPr lang="de-DE" dirty="0"/>
              <a:t>Breakpoint(s) (erkennbar am roten Punkt) lassen sich durch Mausklick links von den Zeilennummern setzen.</a:t>
            </a:r>
          </a:p>
          <a:p>
            <a:r>
              <a:rPr lang="de-DE" dirty="0"/>
              <a:t>Stoppt das Programm am (ersten) Breakpoint, kann man auf der linken Seite die Variableninhalte sehen.</a:t>
            </a:r>
          </a:p>
          <a:p>
            <a:r>
              <a:rPr lang="de-DE" dirty="0"/>
              <a:t>Mit </a:t>
            </a:r>
            <a:r>
              <a:rPr lang="de-DE" b="1" dirty="0"/>
              <a:t>F10</a:t>
            </a:r>
            <a:r>
              <a:rPr lang="de-DE" dirty="0"/>
              <a:t> läuft das Programm im Einzelschrittmodus weiter, mit </a:t>
            </a:r>
            <a:r>
              <a:rPr lang="de-DE" b="1" dirty="0"/>
              <a:t>F5</a:t>
            </a:r>
            <a:r>
              <a:rPr lang="de-DE" dirty="0"/>
              <a:t> läuft es zum nächsten Breakpoint (oder zum Ende, falls kein Breakpoint mehr vorhanden ist).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3D1D30F-AE19-C1B4-09A6-C3A1606396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7" t="37973" r="7046" b="37973"/>
          <a:stretch/>
        </p:blipFill>
        <p:spPr bwMode="auto">
          <a:xfrm>
            <a:off x="4499992" y="526736"/>
            <a:ext cx="4608512" cy="638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36F8BAF-26F9-0DEC-C0F3-1284497377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1395"/>
          <a:stretch/>
        </p:blipFill>
        <p:spPr>
          <a:xfrm>
            <a:off x="0" y="4531800"/>
            <a:ext cx="9144000" cy="23262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3100840-CF7E-939C-C9BC-130A506CB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863" y="1801633"/>
            <a:ext cx="736082" cy="93610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3B2AC7D-B97E-11EA-C481-05A6D711E6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424" y="1281542"/>
            <a:ext cx="495343" cy="46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174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B8B36B-48D9-4876-8E0C-6D918B12D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Wiederholung/Ergänzung: </a:t>
            </a:r>
            <a:br>
              <a:rPr lang="de-DE" dirty="0"/>
            </a:br>
            <a:r>
              <a:rPr lang="de-DE" sz="3600" dirty="0"/>
              <a:t>Wichtige String-Methoden und Funktionen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861425-FEC5-43F6-9754-2E60070C1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638"/>
            <a:ext cx="9144000" cy="5440362"/>
          </a:xfrm>
        </p:spPr>
        <p:txBody>
          <a:bodyPr>
            <a:normAutofit fontScale="70000" lnSpcReduction="20000"/>
          </a:bodyPr>
          <a:lstStyle/>
          <a:p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f"{a:8} </a:t>
            </a:r>
            <a:r>
              <a:rPr lang="de-DE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{b:5.2f}" </a:t>
            </a:r>
            <a:r>
              <a:rPr lang="de-DE" sz="2900" dirty="0"/>
              <a:t>Formatiert die Variablen a und b usw. in einem String mit einer angegebenen Breite an der Stelle der 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{…}</a:t>
            </a:r>
            <a:r>
              <a:rPr lang="de-DE" sz="2900" dirty="0"/>
              <a:t> -Platzhalter</a:t>
            </a:r>
          </a:p>
          <a:p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s.strip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s.lstrip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s.rstrip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sz="2800" dirty="0"/>
              <a:t>Entfernt Leerzeichen am Anfang und/oder Ende. Optional können auch andere Zeichen als Argument angegeben werden</a:t>
            </a:r>
          </a:p>
          <a:p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s.replace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de-DE" sz="2800" dirty="0"/>
              <a:t>Ersetzt den Teilstring 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DE" sz="2800" dirty="0"/>
              <a:t> durch Teilstring 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s.split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(s)</a:t>
            </a:r>
            <a:r>
              <a:rPr lang="de-DE" sz="2800" dirty="0"/>
              <a:t> Teilt den String an der/den Stelle(n) wo das Argument 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de-DE" sz="2800" dirty="0"/>
              <a:t> gefunden wird und liefert eine Liste von Teilstrings zurück.</a:t>
            </a:r>
          </a:p>
          <a:p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s.find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(s)</a:t>
            </a:r>
            <a:r>
              <a:rPr lang="de-DE" sz="2800" dirty="0"/>
              <a:t> Gibt den Index der Fundstelle des angegebenen Teilstrings zurück</a:t>
            </a:r>
          </a:p>
          <a:p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s.count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(s)</a:t>
            </a:r>
            <a:r>
              <a:rPr lang="de-DE" sz="2800" dirty="0"/>
              <a:t> Gibt die </a:t>
            </a:r>
            <a:r>
              <a:rPr lang="de-DE" sz="2800" dirty="0" err="1"/>
              <a:t>anzahl</a:t>
            </a:r>
            <a:r>
              <a:rPr lang="de-DE" sz="2800" dirty="0"/>
              <a:t> der gefundenen Teilstrings s zurück</a:t>
            </a:r>
          </a:p>
          <a:p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s.upper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(s) /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s.lower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(s) </a:t>
            </a:r>
            <a:r>
              <a:rPr lang="de-DE" sz="2800" dirty="0"/>
              <a:t>Wandelt String 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de-DE" sz="2800" dirty="0"/>
              <a:t> Groß- bzw. Kleinbuchstaben</a:t>
            </a:r>
          </a:p>
          <a:p>
            <a:r>
              <a:rPr lang="de-DE" sz="2800" dirty="0"/>
              <a:t>Die Funktion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(c)</a:t>
            </a:r>
            <a:r>
              <a:rPr lang="de-DE" sz="2800" dirty="0"/>
              <a:t> liefert den Unicode bzw. ASCII-Code für ein Zeichen (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</a:t>
            </a:r>
            <a:r>
              <a:rPr lang="de-DE" sz="2800" dirty="0"/>
              <a:t>muss ein String der Länge 1 sein)</a:t>
            </a:r>
          </a:p>
          <a:p>
            <a:r>
              <a:rPr lang="de-DE" sz="2800" dirty="0"/>
              <a:t>Die Funktion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(i) </a:t>
            </a:r>
            <a:r>
              <a:rPr lang="de-DE" sz="2800" dirty="0"/>
              <a:t>liefert das Zeichen zu einem vorgegebenen ASCII-Code / Unicode (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DE" sz="2800" dirty="0"/>
              <a:t> muss eine positive Integer sein), siehe auch </a:t>
            </a:r>
            <a:r>
              <a:rPr lang="de-DE" sz="2800" dirty="0">
                <a:hlinkClick r:id="rId2"/>
              </a:rPr>
              <a:t>https://tools.piex.at/ascii-tabelle/</a:t>
            </a:r>
            <a:r>
              <a:rPr lang="de-DE" sz="2800" dirty="0"/>
              <a:t> </a:t>
            </a:r>
          </a:p>
          <a:p>
            <a:pPr marL="0" indent="0" algn="ctr">
              <a:buNone/>
            </a:pPr>
            <a:br>
              <a:rPr lang="de-DE" sz="2800" dirty="0"/>
            </a:br>
            <a:r>
              <a:rPr lang="de-DE" sz="2800" dirty="0"/>
              <a:t>Darüber hinaus können Strings wie Listen (von Zeichen) behandelt werden </a:t>
            </a:r>
            <a:br>
              <a:rPr lang="de-DE" sz="2800" dirty="0"/>
            </a:br>
            <a:r>
              <a:rPr lang="de-DE" sz="2800" dirty="0"/>
              <a:t>z.B. liefert 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s[0]</a:t>
            </a:r>
            <a:r>
              <a:rPr lang="de-D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800" dirty="0"/>
              <a:t>den ersten Buchstaben eines Strings 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9113448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7414F6-B373-7638-B599-53BF65ED2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704856" cy="1143000"/>
          </a:xfrm>
        </p:spPr>
        <p:txBody>
          <a:bodyPr>
            <a:normAutofit fontScale="90000"/>
          </a:bodyPr>
          <a:lstStyle/>
          <a:p>
            <a:r>
              <a:rPr lang="de-DE" dirty="0"/>
              <a:t>Fehler abfangen 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6B7624-FB00-1625-C83D-BF82EE2BA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85184"/>
          </a:xfrm>
        </p:spPr>
        <p:txBody>
          <a:bodyPr>
            <a:normAutofit fontScale="85000" lnSpcReduction="10000"/>
          </a:bodyPr>
          <a:lstStyle/>
          <a:p>
            <a:r>
              <a:rPr lang="de-DE" sz="2600" dirty="0"/>
              <a:t>Mit Hilfe von 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600" dirty="0"/>
              <a:t>kann man Laufzeitfehler (</a:t>
            </a:r>
            <a:r>
              <a:rPr lang="de-DE" sz="2600" dirty="0" err="1"/>
              <a:t>Exceptions</a:t>
            </a:r>
            <a:r>
              <a:rPr lang="de-DE" sz="2600" dirty="0"/>
              <a:t>) abfangen und anzeigen.</a:t>
            </a:r>
          </a:p>
          <a:p>
            <a:r>
              <a:rPr lang="de-DE" sz="2600" dirty="0"/>
              <a:t>Im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de-DE" sz="2600" dirty="0"/>
              <a:t> - Block wird der Code ausgeführt, der den Fehler verursacht, und im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de-DE" sz="2600" dirty="0"/>
              <a:t> - Block wird die "Fehlerbehandlung" durchgeführt: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de-DE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for i in 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(-5,6):</a:t>
            </a:r>
            <a:b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(1/i) </a:t>
            </a:r>
            <a:r>
              <a:rPr lang="de-DE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führt bei i==0 zu Division durch 0!</a:t>
            </a:r>
            <a:br>
              <a:rPr lang="de-DE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de-DE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de-DE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("Ein Fehler ist aufgetreten")</a:t>
            </a:r>
          </a:p>
          <a:p>
            <a:r>
              <a:rPr lang="de-DE" sz="2600" dirty="0"/>
              <a:t>Im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de-DE" sz="2600" dirty="0"/>
              <a:t> - Teil kann man auch spezielle Fehler abfangen, das Programm wir anschließend weiter ausgeführt:</a:t>
            </a:r>
          </a:p>
          <a:p>
            <a:pPr marL="0" indent="0">
              <a:buNone/>
            </a:pPr>
            <a:r>
              <a:rPr lang="de-DE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de-DE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ZeroDivisionError</a:t>
            </a:r>
            <a:r>
              <a:rPr lang="de-DE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de-DE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("Es wurde durch 0 geteilt")</a:t>
            </a:r>
          </a:p>
          <a:p>
            <a:r>
              <a:rPr lang="de-DE" sz="2600" dirty="0"/>
              <a:t>Oder auch die Fehlermeldung selbst anzeigen in dem man die </a:t>
            </a:r>
            <a:r>
              <a:rPr lang="de-DE" sz="2600" dirty="0" err="1"/>
              <a:t>Exception</a:t>
            </a:r>
            <a:r>
              <a:rPr lang="de-DE" sz="2600" dirty="0"/>
              <a:t> ganz allgemein abfragt:</a:t>
            </a:r>
          </a:p>
          <a:p>
            <a:pPr marL="0" indent="0">
              <a:buNone/>
            </a:pPr>
            <a:r>
              <a:rPr lang="de-DE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de-DE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de-DE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DE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de-DE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de-DE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2600" dirty="0"/>
              <a:t>Alle eingebauten </a:t>
            </a:r>
            <a:r>
              <a:rPr lang="de-DE" sz="2600" dirty="0" err="1"/>
              <a:t>Exceptions</a:t>
            </a:r>
            <a:r>
              <a:rPr lang="de-DE" sz="2600" dirty="0"/>
              <a:t> sind unter </a:t>
            </a:r>
            <a:r>
              <a:rPr lang="de-DE" sz="2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https://docs.python.org/3/library/exceptions.html</a:t>
            </a:r>
            <a:r>
              <a:rPr lang="de-DE" sz="2600" dirty="0"/>
              <a:t> aufgeführt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4906AFD-3672-61EB-7893-C3503F8A82F5}"/>
              </a:ext>
            </a:extLst>
          </p:cNvPr>
          <p:cNvSpPr/>
          <p:nvPr/>
        </p:nvSpPr>
        <p:spPr>
          <a:xfrm>
            <a:off x="467544" y="2924944"/>
            <a:ext cx="6120680" cy="93993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9BA610-F259-7BB3-E74B-4149780FA15C}"/>
              </a:ext>
            </a:extLst>
          </p:cNvPr>
          <p:cNvSpPr/>
          <p:nvPr/>
        </p:nvSpPr>
        <p:spPr>
          <a:xfrm>
            <a:off x="450491" y="4581128"/>
            <a:ext cx="6137733" cy="43624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4F9BABD-8451-A634-6DAE-D10292F9F930}"/>
              </a:ext>
            </a:extLst>
          </p:cNvPr>
          <p:cNvSpPr/>
          <p:nvPr/>
        </p:nvSpPr>
        <p:spPr>
          <a:xfrm>
            <a:off x="467545" y="5661608"/>
            <a:ext cx="6120680" cy="43624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52097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6BDA270-DAB3-9AE9-CFF9-5389497EC5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Datenaustausch mit Dateien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5BD4F0B4-26C8-066E-9558-E3F941385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711152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TXT</a:t>
            </a:r>
          </a:p>
          <a:p>
            <a:r>
              <a:rPr lang="de-DE" dirty="0"/>
              <a:t>CSV</a:t>
            </a:r>
          </a:p>
          <a:p>
            <a:r>
              <a:rPr lang="de-DE" dirty="0"/>
              <a:t>JSON</a:t>
            </a:r>
          </a:p>
          <a:p>
            <a:r>
              <a:rPr lang="de-DE" dirty="0"/>
              <a:t>XML</a:t>
            </a:r>
          </a:p>
          <a:p>
            <a:r>
              <a:rPr lang="de-DE" dirty="0"/>
              <a:t>Pickle</a:t>
            </a:r>
          </a:p>
        </p:txBody>
      </p:sp>
    </p:spTree>
    <p:extLst>
      <p:ext uri="{BB962C8B-B14F-4D97-AF65-F5344CB8AC3E}">
        <p14:creationId xmlns:p14="http://schemas.microsoft.com/office/powerpoint/2010/main" val="26257623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3742E-1366-4302-9638-483021CE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46981"/>
            <a:ext cx="7283152" cy="1143000"/>
          </a:xfrm>
        </p:spPr>
        <p:txBody>
          <a:bodyPr>
            <a:noAutofit/>
          </a:bodyPr>
          <a:lstStyle/>
          <a:p>
            <a:r>
              <a:rPr lang="de-DE" sz="3600" dirty="0"/>
              <a:t>Text in Dateien schreiben</a:t>
            </a:r>
            <a:endParaRPr lang="de-DE" sz="3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3A5C8B-CC16-4CAE-8D38-8F519E67A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rmAutofit fontScale="62500" lnSpcReduction="20000"/>
          </a:bodyPr>
          <a:lstStyle/>
          <a:p>
            <a:r>
              <a:rPr lang="de-DE" sz="2800" dirty="0"/>
              <a:t>Daten lassen sich als Strings ("Textmodus") in eine Datei schreiben</a:t>
            </a:r>
          </a:p>
          <a:p>
            <a:pPr lvl="1"/>
            <a:r>
              <a:rPr lang="de-DE" sz="2400" dirty="0"/>
              <a:t>Zunächst mit 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open() </a:t>
            </a:r>
            <a:r>
              <a:rPr lang="de-DE" sz="2400" dirty="0"/>
              <a:t>das Dateiobjekt erzeugen</a:t>
            </a:r>
          </a:p>
          <a:p>
            <a:pPr lvl="1"/>
            <a:r>
              <a:rPr lang="de-DE" sz="2400" dirty="0"/>
              <a:t>Dann die Zeile(n) (Auch Zahlen nur als String) mit der Methode 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de-DE" sz="2200" dirty="0"/>
              <a:t> </a:t>
            </a:r>
            <a:r>
              <a:rPr lang="de-DE" sz="2400" dirty="0"/>
              <a:t>schreiben</a:t>
            </a:r>
          </a:p>
          <a:p>
            <a:pPr lvl="1"/>
            <a:r>
              <a:rPr lang="de-DE" sz="2400" dirty="0"/>
              <a:t>Dabei am Zeilenende immer ein 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"\n" </a:t>
            </a:r>
            <a:r>
              <a:rPr lang="de-DE" sz="2400" dirty="0"/>
              <a:t>oder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"\r" </a:t>
            </a:r>
            <a:r>
              <a:rPr lang="de-DE" sz="2400" dirty="0"/>
              <a:t> mitspeichern</a:t>
            </a:r>
          </a:p>
          <a:p>
            <a:pPr lvl="1"/>
            <a:r>
              <a:rPr lang="de-DE" sz="2400" dirty="0"/>
              <a:t>Am Ende die Datei mit der Methode 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sz="2400" dirty="0"/>
              <a:t>schließen </a:t>
            </a:r>
          </a:p>
          <a:p>
            <a:pPr lvl="1"/>
            <a:r>
              <a:rPr lang="de-DE" sz="2400" i="1" dirty="0"/>
              <a:t>Zahlen und andere Datentypen mit </a:t>
            </a:r>
            <a:r>
              <a:rPr lang="de-DE" sz="22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de-DE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(…)+"\r" </a:t>
            </a:r>
            <a:r>
              <a:rPr lang="de-DE" sz="2400" i="1" dirty="0"/>
              <a:t>in Strings umwandeln</a:t>
            </a:r>
          </a:p>
          <a:p>
            <a:pPr lvl="1"/>
            <a:r>
              <a:rPr lang="de-DE" sz="2400" i="1" dirty="0"/>
              <a:t>Listenelemente in einer Schleife nacheinander wegschreiben (als Strings)  </a:t>
            </a:r>
            <a:br>
              <a:rPr lang="de-DE" sz="2400" i="1" dirty="0"/>
            </a:br>
            <a:endParaRPr lang="de-DE" sz="2400" i="1" dirty="0"/>
          </a:p>
          <a:p>
            <a:endParaRPr lang="de-DE" sz="2800" dirty="0"/>
          </a:p>
          <a:p>
            <a:pPr marL="0" indent="0">
              <a:buNone/>
            </a:pP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dateiobjekt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open("datei.txt", "w")</a:t>
            </a:r>
            <a:b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dateiobjekt.write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("Diese Zeile wird geschrieben"+"\r")</a:t>
            </a:r>
          </a:p>
          <a:p>
            <a:pPr marL="0" indent="0">
              <a:buNone/>
            </a:pP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dateiobjekt.write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("Und das ist die zweite und letzte Zeile"+"\n")</a:t>
            </a:r>
          </a:p>
          <a:p>
            <a:pPr marL="0" indent="0">
              <a:buNone/>
            </a:pP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dateiobjekt.close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de-DE" sz="2800" dirty="0"/>
              <a:t>Dateimodi: </a:t>
            </a:r>
          </a:p>
          <a:p>
            <a:pPr lvl="1"/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"w"	</a:t>
            </a:r>
            <a:r>
              <a:rPr lang="de-DE" sz="2400" dirty="0"/>
              <a:t>(WRITE Datei (über-)schreiben)</a:t>
            </a:r>
          </a:p>
          <a:p>
            <a:pPr lvl="1"/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"r" 	</a:t>
            </a:r>
            <a:r>
              <a:rPr lang="de-DE" sz="2300" dirty="0"/>
              <a:t>(READ  Datei lesen)</a:t>
            </a:r>
          </a:p>
          <a:p>
            <a:pPr lvl="1"/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de-DE" sz="2400" dirty="0"/>
              <a:t>  	(APPEND  an Datei anhängen)</a:t>
            </a:r>
          </a:p>
          <a:p>
            <a:pPr lvl="1"/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"r+" 	</a:t>
            </a:r>
            <a:r>
              <a:rPr lang="de-DE" sz="2400" dirty="0"/>
              <a:t>(READ+ Lesen und Schreiben)</a:t>
            </a:r>
          </a:p>
          <a:p>
            <a:pPr lvl="1"/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	</a:t>
            </a:r>
            <a:r>
              <a:rPr lang="de-DE" sz="2400" dirty="0"/>
              <a:t>(READ BINARY Binärdaten (Bytes) lesen)</a:t>
            </a:r>
          </a:p>
          <a:p>
            <a:pPr lvl="1"/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	</a:t>
            </a:r>
            <a:r>
              <a:rPr lang="de-DE" sz="2400" dirty="0"/>
              <a:t>(WRITE BINARY Bytes schreiben)</a:t>
            </a:r>
          </a:p>
          <a:p>
            <a:pPr lvl="1"/>
            <a:endParaRPr lang="de-DE" sz="2400" dirty="0"/>
          </a:p>
          <a:p>
            <a:r>
              <a:rPr lang="de-DE" sz="2800" b="1" dirty="0"/>
              <a:t>Hinweis</a:t>
            </a:r>
            <a:r>
              <a:rPr lang="de-DE" sz="2800" dirty="0"/>
              <a:t>: Python schreibt Textdateien standardmäßig in der Zeichencodierung "ISO 8859" (</a:t>
            </a:r>
            <a:r>
              <a:rPr lang="de-DE" sz="2800" dirty="0" err="1"/>
              <a:t>Latin</a:t>
            </a:r>
            <a:r>
              <a:rPr lang="de-DE" sz="2800" dirty="0"/>
              <a:t>). Sinnvoller ist, die Dateien in UTF-8 Codierung zu schreiben, mit </a:t>
            </a:r>
            <a:br>
              <a:rPr lang="de-DE" sz="2800" dirty="0"/>
            </a:b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 = open("dateiname.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txt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","w",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="utf-8")</a:t>
            </a:r>
          </a:p>
        </p:txBody>
      </p:sp>
      <p:sp>
        <p:nvSpPr>
          <p:cNvPr id="4" name="Legende: mit gebogener Linie 3">
            <a:extLst>
              <a:ext uri="{FF2B5EF4-FFF2-40B4-BE49-F238E27FC236}">
                <a16:creationId xmlns:a16="http://schemas.microsoft.com/office/drawing/2014/main" id="{D9669220-DEA6-42CC-B8C1-92C7A31E4F5E}"/>
              </a:ext>
            </a:extLst>
          </p:cNvPr>
          <p:cNvSpPr/>
          <p:nvPr/>
        </p:nvSpPr>
        <p:spPr>
          <a:xfrm>
            <a:off x="5796136" y="3212976"/>
            <a:ext cx="2376264" cy="288032"/>
          </a:xfrm>
          <a:prstGeom prst="borderCallout2">
            <a:avLst>
              <a:gd name="adj1" fmla="val 21440"/>
              <a:gd name="adj2" fmla="val -2789"/>
              <a:gd name="adj3" fmla="val 18750"/>
              <a:gd name="adj4" fmla="val -16667"/>
              <a:gd name="adj5" fmla="val 115190"/>
              <a:gd name="adj6" fmla="val -389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Dateimodus (engl. </a:t>
            </a:r>
            <a:r>
              <a:rPr lang="de-DE" sz="1400" dirty="0" err="1"/>
              <a:t>Filemode</a:t>
            </a:r>
            <a:r>
              <a:rPr lang="de-DE" sz="1400" dirty="0"/>
              <a:t>)</a:t>
            </a:r>
          </a:p>
        </p:txBody>
      </p:sp>
      <p:sp>
        <p:nvSpPr>
          <p:cNvPr id="5" name="Legende: mit gebogener Linie 4">
            <a:extLst>
              <a:ext uri="{FF2B5EF4-FFF2-40B4-BE49-F238E27FC236}">
                <a16:creationId xmlns:a16="http://schemas.microsoft.com/office/drawing/2014/main" id="{4D1AD183-2384-4952-8C57-4D019178F96A}"/>
              </a:ext>
            </a:extLst>
          </p:cNvPr>
          <p:cNvSpPr/>
          <p:nvPr/>
        </p:nvSpPr>
        <p:spPr>
          <a:xfrm flipH="1">
            <a:off x="827584" y="2636912"/>
            <a:ext cx="1703369" cy="320638"/>
          </a:xfrm>
          <a:prstGeom prst="borderCallout2">
            <a:avLst>
              <a:gd name="adj1" fmla="val 18750"/>
              <a:gd name="adj2" fmla="val -800"/>
              <a:gd name="adj3" fmla="val 18750"/>
              <a:gd name="adj4" fmla="val -16667"/>
              <a:gd name="adj5" fmla="val 132655"/>
              <a:gd name="adj6" fmla="val -387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/>
              <a:t>Dateiname </a:t>
            </a:r>
            <a:br>
              <a:rPr lang="de-DE" sz="1050" dirty="0"/>
            </a:br>
            <a:r>
              <a:rPr lang="de-DE" sz="1050" dirty="0"/>
              <a:t>(Pfad relativ zur .</a:t>
            </a:r>
            <a:r>
              <a:rPr lang="de-DE" sz="1050" dirty="0" err="1"/>
              <a:t>py</a:t>
            </a:r>
            <a:r>
              <a:rPr lang="de-DE" sz="1050" dirty="0"/>
              <a:t>-Datei)</a:t>
            </a:r>
          </a:p>
        </p:txBody>
      </p:sp>
    </p:spTree>
    <p:extLst>
      <p:ext uri="{BB962C8B-B14F-4D97-AF65-F5344CB8AC3E}">
        <p14:creationId xmlns:p14="http://schemas.microsoft.com/office/powerpoint/2010/main" val="3242749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3742E-1366-4302-9638-483021CEC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4000"/>
              <a:t>Text </a:t>
            </a:r>
            <a:r>
              <a:rPr lang="de-DE" sz="4000" dirty="0"/>
              <a:t>aus Dateien lesen</a:t>
            </a:r>
            <a:endParaRPr lang="de-DE" sz="4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3A5C8B-CC16-4CAE-8D38-8F519E67A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sz="2800" dirty="0"/>
              <a:t>Daten lassen sich aus den Textdateien lesen, wenn die Daten durch eine Zeilenschaltung getrennt sind</a:t>
            </a:r>
          </a:p>
          <a:p>
            <a:pPr lvl="1"/>
            <a:r>
              <a:rPr lang="de-DE" sz="2400" dirty="0"/>
              <a:t>Zunächst mit 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open() </a:t>
            </a:r>
            <a:r>
              <a:rPr lang="de-DE" sz="2400" dirty="0"/>
              <a:t>das Dateiobjekt erzeugen</a:t>
            </a:r>
          </a:p>
          <a:p>
            <a:pPr lvl="1"/>
            <a:r>
              <a:rPr lang="de-DE" sz="2400" dirty="0"/>
              <a:t>Dann die Zeile(n) (Daten kommen als String) mit der Methode 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zeile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dateiobjekt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2200" dirty="0"/>
              <a:t>– Schleife einlesen</a:t>
            </a:r>
            <a:endParaRPr lang="de-DE" sz="2400" dirty="0"/>
          </a:p>
          <a:p>
            <a:pPr lvl="1"/>
            <a:r>
              <a:rPr lang="de-DE" sz="2400" dirty="0"/>
              <a:t>Am Ende die Datei mit der Methode 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de-DE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de-DE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sz="2400" dirty="0"/>
              <a:t>schließen </a:t>
            </a:r>
          </a:p>
          <a:p>
            <a:pPr lvl="1"/>
            <a:r>
              <a:rPr lang="de-DE" sz="2400" i="1" dirty="0"/>
              <a:t>Nicht </a:t>
            </a:r>
            <a:r>
              <a:rPr lang="de-DE" sz="2400" i="1"/>
              <a:t>String-Daten (die natürlich als String gelesen werden, da Textdatei!) mit </a:t>
            </a:r>
            <a:r>
              <a:rPr lang="de-DE" sz="2400" i="1" dirty="0"/>
              <a:t>der  entsprechenden Funktion (</a:t>
            </a:r>
            <a:r>
              <a:rPr lang="de-DE" sz="22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de-DE" sz="22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de-DE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de-DE" sz="22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de-DE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sz="2400" i="1" dirty="0"/>
              <a:t>usw.) in den richtigen Dateitypen wandeln</a:t>
            </a:r>
          </a:p>
          <a:p>
            <a:pPr lvl="1"/>
            <a:r>
              <a:rPr lang="de-DE" sz="2400" i="1" dirty="0"/>
              <a:t>Beim einlesen von Listen muss eine vorher in die Datei geschriebene  Liste mit </a:t>
            </a:r>
            <a:r>
              <a:rPr lang="de-DE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de-DE" sz="22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de-DE" sz="2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sz="2400" i="1" dirty="0"/>
              <a:t>Zeile für Zeile aufgebaut werden</a:t>
            </a:r>
          </a:p>
          <a:p>
            <a:endParaRPr lang="de-DE" sz="2800" dirty="0"/>
          </a:p>
          <a:p>
            <a:pPr marL="0" indent="0">
              <a:buNone/>
            </a:pPr>
            <a:r>
              <a:rPr lang="de-DE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dateiobjekt</a:t>
            </a:r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open("datei.txt", "r")</a:t>
            </a:r>
            <a:b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zeile</a:t>
            </a:r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de-DE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dateiobjekt</a:t>
            </a:r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zeile</a:t>
            </a:r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dateiobjekt.close</a:t>
            </a:r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Legende: mit gebogener Linie 3">
            <a:extLst>
              <a:ext uri="{FF2B5EF4-FFF2-40B4-BE49-F238E27FC236}">
                <a16:creationId xmlns:a16="http://schemas.microsoft.com/office/drawing/2014/main" id="{D9669220-DEA6-42CC-B8C1-92C7A31E4F5E}"/>
              </a:ext>
            </a:extLst>
          </p:cNvPr>
          <p:cNvSpPr/>
          <p:nvPr/>
        </p:nvSpPr>
        <p:spPr>
          <a:xfrm>
            <a:off x="6372200" y="5373216"/>
            <a:ext cx="2016224" cy="288032"/>
          </a:xfrm>
          <a:prstGeom prst="borderCallout2">
            <a:avLst>
              <a:gd name="adj1" fmla="val 21440"/>
              <a:gd name="adj2" fmla="val -2789"/>
              <a:gd name="adj3" fmla="val 18750"/>
              <a:gd name="adj4" fmla="val -16667"/>
              <a:gd name="adj5" fmla="val -34803"/>
              <a:gd name="adj6" fmla="val -5708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Dateimodus READ</a:t>
            </a:r>
          </a:p>
        </p:txBody>
      </p:sp>
    </p:spTree>
    <p:extLst>
      <p:ext uri="{BB962C8B-B14F-4D97-AF65-F5344CB8AC3E}">
        <p14:creationId xmlns:p14="http://schemas.microsoft.com/office/powerpoint/2010/main" val="7169946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BB7ED6-E984-1AA8-80C5-A098D3CC7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/>
              <a:t>Überblick Datei-Funktionen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4A9981-E440-14A5-1997-6350E7FE8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7500" lnSpcReduction="20000"/>
          </a:bodyPr>
          <a:lstStyle/>
          <a:p>
            <a:r>
              <a:rPr lang="de-DE" sz="3100" b="1">
                <a:latin typeface="Courier New" panose="02070309020205020404" pitchFamily="49" charset="0"/>
                <a:cs typeface="Courier New" panose="02070309020205020404" pitchFamily="49" charset="0"/>
              </a:rPr>
              <a:t>file = open("Dateiname", "Modus")</a:t>
            </a:r>
            <a:br>
              <a:rPr lang="de-DE"/>
            </a:br>
            <a:r>
              <a:rPr lang="de-DE">
                <a:sym typeface="Wingdings" panose="05000000000000000000" pitchFamily="2" charset="2"/>
              </a:rPr>
              <a:t> Öffnet eine Datei und erzeugt ein Dateiobjekt (file)</a:t>
            </a:r>
          </a:p>
          <a:p>
            <a:r>
              <a:rPr lang="de-DE" sz="3100" b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txt=file.read(n) </a:t>
            </a:r>
            <a:r>
              <a:rPr lang="de-DE">
                <a:sym typeface="Wingdings" panose="05000000000000000000" pitchFamily="2" charset="2"/>
              </a:rPr>
              <a:t> Liest n Bytes, oder, wenn n nicht angegeben wurde, die gesamte Datei ein.</a:t>
            </a:r>
          </a:p>
          <a:p>
            <a:r>
              <a:rPr lang="de-DE" sz="3100" b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z=file.readline() </a:t>
            </a:r>
            <a:r>
              <a:rPr lang="de-DE">
                <a:sym typeface="Wingdings" panose="05000000000000000000" pitchFamily="2" charset="2"/>
              </a:rPr>
              <a:t> Liest die nächste (Text-)Zeile ein</a:t>
            </a:r>
          </a:p>
          <a:p>
            <a:r>
              <a:rPr lang="de-DE" sz="3100" b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sliste=file.readlines() </a:t>
            </a:r>
            <a:r>
              <a:rPr lang="de-DE">
                <a:sym typeface="Wingdings" panose="05000000000000000000" pitchFamily="2" charset="2"/>
              </a:rPr>
              <a:t> Liest alle Zeilen in eine Liste von Strings ein.</a:t>
            </a:r>
          </a:p>
          <a:p>
            <a:r>
              <a:rPr lang="de-DE" sz="3100" b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file.write(x) </a:t>
            </a:r>
            <a:r>
              <a:rPr lang="de-DE">
                <a:sym typeface="Wingdings" panose="05000000000000000000" pitchFamily="2" charset="2"/>
              </a:rPr>
              <a:t> Schreibt den Inhalt von x in die Datei</a:t>
            </a:r>
          </a:p>
          <a:p>
            <a:r>
              <a:rPr lang="de-DE" sz="3100" b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file.writelines(stringliste) </a:t>
            </a:r>
            <a:r>
              <a:rPr lang="de-DE">
                <a:sym typeface="Wingdings" panose="05000000000000000000" pitchFamily="2" charset="2"/>
              </a:rPr>
              <a:t> Schreibt eine Liste von Strings in die Datei.</a:t>
            </a:r>
          </a:p>
          <a:p>
            <a:r>
              <a:rPr lang="de-DE" sz="3100" b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file.close() </a:t>
            </a:r>
            <a:r>
              <a:rPr lang="de-DE">
                <a:sym typeface="Wingdings" panose="05000000000000000000" pitchFamily="2" charset="2"/>
              </a:rPr>
              <a:t> Schließt die Datei und löscht das Dateiobjekt im Arbeitsspeicher. Beim Schreiben immens wichtig, sonst droht Datenverlust.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21295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890EE7-AD95-43EE-8A67-F2DE49E45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CSV-Dateien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16FEA9-CF3B-4B37-B02E-4035FE5D2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556792"/>
            <a:ext cx="6768185" cy="4709120"/>
          </a:xfrm>
        </p:spPr>
        <p:txBody>
          <a:bodyPr>
            <a:normAutofit fontScale="70000" lnSpcReduction="20000"/>
          </a:bodyPr>
          <a:lstStyle/>
          <a:p>
            <a:r>
              <a:rPr lang="de-DE" dirty="0"/>
              <a:t>"</a:t>
            </a:r>
            <a:r>
              <a:rPr lang="de-DE" b="1" dirty="0" err="1">
                <a:solidFill>
                  <a:srgbClr val="C00000"/>
                </a:solidFill>
              </a:rPr>
              <a:t>C</a:t>
            </a:r>
            <a:r>
              <a:rPr lang="de-DE" dirty="0" err="1"/>
              <a:t>omma</a:t>
            </a:r>
            <a:r>
              <a:rPr lang="de-DE" dirty="0"/>
              <a:t> </a:t>
            </a:r>
            <a:r>
              <a:rPr lang="de-DE" b="1" dirty="0" err="1">
                <a:solidFill>
                  <a:srgbClr val="C00000"/>
                </a:solidFill>
              </a:rPr>
              <a:t>S</a:t>
            </a:r>
            <a:r>
              <a:rPr lang="de-DE" dirty="0" err="1"/>
              <a:t>eparated</a:t>
            </a:r>
            <a:r>
              <a:rPr lang="de-DE" dirty="0"/>
              <a:t> </a:t>
            </a:r>
            <a:r>
              <a:rPr lang="de-DE" b="1" dirty="0">
                <a:solidFill>
                  <a:srgbClr val="C00000"/>
                </a:solidFill>
              </a:rPr>
              <a:t>V</a:t>
            </a:r>
            <a:r>
              <a:rPr lang="de-DE" dirty="0"/>
              <a:t>alues" sind eine nur lose standardisierte Methode, eine Tabelle in Textform zu speichern, viele Anwendungen können </a:t>
            </a:r>
            <a:r>
              <a:rPr lang="de-DE" dirty="0" err="1"/>
              <a:t>csv</a:t>
            </a:r>
            <a:r>
              <a:rPr lang="de-DE" dirty="0"/>
              <a:t>-Dateien importieren und exportieren (z.B. Excel) </a:t>
            </a:r>
          </a:p>
          <a:p>
            <a:r>
              <a:rPr lang="de-DE" dirty="0"/>
              <a:t>Auch wenn der Name suggeriert, dass die Daten mit Kommas getrennt werden, ist das nicht immer so, üblich ist auch das Semikolon (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delimiter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=";"</a:t>
            </a:r>
            <a:r>
              <a:rPr lang="de-DE" dirty="0"/>
              <a:t>)</a:t>
            </a:r>
          </a:p>
          <a:p>
            <a:r>
              <a:rPr lang="de-DE" dirty="0"/>
              <a:t>Auch die Textkodierung (z.B. utf-8) kann festgelegt werden (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="utf-8" </a:t>
            </a:r>
            <a:r>
              <a:rPr lang="de-DE" dirty="0"/>
              <a:t>oder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="ANSI" </a:t>
            </a:r>
            <a:r>
              <a:rPr lang="de-DE" sz="3100" dirty="0"/>
              <a:t>oder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="ASCII"</a:t>
            </a:r>
            <a:r>
              <a:rPr lang="de-DE" dirty="0"/>
              <a:t>)</a:t>
            </a:r>
          </a:p>
          <a:p>
            <a:r>
              <a:rPr lang="de-DE" dirty="0"/>
              <a:t>Strings können mit oder ohne Anführungszeichen oder Hochkommas eingelesen werden </a:t>
            </a:r>
            <a:br>
              <a:rPr lang="de-DE" dirty="0"/>
            </a:br>
            <a:r>
              <a:rPr lang="de-DE" dirty="0"/>
              <a:t>(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quotechar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"'"</a:t>
            </a:r>
            <a:r>
              <a:rPr lang="de-DE" dirty="0"/>
              <a:t> )  </a:t>
            </a:r>
            <a:r>
              <a:rPr lang="de-DE" dirty="0">
                <a:sym typeface="Wingdings" panose="05000000000000000000" pitchFamily="2" charset="2"/>
              </a:rPr>
              <a:t> Legt Hochkomma fest</a:t>
            </a:r>
            <a:endParaRPr lang="de-DE" dirty="0"/>
          </a:p>
          <a:p>
            <a:r>
              <a:rPr lang="de-DE" dirty="0"/>
              <a:t>Andere Variablentypen können beim Einlesen in einer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DE" dirty="0"/>
              <a:t>-Schleife in den gewünschten Datentyp konvertiert werden.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343FD2A-6B70-4787-AEEA-7AEDEDA188EE}"/>
              </a:ext>
            </a:extLst>
          </p:cNvPr>
          <p:cNvSpPr txBox="1"/>
          <p:nvPr/>
        </p:nvSpPr>
        <p:spPr>
          <a:xfrm>
            <a:off x="7352050" y="4293096"/>
            <a:ext cx="1095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.</a:t>
            </a:r>
            <a:r>
              <a:rPr lang="de-DE" dirty="0" err="1"/>
              <a:t>csv</a:t>
            </a:r>
            <a:r>
              <a:rPr lang="de-DE" dirty="0"/>
              <a:t>-Datei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DF12B76-76B0-42E5-807F-BA843E4B6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40" y="2048042"/>
            <a:ext cx="2334729" cy="233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1474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7FCBE6-0A9B-47D2-B1A5-E098570F1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CSV-Dateien einlesen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FF74E7-82F5-47A1-ACB7-EEB130EE2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66124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de-DE" dirty="0"/>
              <a:t>Nach Öffnen der Datei und Erzeugen des Reader-Objektes kann die gesamte </a:t>
            </a:r>
            <a:r>
              <a:rPr lang="de-DE" dirty="0" err="1"/>
              <a:t>csv</a:t>
            </a:r>
            <a:r>
              <a:rPr lang="de-DE" dirty="0"/>
              <a:t>-Datei in einer Schleife Zeile für Zeile durchlaufen werden:</a:t>
            </a:r>
          </a:p>
          <a:p>
            <a:pPr marL="80010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</a:t>
            </a:r>
            <a:endParaRPr lang="de-DE" sz="20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</a:t>
            </a:r>
            <a:r>
              <a:rPr lang="de-DE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=open("tabelle.</a:t>
            </a:r>
            <a:r>
              <a:rPr lang="de-DE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</a:t>
            </a:r>
            <a:r>
              <a:rPr lang="de-DE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","r")</a:t>
            </a:r>
          </a:p>
          <a:p>
            <a:pPr marL="80010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reader_obj</a:t>
            </a:r>
            <a:r>
              <a:rPr lang="de-DE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csv.reader</a:t>
            </a:r>
            <a:r>
              <a:rPr lang="de-DE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</a:t>
            </a:r>
            <a:r>
              <a:rPr lang="de-DE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80010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DE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zeile</a:t>
            </a:r>
            <a:r>
              <a:rPr lang="de-DE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de-DE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reader_obj</a:t>
            </a:r>
            <a:r>
              <a:rPr lang="de-DE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80010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de-DE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zeile</a:t>
            </a:r>
            <a:r>
              <a:rPr lang="de-DE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80010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de-DE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fo.close</a:t>
            </a:r>
            <a:r>
              <a:rPr lang="de-DE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de-DE" dirty="0"/>
              <a:t>Optionen für </a:t>
            </a:r>
            <a:r>
              <a:rPr lang="de-DE" dirty="0" err="1"/>
              <a:t>Delimiter</a:t>
            </a:r>
            <a:r>
              <a:rPr lang="de-DE" dirty="0"/>
              <a:t>, Kodierung und Anführungszeichen ("</a:t>
            </a:r>
            <a:r>
              <a:rPr lang="de-DE" dirty="0" err="1"/>
              <a:t>quotechar</a:t>
            </a:r>
            <a:r>
              <a:rPr lang="de-DE" dirty="0"/>
              <a:t>") sind möglich (und auch oft nötig!).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de-DE" dirty="0"/>
              <a:t>Das Python-Modul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de-DE" dirty="0"/>
              <a:t> (muss erst mit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pip3</a:t>
            </a:r>
            <a:r>
              <a:rPr lang="de-DE" dirty="0"/>
              <a:t> installiert werden) bietet eine noch komfortablere Methode, um </a:t>
            </a:r>
            <a:r>
              <a:rPr lang="de-DE" dirty="0" err="1"/>
              <a:t>csv</a:t>
            </a:r>
            <a:r>
              <a:rPr lang="de-DE" dirty="0"/>
              <a:t> einzulesen und sogar einen speziellen Datentypen (Dataframe) für die Verarbeitung der Daten: </a:t>
            </a:r>
            <a:r>
              <a:rPr lang="de-DE" dirty="0">
                <a:hlinkClick r:id="rId2"/>
              </a:rPr>
              <a:t>https://statologie.de/csv-dateien-pandas/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007823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75DDB-2C1E-4CAA-AD64-129135D0B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Beispiel CSV einlesen</a:t>
            </a:r>
            <a:br>
              <a:rPr lang="de-DE" dirty="0"/>
            </a:br>
            <a:r>
              <a:rPr lang="de-DE" dirty="0"/>
              <a:t>(aus Excel exportiert)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8D2952-0953-484A-A6E9-06A7CB0BF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98316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</a:t>
            </a:r>
            <a:endParaRPr lang="de-DE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tabelle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=[]			        # Leere Liste zum Einlesen der Zeilen</a:t>
            </a:r>
          </a:p>
          <a:p>
            <a:pPr marL="0" indent="0">
              <a:buNone/>
            </a:pP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=open("excel.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","r",</a:t>
            </a:r>
            <a:r>
              <a:rPr lang="de-DE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de-DE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="ANSI"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# ANSI-Kodierung ist bei Office Apps üblich!</a:t>
            </a:r>
          </a:p>
          <a:p>
            <a:pPr marL="0" indent="0">
              <a:buNone/>
            </a:pP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readerobj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csv.reader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</a:t>
            </a:r>
            <a:r>
              <a:rPr lang="de-DE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=";"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# 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reader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-Objekt</a:t>
            </a:r>
          </a:p>
          <a:p>
            <a:pPr marL="0" indent="0">
              <a:buNone/>
            </a:pP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überschrift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de-DE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readerobj</a:t>
            </a:r>
            <a:r>
              <a:rPr lang="de-DE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# Überschrift einlesen (sofern vorhanden)</a:t>
            </a:r>
          </a:p>
          <a:p>
            <a:pPr marL="0" indent="0">
              <a:buNone/>
            </a:pP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zeile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readerobj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zeile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[2]=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zeile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[2])  # Konvertierung Feld 2 in Integer</a:t>
            </a:r>
          </a:p>
          <a:p>
            <a:pPr marL="0" indent="0">
              <a:buNone/>
            </a:pP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tabelle.append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zeile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	  # Zeile in Liste speichern</a:t>
            </a:r>
          </a:p>
          <a:p>
            <a:pPr marL="0" indent="0">
              <a:buNone/>
            </a:pPr>
            <a:r>
              <a:rPr 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fo.close</a:t>
            </a:r>
            <a:r>
              <a:rPr 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de-DE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/>
              <a:t>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="ANSI" </a:t>
            </a:r>
            <a:r>
              <a:rPr lang="de-DE" dirty="0"/>
              <a:t>wird vom ANSI-Zeichensatz konvertiert (ansonsten meist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="utf-8"</a:t>
            </a:r>
            <a:r>
              <a:rPr lang="de-DE" dirty="0"/>
              <a:t>).</a:t>
            </a:r>
          </a:p>
          <a:p>
            <a:r>
              <a:rPr lang="de-DE" dirty="0"/>
              <a:t>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delimiter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=";" </a:t>
            </a:r>
            <a:r>
              <a:rPr lang="de-DE" dirty="0"/>
              <a:t>sind </a:t>
            </a:r>
            <a:r>
              <a:rPr lang="de-DE" dirty="0" err="1"/>
              <a:t>Semikoli</a:t>
            </a:r>
            <a:r>
              <a:rPr lang="de-DE" dirty="0"/>
              <a:t> die Trennzeichen zwischen den Feldern (statt Kommata).</a:t>
            </a:r>
          </a:p>
          <a:p>
            <a:r>
              <a:rPr lang="de-DE" dirty="0"/>
              <a:t>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quotechar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de-DE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de-DE" i="1" dirty="0"/>
              <a:t>könnte</a:t>
            </a:r>
            <a:r>
              <a:rPr lang="de-DE" dirty="0"/>
              <a:t> das Hochkomma festgelegt werden (statt "), ist aber bei Excel-Dateien nicht der Fall.</a:t>
            </a:r>
          </a:p>
          <a:p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de-DE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DE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de-DE" dirty="0"/>
              <a:t>liest eine Zeile (in diesem Fall die erste) mit den Überschriften ein, die sonst in der Schleife stören würden.</a:t>
            </a:r>
          </a:p>
          <a:p>
            <a:r>
              <a:rPr lang="de-DE" dirty="0"/>
              <a:t>In der </a:t>
            </a:r>
            <a: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de-DE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zeile</a:t>
            </a:r>
            <a: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de-DE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readerobj</a:t>
            </a:r>
            <a: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dirty="0"/>
              <a:t>- Schleife können dann die einzelnen Elemente in die richtigen Datentypen konvertiert werden.</a:t>
            </a:r>
          </a:p>
        </p:txBody>
      </p:sp>
    </p:spTree>
    <p:extLst>
      <p:ext uri="{BB962C8B-B14F-4D97-AF65-F5344CB8AC3E}">
        <p14:creationId xmlns:p14="http://schemas.microsoft.com/office/powerpoint/2010/main" val="29188168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AE4A1D-2F3F-466E-BC54-43A2079A8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CSV-Datei schreiben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78FBF3-E33C-4251-AA16-413C40D01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340768"/>
            <a:ext cx="9001000" cy="5517232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de-DE" dirty="0"/>
              <a:t>Listen (insbesondere 2-Dimensionale) lassen sich ganz einfach in CSV-Dateien schreiben, dabei gelten die gleichen Optionen (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delimiter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quotechar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de-DE" dirty="0"/>
              <a:t>) wie beim Lesen.</a:t>
            </a:r>
          </a:p>
          <a:p>
            <a:pPr>
              <a:lnSpc>
                <a:spcPct val="120000"/>
              </a:lnSpc>
            </a:pPr>
            <a:r>
              <a:rPr lang="de-DE" dirty="0"/>
              <a:t>Beim Schreiben einer </a:t>
            </a:r>
            <a:r>
              <a:rPr lang="de-DE" dirty="0" err="1"/>
              <a:t>csv</a:t>
            </a:r>
            <a:r>
              <a:rPr lang="de-DE" dirty="0"/>
              <a:t> muss jedoch die Datei im "</a:t>
            </a:r>
            <a:r>
              <a:rPr lang="de-DE" sz="3800" b="1" dirty="0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de-DE" dirty="0"/>
              <a:t>"-Modus geöffnet werden und es wird ein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csv.writer</a:t>
            </a:r>
            <a:r>
              <a:rPr lang="de-DE" dirty="0"/>
              <a:t>-Objekt erzeugt (hier Excel-freundlich im "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ANSI"</a:t>
            </a:r>
            <a:r>
              <a:rPr lang="de-DE" dirty="0"/>
              <a:t> Encoding, sonst besser "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utf-8"</a:t>
            </a:r>
            <a:r>
              <a:rPr lang="de-DE" dirty="0"/>
              <a:t> verwenden:</a:t>
            </a:r>
          </a:p>
          <a:p>
            <a:pPr marL="400050" lvl="1" indent="0">
              <a:lnSpc>
                <a:spcPct val="120000"/>
              </a:lnSpc>
              <a:buNone/>
            </a:pPr>
            <a:b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csv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=[["VW",1000],["BMW",2000],["Opel",500]]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=open("autos.csv", "w", encoding="</a:t>
            </a:r>
            <a:r>
              <a:rPr lang="en-US" sz="20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ANSI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wo=</a:t>
            </a:r>
            <a:r>
              <a:rPr lang="en-US" sz="20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csv.writer</a:t>
            </a:r>
            <a:r>
              <a:rPr lang="en-US" sz="20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</a:t>
            </a:r>
            <a:r>
              <a:rPr lang="en-US" sz="20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delimiter=";", </a:t>
            </a:r>
            <a:r>
              <a:rPr lang="en-US" sz="20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lineterminator</a:t>
            </a:r>
            <a:r>
              <a:rPr lang="en-US" sz="20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="\n", </a:t>
            </a:r>
            <a:r>
              <a:rPr lang="en-US" sz="20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quotechar</a:t>
            </a:r>
            <a:r>
              <a:rPr lang="en-US" sz="20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='"', quoting=</a:t>
            </a:r>
            <a:r>
              <a:rPr lang="en-US" sz="20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csv.QUOTE_NONNUMERIC</a:t>
            </a:r>
            <a:r>
              <a:rPr lang="en-US" sz="20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US" sz="20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wo.writerows</a:t>
            </a:r>
            <a:r>
              <a:rPr lang="en-US" sz="20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liste</a:t>
            </a:r>
            <a:r>
              <a:rPr lang="en-US" sz="20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fo.close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de-DE" sz="2300" dirty="0"/>
          </a:p>
          <a:p>
            <a:pPr>
              <a:lnSpc>
                <a:spcPct val="120000"/>
              </a:lnSpc>
            </a:pPr>
            <a:r>
              <a:rPr lang="de-DE" sz="3100" dirty="0"/>
              <a:t>Die Funktion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wo.</a:t>
            </a:r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writerows</a:t>
            </a:r>
            <a:r>
              <a:rPr lang="de-DE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(liste) </a:t>
            </a:r>
            <a:r>
              <a:rPr lang="de-DE" sz="3100" dirty="0"/>
              <a:t>schreibt in diesem Fall die gesamte Liste in die CSV-Datei.</a:t>
            </a:r>
          </a:p>
          <a:p>
            <a:pPr>
              <a:lnSpc>
                <a:spcPct val="120000"/>
              </a:lnSpc>
            </a:pPr>
            <a:r>
              <a:rPr lang="de-DE" sz="3100" dirty="0"/>
              <a:t>Alternativ kann man die Funktion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wo.</a:t>
            </a:r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writero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(..) </a:t>
            </a:r>
            <a:r>
              <a:rPr lang="de-DE" dirty="0"/>
              <a:t>nutzen um in die CSV-Datei </a:t>
            </a:r>
            <a:r>
              <a:rPr lang="de-DE" sz="3100" dirty="0"/>
              <a:t>Zeile für Zeile zu schreiben: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zeile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liste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4000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wo.writerow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zeile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de-DE" sz="3100" dirty="0"/>
              <a:t>Optional Überschrift schreiben (vor Zeile 5):  </a:t>
            </a:r>
            <a:r>
              <a:rPr lang="en-US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wo.writerow</a:t>
            </a:r>
            <a:r>
              <a:rPr lang="en-US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(["</a:t>
            </a:r>
            <a:r>
              <a:rPr lang="en-US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Autohersteller</a:t>
            </a:r>
            <a:r>
              <a:rPr lang="en-US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US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Stückzahl</a:t>
            </a:r>
            <a:r>
              <a:rPr lang="en-US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"])</a:t>
            </a:r>
            <a:endParaRPr lang="de-DE" sz="3100" dirty="0"/>
          </a:p>
          <a:p>
            <a:pPr>
              <a:lnSpc>
                <a:spcPct val="120000"/>
              </a:lnSpc>
            </a:pPr>
            <a:r>
              <a:rPr lang="de-DE" sz="3100" dirty="0"/>
              <a:t>Die Option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lineterminator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="\n" </a:t>
            </a:r>
            <a:r>
              <a:rPr lang="en-US" dirty="0" err="1"/>
              <a:t>sorgt</a:t>
            </a:r>
            <a:r>
              <a:rPr lang="en-US" dirty="0"/>
              <a:t> </a:t>
            </a:r>
            <a:r>
              <a:rPr lang="en-US" dirty="0" err="1"/>
              <a:t>dafür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</a:t>
            </a:r>
            <a:r>
              <a:rPr lang="en-US" dirty="0" err="1"/>
              <a:t>keine</a:t>
            </a:r>
            <a:r>
              <a:rPr lang="en-US" dirty="0"/>
              <a:t> </a:t>
            </a:r>
            <a:r>
              <a:rPr lang="en-US" dirty="0" err="1"/>
              <a:t>Leerzeilen</a:t>
            </a:r>
            <a:r>
              <a:rPr lang="en-US" dirty="0"/>
              <a:t> in der CSV-</a:t>
            </a:r>
            <a:r>
              <a:rPr lang="en-US" dirty="0" err="1"/>
              <a:t>Datei</a:t>
            </a:r>
            <a:r>
              <a:rPr lang="en-US" dirty="0"/>
              <a:t> </a:t>
            </a:r>
            <a:r>
              <a:rPr lang="en-US" dirty="0" err="1"/>
              <a:t>erscheinen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/>
              <a:t>Die </a:t>
            </a:r>
            <a:r>
              <a:rPr lang="en-US" dirty="0" err="1"/>
              <a:t>Optionen</a:t>
            </a:r>
            <a:r>
              <a:rPr lang="en-US" dirty="0"/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quotechar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='"', quoting=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csv.QUOTE_NONNUMERIC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/>
              <a:t>sorgen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das "</a:t>
            </a:r>
            <a:r>
              <a:rPr lang="en-US" dirty="0" err="1"/>
              <a:t>quoten</a:t>
            </a:r>
            <a:r>
              <a:rPr lang="en-US" dirty="0"/>
              <a:t>" (also in </a:t>
            </a:r>
            <a:r>
              <a:rPr lang="en-US" dirty="0" err="1"/>
              <a:t>Anführungszeichen</a:t>
            </a:r>
            <a:r>
              <a:rPr lang="en-US" dirty="0"/>
              <a:t> </a:t>
            </a:r>
            <a:r>
              <a:rPr lang="en-US" dirty="0" err="1"/>
              <a:t>schreiben</a:t>
            </a:r>
            <a:r>
              <a:rPr lang="en-US" dirty="0"/>
              <a:t>) der </a:t>
            </a:r>
            <a:r>
              <a:rPr lang="en-US" dirty="0" err="1"/>
              <a:t>nicht-numerischen</a:t>
            </a:r>
            <a:r>
              <a:rPr lang="en-US" dirty="0"/>
              <a:t> </a:t>
            </a:r>
            <a:r>
              <a:rPr lang="en-US" dirty="0" err="1"/>
              <a:t>Daten</a:t>
            </a:r>
            <a:r>
              <a:rPr lang="en-US" dirty="0"/>
              <a:t>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314394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3742E-1366-4302-9638-483021CEC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800" dirty="0"/>
              <a:t>Ergänzendes </a:t>
            </a:r>
            <a:r>
              <a:rPr lang="de-DE" sz="2800"/>
              <a:t>Wissen: Dateien </a:t>
            </a:r>
            <a:r>
              <a:rPr lang="de-DE" sz="2800" dirty="0"/>
              <a:t>Schreiben/Lesen mit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800" b="1">
                <a:latin typeface="Courier New" panose="02070309020205020404" pitchFamily="49" charset="0"/>
                <a:cs typeface="Courier New" panose="02070309020205020404" pitchFamily="49" charset="0"/>
              </a:rPr>
              <a:t>open(..)as…</a:t>
            </a:r>
            <a:endParaRPr lang="de-DE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3A5C8B-CC16-4CAE-8D38-8F519E67A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600200"/>
            <a:ext cx="8856984" cy="5213176"/>
          </a:xfrm>
        </p:spPr>
        <p:txBody>
          <a:bodyPr>
            <a:normAutofit fontScale="85000" lnSpcReduction="20000"/>
          </a:bodyPr>
          <a:lstStyle/>
          <a:p>
            <a:r>
              <a:rPr lang="de-DE" sz="2800" dirty="0"/>
              <a:t>Dateiobjekt mit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open()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de-DE" sz="2800" dirty="0"/>
              <a:t> und der Option "</a:t>
            </a:r>
            <a:r>
              <a:rPr lang="de-DE" sz="2800" b="1" dirty="0"/>
              <a:t>w" </a:t>
            </a:r>
            <a:r>
              <a:rPr lang="de-DE" sz="2800" dirty="0"/>
              <a:t>(</a:t>
            </a:r>
            <a:r>
              <a:rPr lang="de-DE" sz="2800" dirty="0" err="1"/>
              <a:t>write</a:t>
            </a:r>
            <a:r>
              <a:rPr lang="de-DE" sz="2800" dirty="0"/>
              <a:t>) erzeugen und im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DE" sz="2800" dirty="0"/>
              <a:t>Block Zeile für Zeile schreiben:</a:t>
            </a:r>
          </a:p>
          <a:p>
            <a:pPr marL="400050" lvl="1" indent="0">
              <a:buNone/>
            </a:pP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open("datei1.txt","w")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dateiobj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400050" lvl="1" indent="0">
              <a:buNone/>
            </a:pP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dateiobj.write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("Hallo das ist meine Datei\n")</a:t>
            </a:r>
          </a:p>
          <a:p>
            <a:pPr marL="400050" lvl="1" indent="0">
              <a:buNone/>
            </a:pP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dateiobj.write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("Und hier die Zweite Zeile\n")</a:t>
            </a:r>
          </a:p>
          <a:p>
            <a:r>
              <a:rPr lang="de-DE" sz="2800" dirty="0"/>
              <a:t>Dateiobjekt mit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open()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de-DE" sz="2800" dirty="0"/>
              <a:t> und der Option "</a:t>
            </a:r>
            <a:r>
              <a:rPr lang="de-DE" sz="2800" b="1" dirty="0"/>
              <a:t>r" </a:t>
            </a:r>
            <a:r>
              <a:rPr lang="de-DE" sz="2800" dirty="0"/>
              <a:t>(</a:t>
            </a:r>
            <a:r>
              <a:rPr lang="de-DE" sz="2800" dirty="0" err="1"/>
              <a:t>read</a:t>
            </a:r>
            <a:r>
              <a:rPr lang="de-DE" sz="2800" dirty="0"/>
              <a:t>) erzeugen und im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de-DE" sz="2800" dirty="0"/>
              <a:t>-Block Zeile für Zeile einlesen:</a:t>
            </a:r>
          </a:p>
          <a:p>
            <a:pPr marL="400050" lvl="1" indent="0">
              <a:buNone/>
            </a:pP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open("datei1.txt","r")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dateiobj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400050" lvl="1" indent="0">
              <a:buNone/>
            </a:pP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zeile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dateiobj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400050" lvl="1" indent="0">
              <a:buNone/>
            </a:pP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zeile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end="")</a:t>
            </a:r>
          </a:p>
          <a:p>
            <a:r>
              <a:rPr lang="de-DE" sz="2800" dirty="0"/>
              <a:t>Beim Beenden des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-Blocks</a:t>
            </a:r>
            <a:r>
              <a:rPr lang="de-DE" sz="2800" dirty="0"/>
              <a:t> (auch bei Fehlern) wird die Datei automatisch geschlossen: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dateiobj.close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DE" sz="2800" dirty="0"/>
              <a:t>ist nicht nötig!</a:t>
            </a:r>
          </a:p>
          <a:p>
            <a:r>
              <a:rPr lang="de-DE" sz="2800" dirty="0"/>
              <a:t>Beispiel CSV-Datei schreiben:</a:t>
            </a:r>
          </a:p>
          <a:p>
            <a:pPr marL="400050" lvl="1" indent="0">
              <a:buNone/>
            </a:pP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open("datei.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","r",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="utf-8")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dateiobj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400050" lvl="1" indent="0">
              <a:buNone/>
            </a:pP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writerobj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csv.writer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dateiobj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delimiter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=";",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quoting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csv.QUOTE_NONNUMERIC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400050" lvl="1" indent="0">
              <a:buNone/>
            </a:pP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writerobj.writerows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(datenliste)</a:t>
            </a:r>
          </a:p>
          <a:p>
            <a:pPr marL="457200" indent="-457200"/>
            <a:r>
              <a:rPr lang="de-DE" dirty="0"/>
              <a:t>Auch hier ist ein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dateiobj.close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DE" dirty="0"/>
              <a:t> der Datei unnötig!</a:t>
            </a:r>
          </a:p>
        </p:txBody>
      </p:sp>
    </p:spTree>
    <p:extLst>
      <p:ext uri="{BB962C8B-B14F-4D97-AF65-F5344CB8AC3E}">
        <p14:creationId xmlns:p14="http://schemas.microsoft.com/office/powerpoint/2010/main" val="21569954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53385-1570-4E0A-8A12-CBD4160C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JSON</a:t>
            </a:r>
            <a:br>
              <a:rPr lang="de-DE" dirty="0"/>
            </a:br>
            <a:r>
              <a:rPr lang="de-DE" dirty="0"/>
              <a:t>(JavaScript </a:t>
            </a:r>
            <a:r>
              <a:rPr lang="de-DE" dirty="0" err="1"/>
              <a:t>Object</a:t>
            </a:r>
            <a:r>
              <a:rPr lang="de-DE" dirty="0"/>
              <a:t> Notation)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515718-4D53-4528-A5F4-6D799E144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600200"/>
            <a:ext cx="5904656" cy="5257800"/>
          </a:xfrm>
        </p:spPr>
        <p:txBody>
          <a:bodyPr>
            <a:normAutofit fontScale="92500"/>
          </a:bodyPr>
          <a:lstStyle/>
          <a:p>
            <a:r>
              <a:rPr lang="de-DE" sz="2400" dirty="0"/>
              <a:t>Ähnelt sehr dem Dictionary von Python</a:t>
            </a:r>
          </a:p>
          <a:p>
            <a:r>
              <a:rPr lang="de-DE" sz="2400" dirty="0"/>
              <a:t>Bestandteil der JavaScript Sprachdefinition</a:t>
            </a:r>
          </a:p>
          <a:p>
            <a:r>
              <a:rPr lang="de-DE" sz="2400" dirty="0"/>
              <a:t>Mögliche Inhalte von JSON:</a:t>
            </a:r>
          </a:p>
          <a:p>
            <a:pPr lvl="1"/>
            <a:r>
              <a:rPr lang="de-DE" sz="2000" dirty="0"/>
              <a:t>Key-Values Paare:    </a:t>
            </a: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{"Baujahr":1965}</a:t>
            </a:r>
            <a:b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oder {"Name" : "Gert </a:t>
            </a:r>
            <a:r>
              <a:rPr lang="de-DE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Mülla</a:t>
            </a: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"} oder </a:t>
            </a:r>
            <a:b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{"Rabatt" : </a:t>
            </a:r>
            <a:r>
              <a:rPr lang="de-DE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de-DE" sz="2000" dirty="0"/>
              <a:t>Statt einzelnen Values Arrays / Liste(n): </a:t>
            </a:r>
            <a:br>
              <a:rPr lang="de-DE" sz="2000" dirty="0"/>
            </a:b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"K1":["Müller", 53859, "Niederort", True, 15000],</a:t>
            </a:r>
            <a:b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"K2":["Schulz", 53177, "Bonn",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2000] }</a:t>
            </a:r>
          </a:p>
          <a:p>
            <a:pPr lvl="1"/>
            <a:r>
              <a:rPr lang="de-DE" sz="2000" dirty="0"/>
              <a:t>Statt einzelnen Values weitere JSON-Objekte / </a:t>
            </a:r>
            <a:r>
              <a:rPr lang="de-DE" sz="2000" dirty="0" err="1"/>
              <a:t>Directories</a:t>
            </a:r>
            <a:r>
              <a:rPr lang="de-DE" sz="2000" dirty="0"/>
              <a:t>: </a:t>
            </a:r>
            <a:br>
              <a:rPr lang="de-DE" sz="2000" dirty="0"/>
            </a:b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{"Auto1":{"</a:t>
            </a:r>
            <a:r>
              <a:rPr lang="de-DE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Marke":"VW</a:t>
            </a: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"PS":150} ,</a:t>
            </a:r>
            <a:b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"Auto2":{"</a:t>
            </a:r>
            <a:r>
              <a:rPr lang="de-DE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Marke":"Porsche</a:t>
            </a: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"PS":450}}</a:t>
            </a:r>
            <a:endParaRPr lang="de-DE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2400" dirty="0"/>
              <a:t>Der Key IMMER in Anführungszeichen ("</a:t>
            </a:r>
            <a:r>
              <a:rPr lang="de-DE" sz="2400" dirty="0" err="1"/>
              <a:t>key</a:t>
            </a:r>
            <a:r>
              <a:rPr lang="de-DE" sz="2400" dirty="0"/>
              <a:t>")</a:t>
            </a:r>
          </a:p>
          <a:p>
            <a:r>
              <a:rPr lang="de-DE" sz="2400" dirty="0"/>
              <a:t>Als Dateien (Textdateien UTF-8 kodiert) werden JSON-Dateien meist mit der Dateiendung .</a:t>
            </a:r>
            <a:r>
              <a:rPr lang="de-DE" sz="2400" dirty="0" err="1"/>
              <a:t>json</a:t>
            </a:r>
            <a:r>
              <a:rPr lang="de-DE" sz="2400" dirty="0"/>
              <a:t> gespeichert.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F1F014F-78EE-4BB0-9316-9C1DB8B8D1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30" t="347"/>
          <a:stretch/>
        </p:blipFill>
        <p:spPr>
          <a:xfrm>
            <a:off x="6012160" y="1383347"/>
            <a:ext cx="3024336" cy="54444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2B7ED5D-F06E-4863-5006-CCDC5E3AD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384" y="274638"/>
            <a:ext cx="957155" cy="95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875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53385-1570-4E0A-8A12-CBD4160C0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5328592" cy="1143000"/>
          </a:xfrm>
        </p:spPr>
        <p:txBody>
          <a:bodyPr/>
          <a:lstStyle/>
          <a:p>
            <a:r>
              <a:rPr lang="de-DE" dirty="0"/>
              <a:t>JSON / Python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515718-4D53-4528-A5F4-6D799E144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600200"/>
            <a:ext cx="9001000" cy="5069160"/>
          </a:xfrm>
        </p:spPr>
        <p:txBody>
          <a:bodyPr>
            <a:normAutofit fontScale="77500" lnSpcReduction="20000"/>
          </a:bodyPr>
          <a:lstStyle/>
          <a:p>
            <a:r>
              <a:rPr lang="de-DE" dirty="0"/>
              <a:t>Die Daten eines JSON werden in Python meist in einem </a:t>
            </a:r>
            <a:r>
              <a:rPr lang="de-DE" dirty="0" err="1"/>
              <a:t>DIctionary</a:t>
            </a:r>
            <a:r>
              <a:rPr lang="de-DE" dirty="0"/>
              <a:t> gespeichert, welches sehr ähnlich aufgebaut ist.</a:t>
            </a:r>
          </a:p>
          <a:p>
            <a:r>
              <a:rPr lang="de-DE" dirty="0"/>
              <a:t>Es gibt aber Unterschiede zu Python </a:t>
            </a:r>
            <a:r>
              <a:rPr lang="de-DE" dirty="0" err="1"/>
              <a:t>Dictionaries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Strings sind in JSON immer in "doppelten" Anführungsstrichen, in Python sind 'einfache' und "doppelte" erlaubt</a:t>
            </a:r>
          </a:p>
          <a:p>
            <a:pPr lvl="1"/>
            <a:r>
              <a:rPr lang="de-DE" dirty="0"/>
              <a:t>Die "Keys" (Properties in JSON) sind immer in Anführungszeichen</a:t>
            </a:r>
          </a:p>
          <a:p>
            <a:pPr lvl="1"/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de-DE" dirty="0"/>
              <a:t> und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de-DE" dirty="0"/>
              <a:t> statt 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de-DE" dirty="0"/>
              <a:t> und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de-DE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de-DE" dirty="0"/>
              <a:t> statt 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  <a:p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800" dirty="0">
                <a:sym typeface="Wingdings" panose="05000000000000000000" pitchFamily="2" charset="2"/>
              </a:rPr>
              <a:t> Verschiedene nützliche JSON-Funktionen/Methoden</a:t>
            </a:r>
            <a:endParaRPr lang="de-DE" sz="2800" dirty="0"/>
          </a:p>
          <a:p>
            <a:pPr lvl="1"/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json.loads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</a:t>
            </a:r>
            <a:r>
              <a:rPr lang="de-DE" sz="2600" dirty="0"/>
              <a:t> </a:t>
            </a:r>
            <a:r>
              <a:rPr lang="de-DE" sz="2600" b="1" dirty="0"/>
              <a:t>Konvertiert</a:t>
            </a:r>
            <a:r>
              <a:rPr lang="de-DE" sz="2600" dirty="0"/>
              <a:t> einen JSON-String in ein Python-Dictionary</a:t>
            </a:r>
          </a:p>
          <a:p>
            <a:pPr lvl="1"/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json.dumps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de-DE" sz="2600" dirty="0">
                <a:sym typeface="Wingdings" panose="05000000000000000000" pitchFamily="2" charset="2"/>
              </a:rPr>
              <a:t> </a:t>
            </a:r>
            <a:r>
              <a:rPr lang="de-DE" sz="2600" b="1" dirty="0">
                <a:sym typeface="Wingdings" panose="05000000000000000000" pitchFamily="2" charset="2"/>
              </a:rPr>
              <a:t>Konvertiert</a:t>
            </a:r>
            <a:r>
              <a:rPr lang="de-DE" sz="2600" dirty="0">
                <a:sym typeface="Wingdings" panose="05000000000000000000" pitchFamily="2" charset="2"/>
              </a:rPr>
              <a:t> ein Python-Dictionary in einen JSON-kompatiblen String</a:t>
            </a:r>
          </a:p>
          <a:p>
            <a:pPr lvl="1"/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json.load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(do) 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</a:t>
            </a:r>
            <a:r>
              <a:rPr lang="de-DE" sz="2600" dirty="0"/>
              <a:t> </a:t>
            </a:r>
            <a:r>
              <a:rPr lang="de-DE" sz="2600" b="1" dirty="0"/>
              <a:t>Lädt</a:t>
            </a:r>
            <a:r>
              <a:rPr lang="de-DE" sz="2600" dirty="0"/>
              <a:t> eine JSON-Datei in ein Python-Dictionary</a:t>
            </a:r>
          </a:p>
          <a:p>
            <a:pPr lvl="1"/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json.dump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do) </a:t>
            </a:r>
            <a:r>
              <a:rPr lang="de-DE" sz="2600" dirty="0">
                <a:sym typeface="Wingdings" panose="05000000000000000000" pitchFamily="2" charset="2"/>
              </a:rPr>
              <a:t> </a:t>
            </a:r>
            <a:r>
              <a:rPr lang="de-DE" sz="2600" b="1" dirty="0">
                <a:sym typeface="Wingdings" panose="05000000000000000000" pitchFamily="2" charset="2"/>
              </a:rPr>
              <a:t>Schreibt</a:t>
            </a:r>
            <a:r>
              <a:rPr lang="de-DE" sz="2600" dirty="0">
                <a:sym typeface="Wingdings" panose="05000000000000000000" pitchFamily="2" charset="2"/>
              </a:rPr>
              <a:t> ein Python-Dictionary in eine JSON-Datei </a:t>
            </a:r>
            <a:endParaRPr lang="de-DE" sz="26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AE6506D-12E9-BAD7-725A-2A0460851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106929"/>
            <a:ext cx="2121234" cy="134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976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36EC59-23A8-CB65-2657-FA062589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JSON &lt;-&gt; </a:t>
            </a:r>
            <a:r>
              <a:rPr lang="de-DE" dirty="0" err="1"/>
              <a:t>Dict</a:t>
            </a:r>
            <a:r>
              <a:rPr lang="de-DE" dirty="0"/>
              <a:t> Konvertierungen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1A9D82-8C01-56F5-E004-A8D68BA9A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1"/>
            <a:ext cx="8712968" cy="2188840"/>
          </a:xfrm>
        </p:spPr>
        <p:txBody>
          <a:bodyPr>
            <a:normAutofit fontScale="92500" lnSpcReduction="20000"/>
          </a:bodyPr>
          <a:lstStyle/>
          <a:p>
            <a:r>
              <a:rPr lang="de-DE" dirty="0"/>
              <a:t>Mit </a:t>
            </a:r>
            <a:r>
              <a:rPr lang="de-DE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json.loads</a:t>
            </a:r>
            <a:r>
              <a:rPr lang="de-DE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</a:t>
            </a:r>
            <a:r>
              <a:rPr lang="de-DE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 </a:t>
            </a:r>
            <a:r>
              <a:rPr lang="de-DE" dirty="0"/>
              <a:t>kann man einen String im JSON-Format in ein Dictionary umwandeln</a:t>
            </a:r>
          </a:p>
          <a:p>
            <a:r>
              <a:rPr lang="de-DE" dirty="0"/>
              <a:t>Mit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json.dumps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de-DE" dirty="0"/>
              <a:t>wird ein Dictionary in einen JSON-String umgewandelt. Dabei kann man optional den Einzug (</a:t>
            </a:r>
            <a:r>
              <a:rPr lang="de-DE" dirty="0" err="1"/>
              <a:t>Indent</a:t>
            </a:r>
            <a:r>
              <a:rPr lang="de-DE" dirty="0"/>
              <a:t>) angeben</a:t>
            </a:r>
          </a:p>
          <a:p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FF56485-C0A1-A7BC-D30D-A93B278352CB}"/>
              </a:ext>
            </a:extLst>
          </p:cNvPr>
          <p:cNvSpPr txBox="1"/>
          <p:nvPr/>
        </p:nvSpPr>
        <p:spPr>
          <a:xfrm>
            <a:off x="608415" y="3564791"/>
            <a:ext cx="7927170" cy="329320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DE" sz="16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import</a:t>
            </a:r>
            <a:r>
              <a:rPr lang="de-DE" sz="1600" b="1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de-DE" sz="16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json</a:t>
            </a:r>
            <a:endParaRPr lang="de-DE" sz="16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endParaRPr lang="de-DE" sz="1600" b="1" dirty="0">
              <a:latin typeface="Consolas" panose="020B0609020204030204" pitchFamily="49" charset="0"/>
            </a:endParaRPr>
          </a:p>
          <a:p>
            <a:r>
              <a:rPr lang="de-DE" sz="1600" b="1" dirty="0" err="1">
                <a:latin typeface="Consolas" panose="020B0609020204030204" pitchFamily="49" charset="0"/>
              </a:rPr>
              <a:t>json_text</a:t>
            </a:r>
            <a:r>
              <a:rPr lang="de-DE" sz="1600" b="1" dirty="0">
                <a:latin typeface="Consolas" panose="020B0609020204030204" pitchFamily="49" charset="0"/>
              </a:rPr>
              <a:t> = '''{"</a:t>
            </a:r>
            <a:r>
              <a:rPr lang="de-DE" sz="1600" b="1" dirty="0" err="1">
                <a:latin typeface="Consolas" panose="020B0609020204030204" pitchFamily="49" charset="0"/>
              </a:rPr>
              <a:t>usd</a:t>
            </a:r>
            <a:r>
              <a:rPr lang="de-DE" sz="1600" b="1" dirty="0">
                <a:latin typeface="Consolas" panose="020B0609020204030204" pitchFamily="49" charset="0"/>
              </a:rPr>
              <a:t>" : 1.0, </a:t>
            </a:r>
            <a:br>
              <a:rPr lang="de-DE" sz="1600" b="1" dirty="0">
                <a:latin typeface="Consolas" panose="020B0609020204030204" pitchFamily="49" charset="0"/>
              </a:rPr>
            </a:br>
            <a:r>
              <a:rPr lang="de-DE" sz="1600" b="1" dirty="0">
                <a:latin typeface="Consolas" panose="020B0609020204030204" pitchFamily="49" charset="0"/>
              </a:rPr>
              <a:t>		"</a:t>
            </a:r>
            <a:r>
              <a:rPr lang="de-DE" sz="1600" b="1" dirty="0" err="1">
                <a:latin typeface="Consolas" panose="020B0609020204030204" pitchFamily="49" charset="0"/>
              </a:rPr>
              <a:t>eur</a:t>
            </a:r>
            <a:r>
              <a:rPr lang="de-DE" sz="1600" b="1" dirty="0">
                <a:latin typeface="Consolas" panose="020B0609020204030204" pitchFamily="49" charset="0"/>
              </a:rPr>
              <a:t>" : 1.2, </a:t>
            </a:r>
            <a:br>
              <a:rPr lang="de-DE" sz="1600" b="1" dirty="0">
                <a:latin typeface="Consolas" panose="020B0609020204030204" pitchFamily="49" charset="0"/>
              </a:rPr>
            </a:br>
            <a:r>
              <a:rPr lang="de-DE" sz="1600" b="1" dirty="0">
                <a:latin typeface="Consolas" panose="020B0609020204030204" pitchFamily="49" charset="0"/>
              </a:rPr>
              <a:t>		"</a:t>
            </a:r>
            <a:r>
              <a:rPr lang="de-DE" sz="1600" b="1" dirty="0" err="1">
                <a:latin typeface="Consolas" panose="020B0609020204030204" pitchFamily="49" charset="0"/>
              </a:rPr>
              <a:t>gbp</a:t>
            </a:r>
            <a:r>
              <a:rPr lang="de-DE" sz="1600" b="1" dirty="0">
                <a:latin typeface="Consolas" panose="020B0609020204030204" pitchFamily="49" charset="0"/>
              </a:rPr>
              <a:t>" : 1.3, </a:t>
            </a:r>
            <a:br>
              <a:rPr lang="de-DE" sz="1600" b="1" dirty="0">
                <a:latin typeface="Consolas" panose="020B0609020204030204" pitchFamily="49" charset="0"/>
              </a:rPr>
            </a:br>
            <a:r>
              <a:rPr lang="de-DE" sz="1600" b="1" dirty="0">
                <a:latin typeface="Consolas" panose="020B0609020204030204" pitchFamily="49" charset="0"/>
              </a:rPr>
              <a:t>		"</a:t>
            </a:r>
            <a:r>
              <a:rPr lang="de-DE" sz="1600" b="1" dirty="0" err="1">
                <a:latin typeface="Consolas" panose="020B0609020204030204" pitchFamily="49" charset="0"/>
              </a:rPr>
              <a:t>btc</a:t>
            </a:r>
            <a:r>
              <a:rPr lang="de-DE" sz="1600" b="1" dirty="0">
                <a:latin typeface="Consolas" panose="020B0609020204030204" pitchFamily="49" charset="0"/>
              </a:rPr>
              <a:t>" : 32250.67}'''</a:t>
            </a:r>
          </a:p>
          <a:p>
            <a:r>
              <a:rPr lang="de-DE" sz="1600" b="1" dirty="0">
                <a:latin typeface="Consolas" panose="020B0609020204030204" pitchFamily="49" charset="0"/>
              </a:rPr>
              <a:t>dict1 = </a:t>
            </a:r>
            <a:r>
              <a:rPr lang="de-DE" sz="16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json.loads</a:t>
            </a:r>
            <a:r>
              <a:rPr lang="de-DE" sz="1600" b="1" dirty="0">
                <a:latin typeface="Consolas" panose="020B0609020204030204" pitchFamily="49" charset="0"/>
              </a:rPr>
              <a:t>(</a:t>
            </a:r>
            <a:r>
              <a:rPr lang="de-DE" sz="1600" b="1" dirty="0" err="1">
                <a:latin typeface="Consolas" panose="020B0609020204030204" pitchFamily="49" charset="0"/>
              </a:rPr>
              <a:t>json_text</a:t>
            </a:r>
            <a:r>
              <a:rPr lang="de-DE" sz="1600" b="1" dirty="0">
                <a:latin typeface="Consolas" panose="020B0609020204030204" pitchFamily="49" charset="0"/>
              </a:rPr>
              <a:t>) </a:t>
            </a:r>
            <a:r>
              <a:rPr lang="de-DE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# Konvertierung JSON-Text -&gt; Dictionary</a:t>
            </a:r>
          </a:p>
          <a:p>
            <a:r>
              <a:rPr lang="de-DE" sz="1600" b="1" dirty="0" err="1">
                <a:latin typeface="Consolas" panose="020B0609020204030204" pitchFamily="49" charset="0"/>
              </a:rPr>
              <a:t>print</a:t>
            </a:r>
            <a:r>
              <a:rPr lang="de-DE" sz="1600" b="1" dirty="0">
                <a:latin typeface="Consolas" panose="020B0609020204030204" pitchFamily="49" charset="0"/>
              </a:rPr>
              <a:t>(dict1)</a:t>
            </a:r>
          </a:p>
          <a:p>
            <a:endParaRPr lang="de-DE" sz="1600" b="1" dirty="0">
              <a:latin typeface="Consolas" panose="020B0609020204030204" pitchFamily="49" charset="0"/>
            </a:endParaRPr>
          </a:p>
          <a:p>
            <a:r>
              <a:rPr lang="de-DE" sz="1600" b="1" dirty="0">
                <a:latin typeface="Consolas" panose="020B0609020204030204" pitchFamily="49" charset="0"/>
              </a:rPr>
              <a:t>dict1["</a:t>
            </a:r>
            <a:r>
              <a:rPr lang="de-DE" sz="1600" b="1" dirty="0" err="1">
                <a:latin typeface="Consolas" panose="020B0609020204030204" pitchFamily="49" charset="0"/>
              </a:rPr>
              <a:t>doge</a:t>
            </a:r>
            <a:r>
              <a:rPr lang="de-DE" sz="1600" b="1" dirty="0">
                <a:latin typeface="Consolas" panose="020B0609020204030204" pitchFamily="49" charset="0"/>
              </a:rPr>
              <a:t>"] = 0.12</a:t>
            </a:r>
          </a:p>
          <a:p>
            <a:r>
              <a:rPr lang="de-DE" sz="1600" b="1" dirty="0" err="1">
                <a:latin typeface="Consolas" panose="020B0609020204030204" pitchFamily="49" charset="0"/>
              </a:rPr>
              <a:t>json_text</a:t>
            </a:r>
            <a:r>
              <a:rPr lang="de-DE" sz="1600" b="1" dirty="0">
                <a:latin typeface="Consolas" panose="020B0609020204030204" pitchFamily="49" charset="0"/>
              </a:rPr>
              <a:t> = </a:t>
            </a:r>
            <a:r>
              <a:rPr lang="de-DE" sz="16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json.dumps</a:t>
            </a:r>
            <a:r>
              <a:rPr lang="de-DE" sz="1600" b="1" dirty="0">
                <a:latin typeface="Consolas" panose="020B0609020204030204" pitchFamily="49" charset="0"/>
              </a:rPr>
              <a:t>(dict1, </a:t>
            </a:r>
            <a:r>
              <a:rPr lang="de-DE" sz="1600" b="1" dirty="0" err="1">
                <a:latin typeface="Consolas" panose="020B0609020204030204" pitchFamily="49" charset="0"/>
              </a:rPr>
              <a:t>indent</a:t>
            </a:r>
            <a:r>
              <a:rPr lang="de-DE" sz="1600" b="1" dirty="0">
                <a:latin typeface="Consolas" panose="020B0609020204030204" pitchFamily="49" charset="0"/>
              </a:rPr>
              <a:t> = 4) </a:t>
            </a:r>
            <a:r>
              <a:rPr lang="de-DE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# Konvertiere </a:t>
            </a:r>
            <a:r>
              <a:rPr lang="de-DE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Dict</a:t>
            </a:r>
            <a:r>
              <a:rPr lang="de-DE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 -&gt; JSON</a:t>
            </a:r>
          </a:p>
          <a:p>
            <a:r>
              <a:rPr lang="de-DE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                                    # mit einem Einzug von 4</a:t>
            </a:r>
          </a:p>
          <a:p>
            <a:r>
              <a:rPr lang="de-DE" sz="1600" b="1" dirty="0" err="1">
                <a:latin typeface="Consolas" panose="020B0609020204030204" pitchFamily="49" charset="0"/>
              </a:rPr>
              <a:t>print</a:t>
            </a:r>
            <a:r>
              <a:rPr lang="de-DE" sz="1600" b="1" dirty="0">
                <a:latin typeface="Consolas" panose="020B0609020204030204" pitchFamily="49" charset="0"/>
              </a:rPr>
              <a:t>(</a:t>
            </a:r>
            <a:r>
              <a:rPr lang="de-DE" sz="1600" b="1" dirty="0" err="1">
                <a:latin typeface="Consolas" panose="020B0609020204030204" pitchFamily="49" charset="0"/>
              </a:rPr>
              <a:t>json_text</a:t>
            </a:r>
            <a:r>
              <a:rPr lang="de-DE" sz="1600" b="1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165558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B66BAE-96F3-79C2-CCFB-019E4153C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JSON Datei schreiben (</a:t>
            </a:r>
            <a:r>
              <a:rPr lang="de-DE" dirty="0" err="1"/>
              <a:t>dump</a:t>
            </a:r>
            <a:r>
              <a:rPr lang="de-DE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6087EA-52E6-B986-AB85-1E0EAD760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395738"/>
          </a:xfrm>
        </p:spPr>
        <p:txBody>
          <a:bodyPr/>
          <a:lstStyle/>
          <a:p>
            <a:r>
              <a:rPr lang="de-DE" dirty="0"/>
              <a:t>Beispielcode, um ein Dictionary in eine .</a:t>
            </a:r>
            <a:r>
              <a:rPr lang="de-DE" dirty="0" err="1"/>
              <a:t>json</a:t>
            </a:r>
            <a:r>
              <a:rPr lang="de-DE" dirty="0"/>
              <a:t>-Textdatei zu schreiben:</a:t>
            </a:r>
          </a:p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174334B-7759-9E1C-B7B5-33B6C43B9284}"/>
              </a:ext>
            </a:extLst>
          </p:cNvPr>
          <p:cNvSpPr txBox="1"/>
          <p:nvPr/>
        </p:nvSpPr>
        <p:spPr>
          <a:xfrm>
            <a:off x="755576" y="2636912"/>
            <a:ext cx="6552728" cy="378565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import</a:t>
            </a:r>
            <a:r>
              <a:rPr lang="de-DE" sz="1200" b="1" dirty="0">
                <a:latin typeface="Consolas" panose="020B0609020204030204" pitchFamily="49" charset="0"/>
              </a:rPr>
              <a:t> </a:t>
            </a:r>
            <a:r>
              <a:rPr lang="de-DE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json</a:t>
            </a:r>
            <a:r>
              <a:rPr lang="de-DE" sz="1200" b="1" dirty="0">
                <a:latin typeface="Consolas" panose="020B0609020204030204" pitchFamily="49" charset="0"/>
              </a:rPr>
              <a:t>		</a:t>
            </a:r>
            <a:r>
              <a:rPr lang="de-DE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# JSON - Modul</a:t>
            </a:r>
          </a:p>
          <a:p>
            <a:r>
              <a:rPr lang="de-DE" sz="1200" b="1" dirty="0">
                <a:latin typeface="Consolas" panose="020B0609020204030204" pitchFamily="49" charset="0"/>
              </a:rPr>
              <a:t>dict1 ={ </a:t>
            </a:r>
          </a:p>
          <a:p>
            <a:r>
              <a:rPr lang="de-DE" sz="1200" b="1" dirty="0">
                <a:latin typeface="Consolas" panose="020B0609020204030204" pitchFamily="49" charset="0"/>
              </a:rPr>
              <a:t>    1: { </a:t>
            </a:r>
          </a:p>
          <a:p>
            <a:r>
              <a:rPr lang="de-DE" sz="1200" b="1" dirty="0">
                <a:latin typeface="Consolas" panose="020B0609020204030204" pitchFamily="49" charset="0"/>
              </a:rPr>
              <a:t>        "</a:t>
            </a:r>
            <a:r>
              <a:rPr lang="de-DE" sz="1200" b="1" dirty="0" err="1">
                <a:latin typeface="Consolas" panose="020B0609020204030204" pitchFamily="49" charset="0"/>
              </a:rPr>
              <a:t>name</a:t>
            </a:r>
            <a:r>
              <a:rPr lang="de-DE" sz="1200" b="1" dirty="0">
                <a:latin typeface="Consolas" panose="020B0609020204030204" pitchFamily="49" charset="0"/>
              </a:rPr>
              <a:t>": "Lisa", </a:t>
            </a:r>
          </a:p>
          <a:p>
            <a:r>
              <a:rPr lang="de-DE" sz="1200" b="1" dirty="0">
                <a:latin typeface="Consolas" panose="020B0609020204030204" pitchFamily="49" charset="0"/>
              </a:rPr>
              <a:t>        "</a:t>
            </a:r>
            <a:r>
              <a:rPr lang="de-DE" sz="1200" b="1" dirty="0" err="1">
                <a:latin typeface="Consolas" panose="020B0609020204030204" pitchFamily="49" charset="0"/>
              </a:rPr>
              <a:t>designation</a:t>
            </a:r>
            <a:r>
              <a:rPr lang="de-DE" sz="1200" b="1" dirty="0">
                <a:latin typeface="Consolas" panose="020B0609020204030204" pitchFamily="49" charset="0"/>
              </a:rPr>
              <a:t>": "</a:t>
            </a:r>
            <a:r>
              <a:rPr lang="de-DE" sz="1200" b="1" dirty="0" err="1">
                <a:latin typeface="Consolas" panose="020B0609020204030204" pitchFamily="49" charset="0"/>
              </a:rPr>
              <a:t>Programmer</a:t>
            </a:r>
            <a:r>
              <a:rPr lang="de-DE" sz="1200" b="1" dirty="0">
                <a:latin typeface="Consolas" panose="020B0609020204030204" pitchFamily="49" charset="0"/>
              </a:rPr>
              <a:t>", </a:t>
            </a:r>
          </a:p>
          <a:p>
            <a:r>
              <a:rPr lang="de-DE" sz="1200" b="1" dirty="0">
                <a:latin typeface="Consolas" panose="020B0609020204030204" pitchFamily="49" charset="0"/>
              </a:rPr>
              <a:t>        "</a:t>
            </a:r>
            <a:r>
              <a:rPr lang="de-DE" sz="1200" b="1" dirty="0" err="1">
                <a:latin typeface="Consolas" panose="020B0609020204030204" pitchFamily="49" charset="0"/>
              </a:rPr>
              <a:t>age</a:t>
            </a:r>
            <a:r>
              <a:rPr lang="de-DE" sz="1200" b="1" dirty="0">
                <a:latin typeface="Consolas" panose="020B0609020204030204" pitchFamily="49" charset="0"/>
              </a:rPr>
              <a:t>": 34, </a:t>
            </a:r>
          </a:p>
          <a:p>
            <a:r>
              <a:rPr lang="de-DE" sz="1200" b="1" dirty="0">
                <a:latin typeface="Consolas" panose="020B0609020204030204" pitchFamily="49" charset="0"/>
              </a:rPr>
              <a:t>        "</a:t>
            </a:r>
            <a:r>
              <a:rPr lang="de-DE" sz="1200" b="1" dirty="0" err="1">
                <a:latin typeface="Consolas" panose="020B0609020204030204" pitchFamily="49" charset="0"/>
              </a:rPr>
              <a:t>salary</a:t>
            </a:r>
            <a:r>
              <a:rPr lang="de-DE" sz="1200" b="1" dirty="0">
                <a:latin typeface="Consolas" panose="020B0609020204030204" pitchFamily="49" charset="0"/>
              </a:rPr>
              <a:t>": 54425.50,</a:t>
            </a:r>
          </a:p>
          <a:p>
            <a:r>
              <a:rPr lang="de-DE" sz="1200" b="1" dirty="0">
                <a:latin typeface="Consolas" panose="020B0609020204030204" pitchFamily="49" charset="0"/>
              </a:rPr>
              <a:t>        "</a:t>
            </a:r>
            <a:r>
              <a:rPr lang="de-DE" sz="1200" b="1" dirty="0" err="1">
                <a:latin typeface="Consolas" panose="020B0609020204030204" pitchFamily="49" charset="0"/>
              </a:rPr>
              <a:t>teamleader</a:t>
            </a:r>
            <a:r>
              <a:rPr lang="de-DE" sz="1200" b="1" dirty="0">
                <a:latin typeface="Consolas" panose="020B0609020204030204" pitchFamily="49" charset="0"/>
              </a:rPr>
              <a:t>": True      </a:t>
            </a:r>
            <a:r>
              <a:rPr lang="de-DE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# Python-Schreibweise von </a:t>
            </a:r>
            <a:r>
              <a:rPr lang="de-DE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de-DE" sz="12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de-DE" sz="1200" b="1" dirty="0">
                <a:latin typeface="Consolas" panose="020B0609020204030204" pitchFamily="49" charset="0"/>
              </a:rPr>
              <a:t>    }, </a:t>
            </a:r>
          </a:p>
          <a:p>
            <a:r>
              <a:rPr lang="de-DE" sz="1200" b="1" dirty="0">
                <a:latin typeface="Consolas" panose="020B0609020204030204" pitchFamily="49" charset="0"/>
              </a:rPr>
              <a:t>    2: { </a:t>
            </a:r>
          </a:p>
          <a:p>
            <a:r>
              <a:rPr lang="de-DE" sz="1200" b="1" dirty="0">
                <a:latin typeface="Consolas" panose="020B0609020204030204" pitchFamily="49" charset="0"/>
              </a:rPr>
              <a:t>        "</a:t>
            </a:r>
            <a:r>
              <a:rPr lang="de-DE" sz="1200" b="1" dirty="0" err="1">
                <a:latin typeface="Consolas" panose="020B0609020204030204" pitchFamily="49" charset="0"/>
              </a:rPr>
              <a:t>name</a:t>
            </a:r>
            <a:r>
              <a:rPr lang="de-DE" sz="1200" b="1" dirty="0">
                <a:latin typeface="Consolas" panose="020B0609020204030204" pitchFamily="49" charset="0"/>
              </a:rPr>
              <a:t>": "Elis", </a:t>
            </a:r>
          </a:p>
          <a:p>
            <a:r>
              <a:rPr lang="de-DE" sz="1200" b="1" dirty="0">
                <a:latin typeface="Consolas" panose="020B0609020204030204" pitchFamily="49" charset="0"/>
              </a:rPr>
              <a:t>        "</a:t>
            </a:r>
            <a:r>
              <a:rPr lang="de-DE" sz="1200" b="1" dirty="0" err="1">
                <a:latin typeface="Consolas" panose="020B0609020204030204" pitchFamily="49" charset="0"/>
              </a:rPr>
              <a:t>designation</a:t>
            </a:r>
            <a:r>
              <a:rPr lang="de-DE" sz="1200" b="1" dirty="0">
                <a:latin typeface="Consolas" panose="020B0609020204030204" pitchFamily="49" charset="0"/>
              </a:rPr>
              <a:t>": "Trainee", </a:t>
            </a:r>
          </a:p>
          <a:p>
            <a:r>
              <a:rPr lang="de-DE" sz="1200" b="1" dirty="0">
                <a:latin typeface="Consolas" panose="020B0609020204030204" pitchFamily="49" charset="0"/>
              </a:rPr>
              <a:t>        "</a:t>
            </a:r>
            <a:r>
              <a:rPr lang="de-DE" sz="1200" b="1" dirty="0" err="1">
                <a:latin typeface="Consolas" panose="020B0609020204030204" pitchFamily="49" charset="0"/>
              </a:rPr>
              <a:t>age</a:t>
            </a:r>
            <a:r>
              <a:rPr lang="de-DE" sz="1200" b="1" dirty="0">
                <a:latin typeface="Consolas" panose="020B0609020204030204" pitchFamily="49" charset="0"/>
              </a:rPr>
              <a:t>": 24, </a:t>
            </a:r>
          </a:p>
          <a:p>
            <a:r>
              <a:rPr lang="de-DE" sz="1200" b="1" dirty="0">
                <a:latin typeface="Consolas" panose="020B0609020204030204" pitchFamily="49" charset="0"/>
              </a:rPr>
              <a:t>        "</a:t>
            </a:r>
            <a:r>
              <a:rPr lang="de-DE" sz="1200" b="1" dirty="0" err="1">
                <a:latin typeface="Consolas" panose="020B0609020204030204" pitchFamily="49" charset="0"/>
              </a:rPr>
              <a:t>salary</a:t>
            </a:r>
            <a:r>
              <a:rPr lang="de-DE" sz="1200" b="1" dirty="0">
                <a:latin typeface="Consolas" panose="020B0609020204030204" pitchFamily="49" charset="0"/>
              </a:rPr>
              <a:t>": 40000.00,</a:t>
            </a:r>
          </a:p>
          <a:p>
            <a:r>
              <a:rPr lang="de-DE" sz="1200" b="1" dirty="0">
                <a:latin typeface="Consolas" panose="020B0609020204030204" pitchFamily="49" charset="0"/>
              </a:rPr>
              <a:t>        "</a:t>
            </a:r>
            <a:r>
              <a:rPr lang="de-DE" sz="1200" b="1" dirty="0" err="1">
                <a:latin typeface="Consolas" panose="020B0609020204030204" pitchFamily="49" charset="0"/>
              </a:rPr>
              <a:t>teamleader</a:t>
            </a:r>
            <a:r>
              <a:rPr lang="de-DE" sz="1200" b="1" dirty="0">
                <a:latin typeface="Consolas" panose="020B0609020204030204" pitchFamily="49" charset="0"/>
              </a:rPr>
              <a:t>" : </a:t>
            </a:r>
            <a:r>
              <a:rPr lang="de-DE" sz="1200" b="1" dirty="0" err="1">
                <a:latin typeface="Consolas" panose="020B0609020204030204" pitchFamily="49" charset="0"/>
              </a:rPr>
              <a:t>False</a:t>
            </a:r>
            <a:endParaRPr lang="de-DE" sz="1200" b="1" dirty="0">
              <a:latin typeface="Consolas" panose="020B0609020204030204" pitchFamily="49" charset="0"/>
            </a:endParaRPr>
          </a:p>
          <a:p>
            <a:r>
              <a:rPr lang="de-DE" sz="1200" b="1" dirty="0">
                <a:latin typeface="Consolas" panose="020B0609020204030204" pitchFamily="49" charset="0"/>
              </a:rPr>
              <a:t>    }, </a:t>
            </a:r>
          </a:p>
          <a:p>
            <a:r>
              <a:rPr lang="de-DE" sz="1200" b="1" dirty="0">
                <a:latin typeface="Consolas" panose="020B0609020204030204" pitchFamily="49" charset="0"/>
              </a:rPr>
              <a:t>} </a:t>
            </a:r>
          </a:p>
          <a:p>
            <a:r>
              <a:rPr lang="de-DE" sz="1200" b="1" dirty="0">
                <a:latin typeface="Consolas" panose="020B0609020204030204" pitchFamily="49" charset="0"/>
              </a:rPr>
              <a:t>do = </a:t>
            </a:r>
            <a:r>
              <a:rPr lang="de-DE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open</a:t>
            </a:r>
            <a:r>
              <a:rPr lang="de-DE" sz="1200" b="1" dirty="0">
                <a:latin typeface="Consolas" panose="020B0609020204030204" pitchFamily="49" charset="0"/>
              </a:rPr>
              <a:t>("</a:t>
            </a:r>
            <a:r>
              <a:rPr lang="de-DE" sz="1200" b="1" dirty="0" err="1">
                <a:latin typeface="Consolas" panose="020B0609020204030204" pitchFamily="49" charset="0"/>
              </a:rPr>
              <a:t>export.json</a:t>
            </a:r>
            <a:r>
              <a:rPr lang="de-DE" sz="1200" b="1" dirty="0">
                <a:latin typeface="Consolas" panose="020B0609020204030204" pitchFamily="49" charset="0"/>
              </a:rPr>
              <a:t>", "w") 	</a:t>
            </a:r>
            <a:r>
              <a:rPr lang="de-DE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# Textdatei zum Schreiben öffnen</a:t>
            </a:r>
          </a:p>
          <a:p>
            <a:r>
              <a:rPr lang="de-DE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json.dump</a:t>
            </a:r>
            <a:r>
              <a:rPr lang="de-DE" sz="1200" b="1" dirty="0">
                <a:latin typeface="Consolas" panose="020B0609020204030204" pitchFamily="49" charset="0"/>
              </a:rPr>
              <a:t>(dict1, do, </a:t>
            </a:r>
            <a:r>
              <a:rPr lang="de-DE" sz="1200" b="1" dirty="0" err="1">
                <a:latin typeface="Consolas" panose="020B0609020204030204" pitchFamily="49" charset="0"/>
              </a:rPr>
              <a:t>indent</a:t>
            </a:r>
            <a:r>
              <a:rPr lang="de-DE" sz="1200" b="1" dirty="0">
                <a:latin typeface="Consolas" panose="020B0609020204030204" pitchFamily="49" charset="0"/>
              </a:rPr>
              <a:t> = 5)	</a:t>
            </a:r>
            <a:r>
              <a:rPr lang="de-DE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# dict1 in Datei schreiben mit Einzug 5 </a:t>
            </a:r>
          </a:p>
          <a:p>
            <a:r>
              <a:rPr lang="de-DE" sz="1200" b="1" dirty="0" err="1">
                <a:latin typeface="Consolas" panose="020B0609020204030204" pitchFamily="49" charset="0"/>
              </a:rPr>
              <a:t>do.</a:t>
            </a:r>
            <a:r>
              <a:rPr lang="de-DE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close</a:t>
            </a:r>
            <a:r>
              <a:rPr lang="de-DE" sz="1200" b="1" dirty="0">
                <a:latin typeface="Consolas" panose="020B0609020204030204" pitchFamily="49" charset="0"/>
              </a:rPr>
              <a:t>() 		</a:t>
            </a:r>
            <a:r>
              <a:rPr lang="de-DE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# Datei Schließen</a:t>
            </a:r>
          </a:p>
        </p:txBody>
      </p:sp>
    </p:spTree>
    <p:extLst>
      <p:ext uri="{BB962C8B-B14F-4D97-AF65-F5344CB8AC3E}">
        <p14:creationId xmlns:p14="http://schemas.microsoft.com/office/powerpoint/2010/main" val="33829369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JSON Datei einlesen (</a:t>
            </a:r>
            <a:r>
              <a:rPr lang="de-DE" dirty="0" err="1"/>
              <a:t>load</a:t>
            </a:r>
            <a:r>
              <a:rPr lang="de-DE" dirty="0"/>
              <a:t>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5141168"/>
          </a:xfrm>
        </p:spPr>
        <p:txBody>
          <a:bodyPr>
            <a:normAutofit/>
          </a:bodyPr>
          <a:lstStyle/>
          <a:p>
            <a:r>
              <a:rPr lang="de-DE" dirty="0"/>
              <a:t>Beispielcode um eine JSON-Datei in ein Python-Dictionary zu laden: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Auf das Dictionary </a:t>
            </a:r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daten</a:t>
            </a:r>
            <a:r>
              <a:rPr lang="en-US" sz="3500" dirty="0"/>
              <a:t> </a:t>
            </a:r>
            <a:r>
              <a:rPr lang="en-US" dirty="0" err="1"/>
              <a:t>kann</a:t>
            </a:r>
            <a:r>
              <a:rPr lang="en-US" dirty="0"/>
              <a:t> man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auf </a:t>
            </a:r>
            <a:r>
              <a:rPr lang="en-US" dirty="0" err="1"/>
              <a:t>jedes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Dictionary </a:t>
            </a:r>
            <a:r>
              <a:rPr lang="en-US" dirty="0" err="1"/>
              <a:t>zugreifen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z.B.</a:t>
            </a:r>
            <a:r>
              <a:rPr lang="en-US" dirty="0"/>
              <a:t>: 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daten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["1"]["name"])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8AEED2F-9D66-84A2-97DB-1FEC20871618}"/>
              </a:ext>
            </a:extLst>
          </p:cNvPr>
          <p:cNvSpPr txBox="1"/>
          <p:nvPr/>
        </p:nvSpPr>
        <p:spPr>
          <a:xfrm>
            <a:off x="899592" y="2852936"/>
            <a:ext cx="6192688" cy="203132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import</a:t>
            </a:r>
            <a:r>
              <a:rPr lang="de-DE" b="1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json</a:t>
            </a:r>
            <a:endParaRPr lang="de-DE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de-DE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from</a:t>
            </a:r>
            <a:r>
              <a:rPr lang="de-DE" b="1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pprint</a:t>
            </a:r>
            <a:r>
              <a:rPr lang="de-DE" b="1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import</a:t>
            </a:r>
            <a:r>
              <a:rPr lang="de-DE" b="1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pprint</a:t>
            </a:r>
            <a:r>
              <a:rPr lang="de-DE" b="1" dirty="0">
                <a:solidFill>
                  <a:srgbClr val="00B050"/>
                </a:solidFill>
                <a:latin typeface="Consolas" panose="020B0609020204030204" pitchFamily="49" charset="0"/>
              </a:rPr>
              <a:t>  </a:t>
            </a:r>
            <a:r>
              <a:rPr lang="de-DE" b="1" dirty="0">
                <a:solidFill>
                  <a:srgbClr val="FF0000"/>
                </a:solidFill>
                <a:latin typeface="Consolas" panose="020B0609020204030204" pitchFamily="49" charset="0"/>
              </a:rPr>
              <a:t># für </a:t>
            </a:r>
            <a:r>
              <a:rPr lang="de-DE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PrettyPrint</a:t>
            </a:r>
            <a:endParaRPr lang="de-DE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de-DE" b="1" dirty="0">
                <a:latin typeface="Consolas" panose="020B0609020204030204" pitchFamily="49" charset="0"/>
              </a:rPr>
              <a:t>do = </a:t>
            </a:r>
            <a:r>
              <a:rPr lang="de-DE" b="1" dirty="0">
                <a:solidFill>
                  <a:srgbClr val="00B050"/>
                </a:solidFill>
                <a:latin typeface="Consolas" panose="020B0609020204030204" pitchFamily="49" charset="0"/>
              </a:rPr>
              <a:t>open</a:t>
            </a:r>
            <a:r>
              <a:rPr lang="de-DE" b="1" dirty="0">
                <a:latin typeface="Consolas" panose="020B0609020204030204" pitchFamily="49" charset="0"/>
              </a:rPr>
              <a:t>("</a:t>
            </a:r>
            <a:r>
              <a:rPr lang="de-DE" b="1" dirty="0" err="1">
                <a:latin typeface="Consolas" panose="020B0609020204030204" pitchFamily="49" charset="0"/>
              </a:rPr>
              <a:t>export.json</a:t>
            </a:r>
            <a:r>
              <a:rPr lang="de-DE" b="1" dirty="0">
                <a:latin typeface="Consolas" panose="020B0609020204030204" pitchFamily="49" charset="0"/>
              </a:rPr>
              <a:t>", "r")</a:t>
            </a:r>
          </a:p>
          <a:p>
            <a:r>
              <a:rPr lang="de-DE" b="1" dirty="0" err="1">
                <a:latin typeface="Consolas" panose="020B0609020204030204" pitchFamily="49" charset="0"/>
              </a:rPr>
              <a:t>datendict</a:t>
            </a:r>
            <a:r>
              <a:rPr lang="de-DE" b="1" dirty="0">
                <a:latin typeface="Consolas" panose="020B0609020204030204" pitchFamily="49" charset="0"/>
              </a:rPr>
              <a:t> = </a:t>
            </a:r>
            <a:r>
              <a:rPr lang="de-DE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json.load</a:t>
            </a:r>
            <a:r>
              <a:rPr lang="de-DE" b="1" dirty="0">
                <a:latin typeface="Consolas" panose="020B0609020204030204" pitchFamily="49" charset="0"/>
              </a:rPr>
              <a:t>(do) </a:t>
            </a:r>
            <a:r>
              <a:rPr lang="de-DE" b="1" dirty="0">
                <a:solidFill>
                  <a:srgbClr val="FF0000"/>
                </a:solidFill>
                <a:latin typeface="Consolas" panose="020B0609020204030204" pitchFamily="49" charset="0"/>
              </a:rPr>
              <a:t># Einlesen</a:t>
            </a:r>
          </a:p>
          <a:p>
            <a:r>
              <a:rPr lang="de-DE" b="1" dirty="0" err="1">
                <a:latin typeface="Consolas" panose="020B0609020204030204" pitchFamily="49" charset="0"/>
              </a:rPr>
              <a:t>do.close</a:t>
            </a:r>
            <a:r>
              <a:rPr lang="de-DE" b="1" dirty="0">
                <a:latin typeface="Consolas" panose="020B0609020204030204" pitchFamily="49" charset="0"/>
              </a:rPr>
              <a:t>()</a:t>
            </a:r>
          </a:p>
          <a:p>
            <a:endParaRPr lang="de-DE" b="1" dirty="0">
              <a:latin typeface="Consolas" panose="020B0609020204030204" pitchFamily="49" charset="0"/>
            </a:endParaRPr>
          </a:p>
          <a:p>
            <a:r>
              <a:rPr lang="de-DE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pprint</a:t>
            </a:r>
            <a:r>
              <a:rPr lang="de-DE" b="1" dirty="0">
                <a:latin typeface="Consolas" panose="020B0609020204030204" pitchFamily="49" charset="0"/>
              </a:rPr>
              <a:t>(</a:t>
            </a:r>
            <a:r>
              <a:rPr lang="de-DE" b="1" dirty="0" err="1">
                <a:latin typeface="Consolas" panose="020B0609020204030204" pitchFamily="49" charset="0"/>
              </a:rPr>
              <a:t>datendict</a:t>
            </a:r>
            <a:r>
              <a:rPr lang="de-DE" b="1" dirty="0">
                <a:latin typeface="Consolas" panose="020B0609020204030204" pitchFamily="49" charset="0"/>
              </a:rPr>
              <a:t>) </a:t>
            </a:r>
            <a:r>
              <a:rPr lang="de-DE" b="1" dirty="0">
                <a:solidFill>
                  <a:srgbClr val="FF0000"/>
                </a:solidFill>
                <a:latin typeface="Consolas" panose="020B0609020204030204" pitchFamily="49" charset="0"/>
              </a:rPr>
              <a:t># </a:t>
            </a:r>
            <a:r>
              <a:rPr lang="de-DE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PrettyPrint</a:t>
            </a:r>
            <a:r>
              <a:rPr lang="de-DE" b="1" dirty="0">
                <a:solidFill>
                  <a:srgbClr val="FF0000"/>
                </a:solidFill>
                <a:latin typeface="Consolas" panose="020B0609020204030204" pitchFamily="49" charset="0"/>
              </a:rPr>
              <a:t>-Ausgabe</a:t>
            </a:r>
          </a:p>
        </p:txBody>
      </p:sp>
    </p:spTree>
    <p:extLst>
      <p:ext uri="{BB962C8B-B14F-4D97-AF65-F5344CB8AC3E}">
        <p14:creationId xmlns:p14="http://schemas.microsoft.com/office/powerpoint/2010/main" val="2409768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03648" y="274638"/>
            <a:ext cx="6120680" cy="1143000"/>
          </a:xfrm>
        </p:spPr>
        <p:txBody>
          <a:bodyPr/>
          <a:lstStyle/>
          <a:p>
            <a:r>
              <a:rPr lang="de-DE" dirty="0"/>
              <a:t>XML-Dateien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0" y="1417638"/>
            <a:ext cx="5364088" cy="5165724"/>
          </a:xfrm>
        </p:spPr>
        <p:txBody>
          <a:bodyPr>
            <a:normAutofit/>
          </a:bodyPr>
          <a:lstStyle/>
          <a:p>
            <a:r>
              <a:rPr lang="de-DE" sz="1800" dirty="0"/>
              <a:t>Auch XML ist ein beliebtes UTF8 - codiertes Dateiformat zum Datenaustausch von komplexeren Datenstrukturen in "Baumstruktur". </a:t>
            </a:r>
          </a:p>
          <a:p>
            <a:r>
              <a:rPr lang="de-DE" sz="1800" dirty="0"/>
              <a:t>XML ist flexibler als JSON, jedoch sind die Dateien bei gleichem Dateninhalt oft größer.</a:t>
            </a:r>
          </a:p>
          <a:p>
            <a:r>
              <a:rPr lang="de-DE" sz="1800" dirty="0"/>
              <a:t>Mit Hilfe von Dokumentendefinitionen (DTD) oder Schemas lassen sich XML-Dateien strukturell festlegen und validieren.</a:t>
            </a:r>
          </a:p>
          <a:p>
            <a:r>
              <a:rPr lang="de-DE" sz="1800" dirty="0"/>
              <a:t>Eine XML-Datei ist letzten Endes ein Baum (</a:t>
            </a:r>
            <a:r>
              <a:rPr lang="de-DE" sz="1800" dirty="0" err="1"/>
              <a:t>tree</a:t>
            </a:r>
            <a:r>
              <a:rPr lang="de-DE" sz="1800" dirty="0"/>
              <a:t>) von &lt;getagten&gt; Elementen, mit einem root-Element (hier das Element </a:t>
            </a:r>
            <a:r>
              <a:rPr lang="de-DE" sz="1800" b="1" dirty="0">
                <a:latin typeface="Consolas" panose="020B0609020204030204" pitchFamily="49" charset="0"/>
              </a:rPr>
              <a:t>&lt;</a:t>
            </a:r>
            <a:r>
              <a:rPr lang="de-DE" sz="1800" b="1" dirty="0" err="1">
                <a:latin typeface="Consolas" panose="020B0609020204030204" pitchFamily="49" charset="0"/>
              </a:rPr>
              <a:t>library</a:t>
            </a:r>
            <a:r>
              <a:rPr lang="de-DE" sz="1800" b="1" dirty="0">
                <a:latin typeface="Consolas" panose="020B0609020204030204" pitchFamily="49" charset="0"/>
              </a:rPr>
              <a:t>&gt;</a:t>
            </a:r>
            <a:r>
              <a:rPr lang="de-DE" sz="1800" dirty="0"/>
              <a:t>)</a:t>
            </a:r>
          </a:p>
          <a:p>
            <a:r>
              <a:rPr lang="de-DE" sz="1800" dirty="0"/>
              <a:t>In Python nutzen wir die </a:t>
            </a:r>
            <a:r>
              <a:rPr lang="de-DE" sz="1800" dirty="0" err="1"/>
              <a:t>ElementTree</a:t>
            </a:r>
            <a:r>
              <a:rPr lang="de-DE" sz="1800" dirty="0"/>
              <a:t>-API, das Modul </a:t>
            </a:r>
            <a:r>
              <a:rPr lang="de-DE" sz="1800" b="1" dirty="0" err="1">
                <a:latin typeface="Consolas" panose="020B0609020204030204" pitchFamily="49" charset="0"/>
              </a:rPr>
              <a:t>xml.etree.ElementTree</a:t>
            </a:r>
            <a:r>
              <a:rPr lang="de-DE" sz="1800" dirty="0"/>
              <a:t>, um XML-Strukturen einzulesen und auszuwerten:</a:t>
            </a:r>
            <a:br>
              <a:rPr lang="de-DE" sz="1800" dirty="0"/>
            </a:br>
            <a:br>
              <a:rPr lang="de-DE" sz="1800" dirty="0"/>
            </a:br>
            <a:r>
              <a:rPr lang="de-DE" sz="1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import</a:t>
            </a:r>
            <a:r>
              <a:rPr lang="de-DE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de-DE" sz="1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xml.etree.ElementTree</a:t>
            </a:r>
            <a:r>
              <a:rPr lang="de-DE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de-DE" sz="1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as</a:t>
            </a:r>
            <a:r>
              <a:rPr lang="de-DE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 ET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8158DBF-DA29-09CB-914C-4914CA974083}"/>
              </a:ext>
            </a:extLst>
          </p:cNvPr>
          <p:cNvSpPr txBox="1"/>
          <p:nvPr/>
        </p:nvSpPr>
        <p:spPr>
          <a:xfrm>
            <a:off x="5364088" y="1422368"/>
            <a:ext cx="3621853" cy="483209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&lt;?xml version="1.0" encoding="UTF-8"?&gt;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&lt;library name="Best Books"&gt;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&lt;book&gt;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&lt;title&gt;Great Expectations&lt;/title&gt;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&lt;author&gt;Charles Dickens&lt;/author&gt;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&lt;year&gt;1861&lt;/year&gt;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&lt;/book&gt;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&lt;book&gt;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&lt;title&gt;To Kill a Mockingbird&lt;/title&gt;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&lt;author&gt;Harper Lee&lt;/author&gt;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&lt;year&gt;1960&lt;/year&gt;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&lt;/book&gt;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&lt;book&gt;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&lt;title&gt;The Lord of the Rings&lt;/title&gt;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&lt;author&gt;J.R.R. Tolkien&lt;/author&gt;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&lt;year&gt;1954&lt;/year&gt;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&lt;/book&gt;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&lt;book&gt;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&lt;title&gt;1984&lt;/title&gt;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&lt;author&gt;George Orwell&lt;/author&gt;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&lt;year&gt;1949&lt;/year&gt;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&lt;/book&gt;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&lt;book&gt;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&lt;title&gt;The Three-Body Problem&lt;/title&gt;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&lt;author&gt;Liu </a:t>
            </a:r>
            <a:r>
              <a:rPr lang="en-US" sz="1100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Cixin</a:t>
            </a:r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&lt;/author&gt;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    &lt;year&gt;2014&lt;/year&gt;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    &lt;/book&gt;</a:t>
            </a:r>
          </a:p>
          <a:p>
            <a:r>
              <a:rPr lang="en-US" sz="1100" b="1" dirty="0">
                <a:solidFill>
                  <a:srgbClr val="002060"/>
                </a:solidFill>
                <a:latin typeface="Consolas" panose="020B0609020204030204" pitchFamily="49" charset="0"/>
              </a:rPr>
              <a:t>&lt;/library&gt;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77DAD09-ACBD-DDBD-239D-6804FFC8C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805" y="548680"/>
            <a:ext cx="1101258" cy="47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9188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3221E9-2832-C3F0-6D7A-0AF6B4CFB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</a:t>
            </a:r>
            <a:r>
              <a:rPr lang="de-DE" dirty="0" err="1"/>
              <a:t>ElementTree</a:t>
            </a:r>
            <a:r>
              <a:rPr lang="de-DE" dirty="0"/>
              <a:t>-API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291F36-84DC-74D6-D5E4-48DCE5DCD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6" y="1340768"/>
            <a:ext cx="9108504" cy="5517232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de-DE" b="1" dirty="0"/>
              <a:t>Wichtigste Klasse / Methoden / Funktionen:</a:t>
            </a:r>
          </a:p>
          <a:p>
            <a:r>
              <a:rPr lang="de-DE" dirty="0" err="1"/>
              <a:t>ElementTree</a:t>
            </a:r>
            <a:r>
              <a:rPr lang="de-DE" dirty="0"/>
              <a:t>() </a:t>
            </a:r>
            <a:r>
              <a:rPr lang="de-DE" dirty="0">
                <a:sym typeface="Wingdings" panose="05000000000000000000" pitchFamily="2" charset="2"/>
              </a:rPr>
              <a:t> Klasse für das XML-Fileobjekt</a:t>
            </a:r>
          </a:p>
          <a:p>
            <a:pPr lvl="1"/>
            <a:r>
              <a:rPr lang="de-DE" sz="2600" b="1" dirty="0" err="1">
                <a:latin typeface="Consolas" panose="020B0609020204030204" pitchFamily="49" charset="0"/>
              </a:rPr>
              <a:t>ET.parse</a:t>
            </a:r>
            <a:r>
              <a:rPr lang="de-DE" sz="2600" b="1" dirty="0">
                <a:latin typeface="Consolas" panose="020B0609020204030204" pitchFamily="49" charset="0"/>
              </a:rPr>
              <a:t>('Filename') </a:t>
            </a:r>
            <a:r>
              <a:rPr lang="de-DE" dirty="0">
                <a:sym typeface="Wingdings" panose="05000000000000000000" pitchFamily="2" charset="2"/>
              </a:rPr>
              <a:t> Erzeugt das ET-</a:t>
            </a:r>
            <a:r>
              <a:rPr lang="de-DE" dirty="0" err="1">
                <a:sym typeface="Wingdings" panose="05000000000000000000" pitchFamily="2" charset="2"/>
              </a:rPr>
              <a:t>tree</a:t>
            </a:r>
            <a:r>
              <a:rPr lang="de-DE" dirty="0">
                <a:sym typeface="Wingdings" panose="05000000000000000000" pitchFamily="2" charset="2"/>
              </a:rPr>
              <a:t>-Objekt</a:t>
            </a:r>
          </a:p>
          <a:p>
            <a:pPr lvl="1"/>
            <a:r>
              <a:rPr lang="de-DE" sz="26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ET.fromstring</a:t>
            </a:r>
            <a:r>
              <a:rPr lang="de-DE" sz="2600" b="1" dirty="0">
                <a:latin typeface="Consolas" panose="020B0609020204030204" pitchFamily="49" charset="0"/>
                <a:sym typeface="Wingdings" panose="05000000000000000000" pitchFamily="2" charset="2"/>
              </a:rPr>
              <a:t>(String) </a:t>
            </a:r>
            <a:r>
              <a:rPr lang="de-DE" dirty="0">
                <a:sym typeface="Wingdings" panose="05000000000000000000" pitchFamily="2" charset="2"/>
              </a:rPr>
              <a:t> Erzeugt ein Objekt aus einem String</a:t>
            </a:r>
          </a:p>
          <a:p>
            <a:r>
              <a:rPr lang="de-DE" dirty="0"/>
              <a:t>Die Objekte vom Typ </a:t>
            </a:r>
            <a:r>
              <a:rPr lang="de-DE" dirty="0" err="1"/>
              <a:t>tree</a:t>
            </a:r>
            <a:r>
              <a:rPr lang="de-DE" dirty="0"/>
              <a:t> (Baum, entspricht der gesamten XML-Datei) haben u.a. folgende Funktionen:</a:t>
            </a:r>
          </a:p>
          <a:p>
            <a:pPr lvl="1"/>
            <a:r>
              <a:rPr lang="de-DE" sz="2600" b="1" dirty="0" err="1">
                <a:latin typeface="Consolas" panose="020B0609020204030204" pitchFamily="49" charset="0"/>
              </a:rPr>
              <a:t>tree.getroot</a:t>
            </a:r>
            <a:r>
              <a:rPr lang="de-DE" sz="2600" b="1" dirty="0">
                <a:latin typeface="Consolas" panose="020B0609020204030204" pitchFamily="49" charset="0"/>
              </a:rPr>
              <a:t>() </a:t>
            </a:r>
            <a:r>
              <a:rPr lang="de-DE" dirty="0">
                <a:sym typeface="Wingdings" panose="05000000000000000000" pitchFamily="2" charset="2"/>
              </a:rPr>
              <a:t> Liefert das root-Element</a:t>
            </a:r>
          </a:p>
          <a:p>
            <a:pPr lvl="1"/>
            <a:r>
              <a:rPr lang="de-DE" sz="26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tree.write</a:t>
            </a:r>
            <a:r>
              <a:rPr lang="de-DE" sz="2600" b="1" dirty="0">
                <a:latin typeface="Consolas" panose="020B0609020204030204" pitchFamily="49" charset="0"/>
                <a:sym typeface="Wingdings" panose="05000000000000000000" pitchFamily="2" charset="2"/>
              </a:rPr>
              <a:t>('Filename.xml') </a:t>
            </a:r>
            <a:r>
              <a:rPr lang="de-DE" dirty="0">
                <a:sym typeface="Wingdings" panose="05000000000000000000" pitchFamily="2" charset="2"/>
              </a:rPr>
              <a:t> Schreibt den "Baum" in eine XML-Datei</a:t>
            </a:r>
          </a:p>
          <a:p>
            <a:r>
              <a:rPr lang="de-DE" dirty="0">
                <a:sym typeface="Wingdings" panose="05000000000000000000" pitchFamily="2" charset="2"/>
              </a:rPr>
              <a:t>Das root-Objekt (und die Unterobjekte) haben u.a. folgende Funktionen und Zugriffsmöglichkeiten:</a:t>
            </a:r>
          </a:p>
          <a:p>
            <a:pPr lvl="1"/>
            <a:r>
              <a:rPr lang="de-DE" sz="24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len</a:t>
            </a:r>
            <a:r>
              <a:rPr lang="de-DE" sz="2400" b="1" dirty="0">
                <a:latin typeface="Consolas" panose="020B0609020204030204" pitchFamily="49" charset="0"/>
                <a:sym typeface="Wingdings" panose="05000000000000000000" pitchFamily="2" charset="2"/>
              </a:rPr>
              <a:t>(root)  </a:t>
            </a:r>
            <a:r>
              <a:rPr lang="de-DE" sz="2800" dirty="0">
                <a:sym typeface="Wingdings" panose="05000000000000000000" pitchFamily="2" charset="2"/>
              </a:rPr>
              <a:t>Anzahl der Child-Elemente von root (also die Anzahl an Büchern)</a:t>
            </a:r>
          </a:p>
          <a:p>
            <a:pPr lvl="1"/>
            <a:r>
              <a:rPr lang="de-DE" sz="24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len</a:t>
            </a:r>
            <a:r>
              <a:rPr lang="de-DE" sz="2400" b="1" dirty="0">
                <a:latin typeface="Consolas" panose="020B0609020204030204" pitchFamily="49" charset="0"/>
                <a:sym typeface="Wingdings" panose="05000000000000000000" pitchFamily="2" charset="2"/>
              </a:rPr>
              <a:t>(root[0])  </a:t>
            </a:r>
            <a:r>
              <a:rPr lang="de-DE" sz="2800" dirty="0">
                <a:sym typeface="Wingdings" panose="05000000000000000000" pitchFamily="2" charset="2"/>
              </a:rPr>
              <a:t>Anzahl der Child-Elemente des ersten Child-Elements von root</a:t>
            </a:r>
          </a:p>
          <a:p>
            <a:pPr lvl="1"/>
            <a:r>
              <a:rPr lang="de-DE" sz="26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root.attrib</a:t>
            </a:r>
            <a:r>
              <a:rPr lang="de-DE" sz="2600" b="1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de-DE" sz="2900" dirty="0">
                <a:sym typeface="Wingdings" panose="05000000000000000000" pitchFamily="2" charset="2"/>
              </a:rPr>
              <a:t> Liefert die Attribute des Elements (im Beispiel "</a:t>
            </a:r>
            <a:r>
              <a:rPr lang="de-DE" sz="2900" dirty="0" err="1">
                <a:sym typeface="Wingdings" panose="05000000000000000000" pitchFamily="2" charset="2"/>
              </a:rPr>
              <a:t>name</a:t>
            </a:r>
            <a:r>
              <a:rPr lang="de-DE" sz="2900" dirty="0">
                <a:sym typeface="Wingdings" panose="05000000000000000000" pitchFamily="2" charset="2"/>
              </a:rPr>
              <a:t>"="Best Books") als Dictionary</a:t>
            </a:r>
          </a:p>
          <a:p>
            <a:pPr lvl="1"/>
            <a:r>
              <a:rPr lang="de-DE" sz="2600" b="1" dirty="0">
                <a:latin typeface="Consolas" panose="020B0609020204030204" pitchFamily="49" charset="0"/>
                <a:sym typeface="Wingdings" panose="05000000000000000000" pitchFamily="2" charset="2"/>
              </a:rPr>
              <a:t>root[0][1].tag </a:t>
            </a:r>
            <a:r>
              <a:rPr lang="de-DE" dirty="0">
                <a:sym typeface="Wingdings" panose="05000000000000000000" pitchFamily="2" charset="2"/>
              </a:rPr>
              <a:t> Liefert den 2. Tag des ersten Buchs</a:t>
            </a:r>
          </a:p>
          <a:p>
            <a:pPr lvl="1"/>
            <a:r>
              <a:rPr lang="de-DE" sz="2600" b="1" dirty="0">
                <a:latin typeface="Consolas" panose="020B0609020204030204" pitchFamily="49" charset="0"/>
                <a:sym typeface="Wingdings" panose="05000000000000000000" pitchFamily="2" charset="2"/>
              </a:rPr>
              <a:t>root[1][2].</a:t>
            </a:r>
            <a:r>
              <a:rPr lang="de-DE" sz="26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text</a:t>
            </a:r>
            <a:r>
              <a:rPr lang="de-DE" sz="2600" b="1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de-DE" dirty="0">
                <a:sym typeface="Wingdings" panose="05000000000000000000" pitchFamily="2" charset="2"/>
              </a:rPr>
              <a:t> Liefert den 3. Text des zweiten Buchs</a:t>
            </a:r>
          </a:p>
          <a:p>
            <a:pPr lvl="1"/>
            <a:r>
              <a:rPr lang="de-DE" sz="2600" b="1" dirty="0">
                <a:latin typeface="Consolas" panose="020B0609020204030204" pitchFamily="49" charset="0"/>
                <a:sym typeface="Wingdings" panose="05000000000000000000" pitchFamily="2" charset="2"/>
              </a:rPr>
              <a:t>root[4][2].</a:t>
            </a:r>
            <a:r>
              <a:rPr lang="de-DE" sz="26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text</a:t>
            </a:r>
            <a:r>
              <a:rPr lang="de-DE" sz="2600" b="1" dirty="0">
                <a:latin typeface="Consolas" panose="020B0609020204030204" pitchFamily="49" charset="0"/>
                <a:sym typeface="Wingdings" panose="05000000000000000000" pitchFamily="2" charset="2"/>
              </a:rPr>
              <a:t> = "3 Body Problem" </a:t>
            </a:r>
            <a:r>
              <a:rPr lang="de-DE" dirty="0">
                <a:sym typeface="Wingdings" panose="05000000000000000000" pitchFamily="2" charset="2"/>
              </a:rPr>
              <a:t> Setzt das 2. Element des 5. Buchs</a:t>
            </a:r>
          </a:p>
        </p:txBody>
      </p:sp>
    </p:spTree>
    <p:extLst>
      <p:ext uri="{BB962C8B-B14F-4D97-AF65-F5344CB8AC3E}">
        <p14:creationId xmlns:p14="http://schemas.microsoft.com/office/powerpoint/2010/main" val="3396602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DD98CE-0388-CF75-86F2-C37A44DC6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XML lesen / parsen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D337D4-27AF-CCD0-7954-B43A19DC7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04864"/>
          </a:xfrm>
        </p:spPr>
        <p:txBody>
          <a:bodyPr>
            <a:normAutofit fontScale="62500" lnSpcReduction="20000"/>
          </a:bodyPr>
          <a:lstStyle/>
          <a:p>
            <a:r>
              <a:rPr lang="de-DE" dirty="0"/>
              <a:t>Mit </a:t>
            </a:r>
            <a:r>
              <a:rPr lang="de-DE" sz="2600" b="1" dirty="0" err="1">
                <a:latin typeface="Consolas" panose="020B0609020204030204" pitchFamily="49" charset="0"/>
              </a:rPr>
              <a:t>tree</a:t>
            </a:r>
            <a:r>
              <a:rPr lang="de-DE" sz="2600" b="1" dirty="0">
                <a:latin typeface="Consolas" panose="020B0609020204030204" pitchFamily="49" charset="0"/>
              </a:rPr>
              <a:t>=</a:t>
            </a:r>
            <a:r>
              <a:rPr lang="de-DE" sz="2600" b="1" dirty="0" err="1">
                <a:latin typeface="Consolas" panose="020B0609020204030204" pitchFamily="49" charset="0"/>
              </a:rPr>
              <a:t>ET.parse</a:t>
            </a:r>
            <a:r>
              <a:rPr lang="de-DE" sz="2600" b="1" dirty="0">
                <a:latin typeface="Consolas" panose="020B0609020204030204" pitchFamily="49" charset="0"/>
              </a:rPr>
              <a:t>('Datei.xml') </a:t>
            </a:r>
            <a:r>
              <a:rPr lang="de-DE" dirty="0"/>
              <a:t>die Datei in ein </a:t>
            </a:r>
            <a:r>
              <a:rPr lang="de-DE" dirty="0" err="1"/>
              <a:t>Tree</a:t>
            </a:r>
            <a:r>
              <a:rPr lang="de-DE" dirty="0"/>
              <a:t>-Objekt einlesen</a:t>
            </a:r>
          </a:p>
          <a:p>
            <a:r>
              <a:rPr lang="de-DE" dirty="0"/>
              <a:t>Das Root-Element mit </a:t>
            </a:r>
            <a:r>
              <a:rPr lang="de-DE" sz="2600" b="1" dirty="0">
                <a:latin typeface="Consolas" panose="020B0609020204030204" pitchFamily="49" charset="0"/>
              </a:rPr>
              <a:t>root=</a:t>
            </a:r>
            <a:r>
              <a:rPr lang="de-DE" sz="2600" b="1" dirty="0" err="1">
                <a:latin typeface="Consolas" panose="020B0609020204030204" pitchFamily="49" charset="0"/>
              </a:rPr>
              <a:t>tree.getroot</a:t>
            </a:r>
            <a:r>
              <a:rPr lang="de-DE" sz="2600" b="1" dirty="0">
                <a:latin typeface="Consolas" panose="020B0609020204030204" pitchFamily="49" charset="0"/>
              </a:rPr>
              <a:t>() </a:t>
            </a:r>
            <a:r>
              <a:rPr lang="de-DE" dirty="0"/>
              <a:t>ermitteln (ggf. in einen String mit </a:t>
            </a:r>
            <a:r>
              <a:rPr lang="de-DE" sz="2600" b="1" dirty="0" err="1">
                <a:latin typeface="Consolas" panose="020B0609020204030204" pitchFamily="49" charset="0"/>
              </a:rPr>
              <a:t>ET.tostring</a:t>
            </a:r>
            <a:r>
              <a:rPr lang="de-DE" sz="2600" b="1" dirty="0">
                <a:latin typeface="Consolas" panose="020B0609020204030204" pitchFamily="49" charset="0"/>
              </a:rPr>
              <a:t>(root)</a:t>
            </a:r>
            <a:r>
              <a:rPr lang="de-DE" sz="2400" b="1" dirty="0">
                <a:latin typeface="Consolas" panose="020B0609020204030204" pitchFamily="49" charset="0"/>
              </a:rPr>
              <a:t> </a:t>
            </a:r>
            <a:r>
              <a:rPr lang="de-DE" dirty="0"/>
              <a:t>umwandeln)</a:t>
            </a:r>
          </a:p>
          <a:p>
            <a:r>
              <a:rPr lang="de-DE" dirty="0"/>
              <a:t>Steht das root-Objekt zur Verfügung kann es mit einer for … in root: (o.ä.) durchlaufen werden, dabei werden die Kind-(Child-)Objekte durchlaufen.</a:t>
            </a:r>
          </a:p>
          <a:p>
            <a:r>
              <a:rPr lang="de-DE" dirty="0"/>
              <a:t>Bei weiteren Unterelementen (hier </a:t>
            </a:r>
            <a:r>
              <a:rPr lang="de-DE" dirty="0" err="1"/>
              <a:t>Grandchild</a:t>
            </a:r>
            <a:r>
              <a:rPr lang="de-DE" dirty="0"/>
              <a:t> genannt) im XML wird eine weitere Schleife innerhalb der </a:t>
            </a:r>
            <a:r>
              <a:rPr lang="de-DE" dirty="0" err="1"/>
              <a:t>child</a:t>
            </a:r>
            <a:r>
              <a:rPr lang="de-DE" dirty="0"/>
              <a:t>-Elemente-Schleife benötigt: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A4EC46B-B1BB-D366-9E79-F81F9AD3B6F8}"/>
              </a:ext>
            </a:extLst>
          </p:cNvPr>
          <p:cNvSpPr txBox="1"/>
          <p:nvPr/>
        </p:nvSpPr>
        <p:spPr>
          <a:xfrm>
            <a:off x="827584" y="3573016"/>
            <a:ext cx="7920880" cy="286232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  <a:latin typeface="Consolas" panose="020B0609020204030204" pitchFamily="49" charset="0"/>
              </a:rPr>
              <a:t>#parsen und Ausgabe der XML-Daten</a:t>
            </a:r>
          </a:p>
          <a:p>
            <a:r>
              <a:rPr lang="de-DE" b="1" dirty="0" err="1">
                <a:latin typeface="Consolas" panose="020B0609020204030204" pitchFamily="49" charset="0"/>
              </a:rPr>
              <a:t>import</a:t>
            </a:r>
            <a:r>
              <a:rPr lang="de-DE" b="1" dirty="0">
                <a:latin typeface="Consolas" panose="020B0609020204030204" pitchFamily="49" charset="0"/>
              </a:rPr>
              <a:t> </a:t>
            </a:r>
            <a:r>
              <a:rPr lang="de-DE" b="1" dirty="0" err="1">
                <a:latin typeface="Consolas" panose="020B0609020204030204" pitchFamily="49" charset="0"/>
              </a:rPr>
              <a:t>xml.etree.ElementTree</a:t>
            </a:r>
            <a:r>
              <a:rPr lang="de-DE" b="1" dirty="0">
                <a:latin typeface="Consolas" panose="020B0609020204030204" pitchFamily="49" charset="0"/>
              </a:rPr>
              <a:t> </a:t>
            </a:r>
            <a:r>
              <a:rPr lang="de-DE" b="1" dirty="0" err="1">
                <a:latin typeface="Consolas" panose="020B0609020204030204" pitchFamily="49" charset="0"/>
              </a:rPr>
              <a:t>as</a:t>
            </a:r>
            <a:r>
              <a:rPr lang="de-DE" b="1" dirty="0">
                <a:latin typeface="Consolas" panose="020B0609020204030204" pitchFamily="49" charset="0"/>
              </a:rPr>
              <a:t> ET</a:t>
            </a:r>
          </a:p>
          <a:p>
            <a:r>
              <a:rPr lang="de-DE" b="1" dirty="0" err="1">
                <a:latin typeface="Consolas" panose="020B0609020204030204" pitchFamily="49" charset="0"/>
              </a:rPr>
              <a:t>tree</a:t>
            </a:r>
            <a:r>
              <a:rPr lang="de-DE" b="1" dirty="0">
                <a:latin typeface="Consolas" panose="020B0609020204030204" pitchFamily="49" charset="0"/>
              </a:rPr>
              <a:t> = </a:t>
            </a:r>
            <a:r>
              <a:rPr lang="de-DE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ET.parse</a:t>
            </a:r>
            <a:r>
              <a:rPr lang="de-DE" b="1" dirty="0">
                <a:solidFill>
                  <a:srgbClr val="0070C0"/>
                </a:solidFill>
                <a:latin typeface="Consolas" panose="020B0609020204030204" pitchFamily="49" charset="0"/>
              </a:rPr>
              <a:t>("library.xml")</a:t>
            </a:r>
          </a:p>
          <a:p>
            <a:r>
              <a:rPr lang="de-DE" b="1" dirty="0">
                <a:latin typeface="Consolas" panose="020B0609020204030204" pitchFamily="49" charset="0"/>
              </a:rPr>
              <a:t>root = </a:t>
            </a:r>
            <a:r>
              <a:rPr lang="de-DE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tree.getroot</a:t>
            </a:r>
            <a:r>
              <a:rPr lang="de-DE" b="1" dirty="0">
                <a:solidFill>
                  <a:srgbClr val="0070C0"/>
                </a:solidFill>
                <a:latin typeface="Consolas" panose="020B0609020204030204" pitchFamily="49" charset="0"/>
              </a:rPr>
              <a:t>()   </a:t>
            </a:r>
            <a:r>
              <a:rPr lang="de-DE" b="1" dirty="0">
                <a:solidFill>
                  <a:srgbClr val="FF0000"/>
                </a:solidFill>
                <a:latin typeface="Consolas" panose="020B0609020204030204" pitchFamily="49" charset="0"/>
              </a:rPr>
              <a:t># root entspricht dem Tag &lt;</a:t>
            </a:r>
            <a:r>
              <a:rPr lang="de-DE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library</a:t>
            </a:r>
            <a:r>
              <a:rPr lang="de-DE" b="1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</a:p>
          <a:p>
            <a:endParaRPr lang="de-DE" b="1" dirty="0">
              <a:latin typeface="Consolas" panose="020B0609020204030204" pitchFamily="49" charset="0"/>
            </a:endParaRPr>
          </a:p>
          <a:p>
            <a:r>
              <a:rPr lang="de-DE" b="1" dirty="0">
                <a:latin typeface="Consolas" panose="020B0609020204030204" pitchFamily="49" charset="0"/>
              </a:rPr>
              <a:t>for </a:t>
            </a:r>
            <a:r>
              <a:rPr lang="de-DE" b="1" dirty="0" err="1">
                <a:latin typeface="Consolas" panose="020B0609020204030204" pitchFamily="49" charset="0"/>
              </a:rPr>
              <a:t>child</a:t>
            </a:r>
            <a:r>
              <a:rPr lang="de-DE" b="1" dirty="0">
                <a:latin typeface="Consolas" panose="020B0609020204030204" pitchFamily="49" charset="0"/>
              </a:rPr>
              <a:t> in root:   </a:t>
            </a:r>
            <a:r>
              <a:rPr lang="de-DE" b="1" dirty="0">
                <a:solidFill>
                  <a:srgbClr val="FF0000"/>
                </a:solidFill>
                <a:latin typeface="Consolas" panose="020B0609020204030204" pitchFamily="49" charset="0"/>
              </a:rPr>
              <a:t># </a:t>
            </a:r>
            <a:r>
              <a:rPr lang="de-DE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child</a:t>
            </a:r>
            <a:r>
              <a:rPr lang="de-DE" b="1" dirty="0">
                <a:solidFill>
                  <a:srgbClr val="FF0000"/>
                </a:solidFill>
                <a:latin typeface="Consolas" panose="020B0609020204030204" pitchFamily="49" charset="0"/>
              </a:rPr>
              <a:t> entspricht dem Tag &lt;</a:t>
            </a:r>
            <a:r>
              <a:rPr lang="de-DE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book</a:t>
            </a:r>
            <a:r>
              <a:rPr lang="de-DE" b="1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de-DE" b="1" dirty="0">
                <a:latin typeface="Consolas" panose="020B0609020204030204" pitchFamily="49" charset="0"/>
              </a:rPr>
              <a:t>    </a:t>
            </a:r>
            <a:r>
              <a:rPr lang="de-DE" b="1" dirty="0" err="1">
                <a:latin typeface="Consolas" panose="020B0609020204030204" pitchFamily="49" charset="0"/>
              </a:rPr>
              <a:t>print</a:t>
            </a:r>
            <a:r>
              <a:rPr lang="de-DE" b="1" dirty="0">
                <a:latin typeface="Consolas" panose="020B0609020204030204" pitchFamily="49" charset="0"/>
              </a:rPr>
              <a:t>(</a:t>
            </a:r>
            <a:r>
              <a:rPr lang="de-DE" b="1" dirty="0" err="1">
                <a:latin typeface="Consolas" panose="020B0609020204030204" pitchFamily="49" charset="0"/>
              </a:rPr>
              <a:t>child</a:t>
            </a:r>
            <a:r>
              <a:rPr lang="de-DE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.tag</a:t>
            </a:r>
            <a:r>
              <a:rPr lang="de-DE" b="1" dirty="0">
                <a:latin typeface="Consolas" panose="020B0609020204030204" pitchFamily="49" charset="0"/>
              </a:rPr>
              <a:t>,":")</a:t>
            </a:r>
          </a:p>
          <a:p>
            <a:r>
              <a:rPr lang="de-DE" b="1" dirty="0">
                <a:latin typeface="Consolas" panose="020B0609020204030204" pitchFamily="49" charset="0"/>
              </a:rPr>
              <a:t>    for </a:t>
            </a:r>
            <a:r>
              <a:rPr lang="de-DE" b="1" dirty="0" err="1">
                <a:latin typeface="Consolas" panose="020B0609020204030204" pitchFamily="49" charset="0"/>
              </a:rPr>
              <a:t>grandchild</a:t>
            </a:r>
            <a:r>
              <a:rPr lang="de-DE" b="1" dirty="0">
                <a:latin typeface="Consolas" panose="020B0609020204030204" pitchFamily="49" charset="0"/>
              </a:rPr>
              <a:t> in </a:t>
            </a:r>
            <a:r>
              <a:rPr lang="de-DE" b="1" dirty="0" err="1">
                <a:latin typeface="Consolas" panose="020B0609020204030204" pitchFamily="49" charset="0"/>
              </a:rPr>
              <a:t>child</a:t>
            </a:r>
            <a:r>
              <a:rPr lang="de-DE" b="1" dirty="0">
                <a:latin typeface="Consolas" panose="020B0609020204030204" pitchFamily="49" charset="0"/>
              </a:rPr>
              <a:t>:</a:t>
            </a:r>
          </a:p>
          <a:p>
            <a:r>
              <a:rPr lang="de-DE" b="1" dirty="0">
                <a:latin typeface="Consolas" panose="020B0609020204030204" pitchFamily="49" charset="0"/>
              </a:rPr>
              <a:t>    </a:t>
            </a:r>
            <a:r>
              <a:rPr lang="de-DE" b="1" dirty="0">
                <a:solidFill>
                  <a:srgbClr val="FF0000"/>
                </a:solidFill>
                <a:latin typeface="Consolas" panose="020B0609020204030204" pitchFamily="49" charset="0"/>
              </a:rPr>
              <a:t># Die </a:t>
            </a:r>
            <a:r>
              <a:rPr lang="de-DE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Grandchildren</a:t>
            </a:r>
            <a:r>
              <a:rPr lang="de-DE" b="1" dirty="0">
                <a:solidFill>
                  <a:srgbClr val="FF0000"/>
                </a:solidFill>
                <a:latin typeface="Consolas" panose="020B0609020204030204" pitchFamily="49" charset="0"/>
              </a:rPr>
              <a:t> sind &lt;title&gt;, &lt;</a:t>
            </a:r>
            <a:r>
              <a:rPr lang="de-DE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author</a:t>
            </a:r>
            <a:r>
              <a:rPr lang="de-DE" b="1" dirty="0">
                <a:solidFill>
                  <a:srgbClr val="FF0000"/>
                </a:solidFill>
                <a:latin typeface="Consolas" panose="020B0609020204030204" pitchFamily="49" charset="0"/>
              </a:rPr>
              <a:t>&gt;, &lt;</a:t>
            </a:r>
            <a:r>
              <a:rPr lang="de-DE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year</a:t>
            </a:r>
            <a:r>
              <a:rPr lang="de-DE" b="1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de-DE" b="1" dirty="0">
                <a:latin typeface="Consolas" panose="020B0609020204030204" pitchFamily="49" charset="0"/>
              </a:rPr>
              <a:t>        </a:t>
            </a:r>
            <a:r>
              <a:rPr lang="de-DE" b="1" dirty="0" err="1">
                <a:latin typeface="Consolas" panose="020B0609020204030204" pitchFamily="49" charset="0"/>
              </a:rPr>
              <a:t>print</a:t>
            </a:r>
            <a:r>
              <a:rPr lang="de-DE" b="1" dirty="0">
                <a:latin typeface="Consolas" panose="020B0609020204030204" pitchFamily="49" charset="0"/>
              </a:rPr>
              <a:t>(grandchild</a:t>
            </a:r>
            <a:r>
              <a:rPr lang="de-DE" b="1" dirty="0">
                <a:solidFill>
                  <a:srgbClr val="0070C0"/>
                </a:solidFill>
                <a:latin typeface="Consolas" panose="020B0609020204030204" pitchFamily="49" charset="0"/>
              </a:rPr>
              <a:t>.tag</a:t>
            </a:r>
            <a:r>
              <a:rPr lang="de-DE" b="1" dirty="0">
                <a:latin typeface="Consolas" panose="020B0609020204030204" pitchFamily="49" charset="0"/>
              </a:rPr>
              <a:t>,":",</a:t>
            </a:r>
            <a:r>
              <a:rPr lang="de-DE" b="1" dirty="0" err="1">
                <a:latin typeface="Consolas" panose="020B0609020204030204" pitchFamily="49" charset="0"/>
              </a:rPr>
              <a:t>grandchild</a:t>
            </a:r>
            <a:r>
              <a:rPr lang="de-DE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.text</a:t>
            </a:r>
            <a:r>
              <a:rPr lang="de-DE" b="1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699481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2764C6-4253-2662-E93F-212AC2847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XML umwandeln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D114EB-D70D-4565-7FB0-159D86F06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5544616" cy="5213176"/>
          </a:xfrm>
        </p:spPr>
        <p:txBody>
          <a:bodyPr>
            <a:normAutofit fontScale="77500" lnSpcReduction="20000"/>
          </a:bodyPr>
          <a:lstStyle/>
          <a:p>
            <a:r>
              <a:rPr lang="de-DE" dirty="0"/>
              <a:t>Mit dem Modul (und der </a:t>
            </a:r>
            <a:r>
              <a:rPr lang="de-DE" sz="2600" b="1" dirty="0">
                <a:latin typeface="Consolas" panose="020B0609020204030204" pitchFamily="49" charset="0"/>
              </a:rPr>
              <a:t>parse</a:t>
            </a:r>
            <a:r>
              <a:rPr lang="de-DE" dirty="0"/>
              <a:t>-Funktion) von </a:t>
            </a:r>
            <a:r>
              <a:rPr lang="de-DE" sz="2600" b="1" dirty="0" err="1">
                <a:latin typeface="Consolas" panose="020B0609020204030204" pitchFamily="49" charset="0"/>
              </a:rPr>
              <a:t>xmltodict</a:t>
            </a:r>
            <a:r>
              <a:rPr lang="de-DE" dirty="0"/>
              <a:t> kann man einen XML-String in ein Dictionary umwandeln. </a:t>
            </a:r>
          </a:p>
          <a:p>
            <a:r>
              <a:rPr lang="de-DE" dirty="0"/>
              <a:t>Mit dem Modul </a:t>
            </a:r>
            <a:r>
              <a:rPr lang="de-DE" sz="2600" b="1" dirty="0">
                <a:latin typeface="Consolas" panose="020B0609020204030204" pitchFamily="49" charset="0"/>
              </a:rPr>
              <a:t>dict2xml</a:t>
            </a:r>
            <a:r>
              <a:rPr lang="de-DE" dirty="0"/>
              <a:t> (und der gleichnamigen Funktion) kann man ein Dictionary in einen XML-String konvertieren, um ihn dann in eine Datei zu schreiben.</a:t>
            </a:r>
          </a:p>
          <a:p>
            <a:r>
              <a:rPr lang="de-DE" dirty="0"/>
              <a:t>Der XML-String kann dann wie jeder andere String in eine XML-Textdatei geschrieben werden.</a:t>
            </a:r>
          </a:p>
          <a:p>
            <a:r>
              <a:rPr lang="de-DE" dirty="0"/>
              <a:t>Beide Module müssen vor Verwendung mit </a:t>
            </a:r>
            <a:r>
              <a:rPr lang="de-DE" sz="2600" b="1" dirty="0">
                <a:latin typeface="Consolas" panose="020B0609020204030204" pitchFamily="49" charset="0"/>
              </a:rPr>
              <a:t>pip3</a:t>
            </a:r>
            <a:r>
              <a:rPr lang="de-DE" dirty="0"/>
              <a:t> installiert werden!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433276B-CAB3-3AB6-9C57-DB453040CC06}"/>
              </a:ext>
            </a:extLst>
          </p:cNvPr>
          <p:cNvSpPr txBox="1"/>
          <p:nvPr/>
        </p:nvSpPr>
        <p:spPr>
          <a:xfrm>
            <a:off x="5868144" y="1528568"/>
            <a:ext cx="2988319" cy="507831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DE" sz="1200" dirty="0" err="1">
                <a:latin typeface="Consolas" panose="020B0609020204030204" pitchFamily="49" charset="0"/>
              </a:rPr>
              <a:t>import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070C0"/>
                </a:solidFill>
                <a:latin typeface="Consolas" panose="020B0609020204030204" pitchFamily="49" charset="0"/>
              </a:rPr>
              <a:t>xmltodict</a:t>
            </a:r>
            <a:r>
              <a:rPr lang="de-DE" sz="1200" dirty="0">
                <a:latin typeface="Consolas" panose="020B0609020204030204" pitchFamily="49" charset="0"/>
              </a:rPr>
              <a:t>              </a:t>
            </a:r>
          </a:p>
          <a:p>
            <a:r>
              <a:rPr lang="de-DE" sz="1200" dirty="0">
                <a:solidFill>
                  <a:srgbClr val="FF0000"/>
                </a:solidFill>
                <a:latin typeface="Consolas" panose="020B0609020204030204" pitchFamily="49" charset="0"/>
              </a:rPr>
              <a:t># Gesamtes Modul importieren</a:t>
            </a:r>
          </a:p>
          <a:p>
            <a:r>
              <a:rPr lang="de-DE" sz="1200" dirty="0" err="1">
                <a:latin typeface="Consolas" panose="020B0609020204030204" pitchFamily="49" charset="0"/>
              </a:rPr>
              <a:t>from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0070C0"/>
                </a:solidFill>
                <a:latin typeface="Consolas" panose="020B0609020204030204" pitchFamily="49" charset="0"/>
              </a:rPr>
              <a:t>dict2xml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import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0070C0"/>
                </a:solidFill>
                <a:latin typeface="Consolas" panose="020B0609020204030204" pitchFamily="49" charset="0"/>
              </a:rPr>
              <a:t>dict2xml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</a:p>
          <a:p>
            <a:r>
              <a:rPr lang="de-DE" sz="1200" dirty="0">
                <a:solidFill>
                  <a:srgbClr val="FF0000"/>
                </a:solidFill>
                <a:latin typeface="Consolas" panose="020B0609020204030204" pitchFamily="49" charset="0"/>
              </a:rPr>
              <a:t># Nur die Funktion importieren</a:t>
            </a:r>
          </a:p>
          <a:p>
            <a:endParaRPr lang="de-DE" sz="1200" dirty="0">
              <a:latin typeface="Consolas" panose="020B0609020204030204" pitchFamily="49" charset="0"/>
            </a:endParaRPr>
          </a:p>
          <a:p>
            <a:r>
              <a:rPr lang="de-DE" sz="1200" dirty="0" err="1">
                <a:latin typeface="Consolas" panose="020B0609020204030204" pitchFamily="49" charset="0"/>
              </a:rPr>
              <a:t>xmltext</a:t>
            </a:r>
            <a:r>
              <a:rPr lang="de-DE" sz="1200" dirty="0">
                <a:latin typeface="Consolas" panose="020B0609020204030204" pitchFamily="49" charset="0"/>
              </a:rPr>
              <a:t> = </a:t>
            </a:r>
            <a:r>
              <a:rPr lang="de-DE" sz="12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'''&lt;Schule&gt;</a:t>
            </a:r>
          </a:p>
          <a:p>
            <a:r>
              <a:rPr lang="de-DE" sz="12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    &lt;Kurse&gt;</a:t>
            </a:r>
          </a:p>
          <a:p>
            <a:r>
              <a:rPr lang="de-DE" sz="12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        &lt;Englisch1&gt;</a:t>
            </a:r>
          </a:p>
          <a:p>
            <a:r>
              <a:rPr lang="de-DE" sz="12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          &lt;Raum&gt;A-001&lt;/Raum&gt;</a:t>
            </a:r>
          </a:p>
          <a:p>
            <a:r>
              <a:rPr lang="de-DE" sz="12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        &lt;/Englisch1&gt;</a:t>
            </a:r>
          </a:p>
          <a:p>
            <a:r>
              <a:rPr lang="de-DE" sz="12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        &lt;Englisch2&gt;</a:t>
            </a:r>
          </a:p>
          <a:p>
            <a:r>
              <a:rPr lang="de-DE" sz="12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          &lt;Raum&gt;B-002&lt;/Raum&gt;</a:t>
            </a:r>
          </a:p>
          <a:p>
            <a:r>
              <a:rPr lang="de-DE" sz="12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        &lt;/Englisch2&gt;</a:t>
            </a:r>
          </a:p>
          <a:p>
            <a:r>
              <a:rPr lang="de-DE" sz="12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        &lt;Englisch3&gt;</a:t>
            </a:r>
          </a:p>
          <a:p>
            <a:r>
              <a:rPr lang="de-DE" sz="12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          &lt;Raum&gt;text3&lt;/Raum&gt;</a:t>
            </a:r>
          </a:p>
          <a:p>
            <a:r>
              <a:rPr lang="de-DE" sz="12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        &lt;/Englisch3&gt;</a:t>
            </a:r>
          </a:p>
          <a:p>
            <a:r>
              <a:rPr lang="de-DE" sz="12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    &lt;/Kurse&gt;</a:t>
            </a:r>
          </a:p>
          <a:p>
            <a:r>
              <a:rPr lang="de-DE" sz="12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&lt;/Schule&gt;'''</a:t>
            </a:r>
          </a:p>
          <a:p>
            <a:endParaRPr lang="de-DE" sz="1200" dirty="0">
              <a:latin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</a:rPr>
              <a:t>dict1 = </a:t>
            </a:r>
            <a:r>
              <a:rPr lang="de-DE" sz="1200" dirty="0" err="1">
                <a:solidFill>
                  <a:srgbClr val="0070C0"/>
                </a:solidFill>
                <a:latin typeface="Consolas" panose="020B0609020204030204" pitchFamily="49" charset="0"/>
              </a:rPr>
              <a:t>xmltodict.parse</a:t>
            </a:r>
            <a:r>
              <a:rPr lang="de-DE" sz="1200" dirty="0">
                <a:latin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</a:rPr>
              <a:t>xmltext</a:t>
            </a:r>
            <a:r>
              <a:rPr lang="de-DE" sz="1200" dirty="0">
                <a:latin typeface="Consolas" panose="020B0609020204030204" pitchFamily="49" charset="0"/>
              </a:rPr>
              <a:t>) </a:t>
            </a:r>
          </a:p>
          <a:p>
            <a:r>
              <a:rPr lang="de-DE" sz="1200" dirty="0">
                <a:solidFill>
                  <a:srgbClr val="FF0000"/>
                </a:solidFill>
                <a:latin typeface="Consolas" panose="020B0609020204030204" pitchFamily="49" charset="0"/>
              </a:rPr>
              <a:t># Umwandeln in Dictionary </a:t>
            </a:r>
          </a:p>
          <a:p>
            <a:r>
              <a:rPr lang="de-DE" sz="1200" dirty="0" err="1">
                <a:latin typeface="Consolas" panose="020B0609020204030204" pitchFamily="49" charset="0"/>
              </a:rPr>
              <a:t>print</a:t>
            </a:r>
            <a:r>
              <a:rPr lang="de-DE" sz="1200" dirty="0">
                <a:latin typeface="Consolas" panose="020B0609020204030204" pitchFamily="49" charset="0"/>
              </a:rPr>
              <a:t>(dict1)</a:t>
            </a:r>
          </a:p>
          <a:p>
            <a:endParaRPr lang="de-DE" sz="1200" dirty="0">
              <a:latin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</a:rPr>
              <a:t>xmltext2 = </a:t>
            </a:r>
            <a:r>
              <a:rPr lang="de-DE" sz="1200" dirty="0">
                <a:solidFill>
                  <a:srgbClr val="0070C0"/>
                </a:solidFill>
                <a:latin typeface="Consolas" panose="020B0609020204030204" pitchFamily="49" charset="0"/>
              </a:rPr>
              <a:t>dict2xml</a:t>
            </a:r>
            <a:r>
              <a:rPr lang="de-DE" sz="1200" dirty="0">
                <a:latin typeface="Consolas" panose="020B0609020204030204" pitchFamily="49" charset="0"/>
              </a:rPr>
              <a:t>(dict1) </a:t>
            </a:r>
          </a:p>
          <a:p>
            <a:r>
              <a:rPr lang="de-DE" sz="1200" dirty="0">
                <a:solidFill>
                  <a:srgbClr val="FF0000"/>
                </a:solidFill>
                <a:latin typeface="Consolas" panose="020B0609020204030204" pitchFamily="49" charset="0"/>
              </a:rPr>
              <a:t># Umwandeln in XML-Text</a:t>
            </a:r>
          </a:p>
          <a:p>
            <a:r>
              <a:rPr lang="de-DE" sz="1200" dirty="0" err="1">
                <a:latin typeface="Consolas" panose="020B0609020204030204" pitchFamily="49" charset="0"/>
              </a:rPr>
              <a:t>print</a:t>
            </a:r>
            <a:r>
              <a:rPr lang="de-DE" sz="1200" dirty="0">
                <a:latin typeface="Consolas" panose="020B0609020204030204" pitchFamily="49" charset="0"/>
              </a:rPr>
              <a:t>(xmltext2)</a:t>
            </a:r>
          </a:p>
          <a:p>
            <a:endParaRPr lang="de-DE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408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0A1E31-8A53-4FAB-8370-6C30CEF3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3600" dirty="0"/>
              <a:t>Daten mit dem </a:t>
            </a:r>
            <a:r>
              <a:rPr lang="de-DE" sz="3600" b="1">
                <a:latin typeface="Courier New" panose="02070309020205020404" pitchFamily="49" charset="0"/>
                <a:cs typeface="Courier New" panose="02070309020205020404" pitchFamily="49" charset="0"/>
              </a:rPr>
              <a:t>pickle</a:t>
            </a:r>
            <a:r>
              <a:rPr lang="de-DE" sz="3600"/>
              <a:t>-Modul persistent speichern </a:t>
            </a:r>
            <a:r>
              <a:rPr lang="de-DE" sz="3600" dirty="0"/>
              <a:t>und laden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6350C0-B154-4291-BBCA-2AB555889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5357192"/>
          </a:xfrm>
        </p:spPr>
        <p:txBody>
          <a:bodyPr>
            <a:normAutofit fontScale="92500" lnSpcReduction="20000"/>
          </a:bodyPr>
          <a:lstStyle/>
          <a:p>
            <a:r>
              <a:rPr lang="de-DE" sz="2400" dirty="0"/>
              <a:t>Das </a:t>
            </a:r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pickle</a:t>
            </a:r>
            <a:r>
              <a:rPr lang="de-DE" sz="2400" dirty="0"/>
              <a:t> Modul sorgt für ein einfaches Abspeichern ("serialisieren") von komplexen Daten (bevorzugt Listen, Tupel, </a:t>
            </a:r>
            <a:r>
              <a:rPr lang="de-DE" sz="2400" dirty="0" err="1"/>
              <a:t>Dictionaries</a:t>
            </a:r>
            <a:r>
              <a:rPr lang="de-DE" sz="2400" dirty="0"/>
              <a:t>, Klassen, Objekte) mit </a:t>
            </a:r>
            <a:r>
              <a:rPr lang="de-DE" sz="2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pickle.dump</a:t>
            </a:r>
            <a:r>
              <a:rPr lang="de-DE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sz="2400" dirty="0"/>
              <a:t>und entsprechende Umwandlung in die richtigen Datentypen bei Wiedereinlesen mit </a:t>
            </a:r>
            <a:r>
              <a:rPr lang="de-DE" sz="2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pickle.load</a:t>
            </a:r>
            <a:r>
              <a:rPr lang="de-DE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de-DE" sz="2400" dirty="0"/>
              <a:t>Vorsicht: Keine fremden/unbekannten pickle-Dateien einlesen (u.U. Codeausführung möglich!)</a:t>
            </a:r>
          </a:p>
          <a:p>
            <a:r>
              <a:rPr lang="de-D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pickle</a:t>
            </a:r>
            <a:r>
              <a:rPr lang="de-DE" sz="2400" dirty="0"/>
              <a:t>-Dateien sind proprietär (Python </a:t>
            </a:r>
            <a:r>
              <a:rPr lang="de-DE" sz="2400" dirty="0" err="1"/>
              <a:t>only</a:t>
            </a:r>
            <a:r>
              <a:rPr lang="de-DE" sz="2400" dirty="0"/>
              <a:t>) und nicht mit anderen Sprachen kompatibel. Alternative: </a:t>
            </a:r>
            <a:r>
              <a:rPr lang="de-DE" sz="2400" b="1" dirty="0"/>
              <a:t>.</a:t>
            </a:r>
            <a:r>
              <a:rPr lang="de-DE" sz="2400" b="1" dirty="0" err="1"/>
              <a:t>json</a:t>
            </a:r>
            <a:r>
              <a:rPr lang="de-DE" sz="2400" dirty="0"/>
              <a:t>/</a:t>
            </a:r>
            <a:r>
              <a:rPr lang="de-DE" sz="2400" b="1" dirty="0"/>
              <a:t>.</a:t>
            </a:r>
            <a:r>
              <a:rPr lang="de-DE" sz="2400" b="1" dirty="0" err="1"/>
              <a:t>csv</a:t>
            </a:r>
            <a:r>
              <a:rPr lang="de-DE" sz="2400" dirty="0"/>
              <a:t>-Dateien schreiben!</a:t>
            </a:r>
          </a:p>
          <a:p>
            <a:pPr marL="0" indent="0">
              <a:buNone/>
            </a:pPr>
            <a:br>
              <a:rPr lang="de-D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de-DE" sz="1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pickle</a:t>
            </a:r>
            <a:br>
              <a:rPr lang="de-D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liste = ["Hello",1,True]</a:t>
            </a:r>
            <a:br>
              <a:rPr lang="de-D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 = open("datei.</a:t>
            </a:r>
            <a:r>
              <a:rPr lang="de-DE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pkl</a:t>
            </a:r>
            <a:r>
              <a:rPr lang="de-D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","</a:t>
            </a:r>
            <a:r>
              <a:rPr lang="de-DE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de-D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  <a:br>
              <a:rPr lang="de-D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pickle.dump</a:t>
            </a:r>
            <a:r>
              <a:rPr lang="de-D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(liste, do)   </a:t>
            </a:r>
            <a:r>
              <a:rPr lang="de-DE" sz="1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liste in eine pickle-Datei schreiben</a:t>
            </a:r>
          </a:p>
          <a:p>
            <a:pPr marL="0" indent="0">
              <a:buNone/>
            </a:pPr>
            <a:r>
              <a:rPr lang="de-DE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do.close</a:t>
            </a:r>
            <a:r>
              <a:rPr lang="de-D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br>
              <a:rPr lang="de-D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 = open("datei.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pkl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","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  <a:b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liste2=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pickle.load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(do)    </a:t>
            </a:r>
            <a:r>
              <a:rPr lang="en-US" sz="1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7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liste</a:t>
            </a:r>
            <a:r>
              <a:rPr lang="en-US" sz="1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aus</a:t>
            </a:r>
            <a:r>
              <a:rPr lang="en-US" sz="1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der pickle-</a:t>
            </a:r>
            <a:r>
              <a:rPr lang="en-US" sz="17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Datei</a:t>
            </a:r>
            <a:r>
              <a:rPr lang="en-US" sz="1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auslesen</a:t>
            </a:r>
            <a:b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do.close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print(liste2)</a:t>
            </a:r>
            <a:endParaRPr lang="de-DE" sz="1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de-DE" sz="2400" dirty="0"/>
          </a:p>
          <a:p>
            <a:endParaRPr lang="de-DE" sz="2400" dirty="0"/>
          </a:p>
        </p:txBody>
      </p:sp>
      <p:sp>
        <p:nvSpPr>
          <p:cNvPr id="4" name="Legende: mit gebogener Linie 3">
            <a:extLst>
              <a:ext uri="{FF2B5EF4-FFF2-40B4-BE49-F238E27FC236}">
                <a16:creationId xmlns:a16="http://schemas.microsoft.com/office/drawing/2014/main" id="{F89E4388-7050-4CEF-B481-C6CAED54D460}"/>
              </a:ext>
            </a:extLst>
          </p:cNvPr>
          <p:cNvSpPr/>
          <p:nvPr/>
        </p:nvSpPr>
        <p:spPr>
          <a:xfrm>
            <a:off x="4355976" y="4365104"/>
            <a:ext cx="4176464" cy="288032"/>
          </a:xfrm>
          <a:prstGeom prst="borderCallout2">
            <a:avLst>
              <a:gd name="adj1" fmla="val 51034"/>
              <a:gd name="adj2" fmla="val -2789"/>
              <a:gd name="adj3" fmla="val 67177"/>
              <a:gd name="adj4" fmla="val -18708"/>
              <a:gd name="adj5" fmla="val 279233"/>
              <a:gd name="adj6" fmla="val -370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Dateiendung frei wählbar, .</a:t>
            </a:r>
            <a:r>
              <a:rPr lang="de-DE" dirty="0" err="1"/>
              <a:t>pkl</a:t>
            </a:r>
            <a:r>
              <a:rPr lang="de-DE" dirty="0"/>
              <a:t> ist üblich</a:t>
            </a:r>
          </a:p>
        </p:txBody>
      </p:sp>
      <p:sp>
        <p:nvSpPr>
          <p:cNvPr id="5" name="Legende: mit gebogener Linie 4">
            <a:extLst>
              <a:ext uri="{FF2B5EF4-FFF2-40B4-BE49-F238E27FC236}">
                <a16:creationId xmlns:a16="http://schemas.microsoft.com/office/drawing/2014/main" id="{285CC254-D861-45A5-81CF-09C031D7FA38}"/>
              </a:ext>
            </a:extLst>
          </p:cNvPr>
          <p:cNvSpPr/>
          <p:nvPr/>
        </p:nvSpPr>
        <p:spPr>
          <a:xfrm>
            <a:off x="4355976" y="4725144"/>
            <a:ext cx="4176464" cy="288032"/>
          </a:xfrm>
          <a:prstGeom prst="borderCallout2">
            <a:avLst>
              <a:gd name="adj1" fmla="val 51034"/>
              <a:gd name="adj2" fmla="val -2789"/>
              <a:gd name="adj3" fmla="val 67177"/>
              <a:gd name="adj4" fmla="val -18708"/>
              <a:gd name="adj5" fmla="val 141739"/>
              <a:gd name="adj6" fmla="val -207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Binärmodus ist Pflicht, sonst Probleme!</a:t>
            </a:r>
          </a:p>
        </p:txBody>
      </p:sp>
    </p:spTree>
    <p:extLst>
      <p:ext uri="{BB962C8B-B14F-4D97-AF65-F5344CB8AC3E}">
        <p14:creationId xmlns:p14="http://schemas.microsoft.com/office/powerpoint/2010/main" val="273747267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9AA9BB-9551-79EF-6B8A-02A53B5E0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dirty="0"/>
              <a:t>Modul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EE39D7-61F4-5E3D-9ACA-7381A320F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13176"/>
          </a:xfrm>
        </p:spPr>
        <p:txBody>
          <a:bodyPr>
            <a:normAutofit fontScale="85000" lnSpcReduction="20000"/>
          </a:bodyPr>
          <a:lstStyle/>
          <a:p>
            <a:r>
              <a:rPr lang="de-DE" dirty="0"/>
              <a:t>Zum Datenimport / Datenanalyse gemacht. Führt einen neuen Datentyp </a:t>
            </a:r>
            <a:r>
              <a:rPr lang="de-DE" b="1" dirty="0" err="1"/>
              <a:t>DataFrame</a:t>
            </a:r>
            <a:r>
              <a:rPr lang="de-DE" dirty="0"/>
              <a:t> für Tabellen ein. DFs haben Spalten-Überschriften und einen durchnummerierten Index (Zeilennummer)!</a:t>
            </a:r>
          </a:p>
          <a:p>
            <a:r>
              <a:rPr lang="de-DE" dirty="0"/>
              <a:t>Muss mit 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pip3 </a:t>
            </a:r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installiert werden, Nutzung mit </a:t>
            </a:r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de-DE" sz="24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/>
              <a:t>DF werden z.B. mit folgenden Methoden erzeugt:</a:t>
            </a:r>
          </a:p>
          <a:p>
            <a:pPr lvl="1"/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(liste) </a:t>
            </a:r>
            <a:r>
              <a:rPr lang="de-DE" dirty="0">
                <a:sym typeface="Wingdings" panose="05000000000000000000" pitchFamily="2" charset="2"/>
              </a:rPr>
              <a:t> aus der angegebenen Liste</a:t>
            </a:r>
          </a:p>
          <a:p>
            <a:pPr lvl="1"/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pd.read_csv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("</a:t>
            </a:r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dateiname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", </a:t>
            </a:r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index_col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=0, </a:t>
            </a:r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delimiter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=";") </a:t>
            </a:r>
            <a:r>
              <a:rPr lang="de-DE" dirty="0">
                <a:sym typeface="Wingdings" panose="05000000000000000000" pitchFamily="2" charset="2"/>
              </a:rPr>
              <a:t> aus einer </a:t>
            </a:r>
            <a:r>
              <a:rPr lang="de-DE" dirty="0" err="1">
                <a:sym typeface="Wingdings" panose="05000000000000000000" pitchFamily="2" charset="2"/>
              </a:rPr>
              <a:t>csv</a:t>
            </a:r>
            <a:r>
              <a:rPr lang="de-DE" dirty="0">
                <a:sym typeface="Wingdings" panose="05000000000000000000" pitchFamily="2" charset="2"/>
              </a:rPr>
              <a:t>-Datei mit angegebener Index-Spalte</a:t>
            </a:r>
          </a:p>
          <a:p>
            <a:pPr lvl="1"/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pd.read_json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("</a:t>
            </a:r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dateiname.json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") </a:t>
            </a:r>
            <a:r>
              <a:rPr lang="de-DE" dirty="0">
                <a:sym typeface="Wingdings" panose="05000000000000000000" pitchFamily="2" charset="2"/>
              </a:rPr>
              <a:t> aus einer JSON-Datei</a:t>
            </a:r>
          </a:p>
          <a:p>
            <a:pPr lvl="1"/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pd.read_xml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("dateiname.xml") </a:t>
            </a:r>
            <a:r>
              <a:rPr lang="de-DE" dirty="0">
                <a:sym typeface="Wingdings" panose="05000000000000000000" pitchFamily="2" charset="2"/>
              </a:rPr>
              <a:t> Aus einer XML-Datei</a:t>
            </a:r>
          </a:p>
          <a:p>
            <a:pPr lvl="1"/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pd.read_sql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(SQL-String, Connector) </a:t>
            </a:r>
            <a:r>
              <a:rPr lang="de-DE" dirty="0">
                <a:sym typeface="Wingdings" panose="05000000000000000000" pitchFamily="2" charset="2"/>
              </a:rPr>
              <a:t> Aus einer SQL-Datenbank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8CD3338-911F-BE6F-AC02-BEE545F2E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301" y="274638"/>
            <a:ext cx="3525846" cy="106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1351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8EEAC8-E71A-49E7-8362-DA76BD1D1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Beispiele: </a:t>
            </a:r>
            <a:r>
              <a:rPr lang="de-DE" dirty="0" err="1"/>
              <a:t>pandas</a:t>
            </a:r>
            <a:r>
              <a:rPr lang="de-DE" dirty="0"/>
              <a:t> </a:t>
            </a:r>
            <a:r>
              <a:rPr lang="de-DE" dirty="0" err="1"/>
              <a:t>DataFrames</a:t>
            </a:r>
            <a:r>
              <a:rPr lang="de-DE" dirty="0"/>
              <a:t> erzeugen und manipulieren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6F8380-ACAA-CBE3-E05C-4DFD3DE32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fontScale="85000" lnSpcReduction="10000"/>
          </a:bodyPr>
          <a:lstStyle/>
          <a:p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liste = [["Hans",22], ["Berta",33], ["Fritz",44], ["Otto",17]]  </a:t>
            </a:r>
            <a:r>
              <a:rPr lang="de-DE" dirty="0">
                <a:sym typeface="Wingdings" panose="05000000000000000000" pitchFamily="2" charset="2"/>
              </a:rPr>
              <a:t> Daten für den DF</a:t>
            </a:r>
            <a:endParaRPr lang="de-DE" dirty="0"/>
          </a:p>
          <a:p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(liste) </a:t>
            </a:r>
            <a:r>
              <a:rPr lang="de-DE" dirty="0">
                <a:sym typeface="Wingdings" panose="05000000000000000000" pitchFamily="2" charset="2"/>
              </a:rPr>
              <a:t> Umwandeln in DF</a:t>
            </a:r>
            <a:endParaRPr lang="de-DE" dirty="0"/>
          </a:p>
          <a:p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(liste, </a:t>
            </a:r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columns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=["</a:t>
            </a:r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Name","Alter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"])  </a:t>
            </a:r>
            <a:r>
              <a:rPr lang="de-DE" dirty="0">
                <a:sym typeface="Wingdings" panose="05000000000000000000" pitchFamily="2" charset="2"/>
              </a:rPr>
              <a:t> DF mit Spaltenbezeichnungen</a:t>
            </a:r>
            <a:endParaRPr lang="de-DE" dirty="0"/>
          </a:p>
          <a:p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df.rename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columns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={"Name": "Vorname", "Alter": "Jahre"})  </a:t>
            </a:r>
            <a:r>
              <a:rPr lang="de-DE" dirty="0">
                <a:sym typeface="Wingdings" panose="05000000000000000000" pitchFamily="2" charset="2"/>
              </a:rPr>
              <a:t> Spalten </a:t>
            </a:r>
            <a:r>
              <a:rPr lang="de-DE" dirty="0" err="1">
                <a:sym typeface="Wingdings" panose="05000000000000000000" pitchFamily="2" charset="2"/>
              </a:rPr>
              <a:t>umbennenen</a:t>
            </a:r>
            <a:endParaRPr lang="de-DE" dirty="0"/>
          </a:p>
          <a:p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df.sort_values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="Alter", </a:t>
            </a:r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ascending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b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dirty="0">
                <a:sym typeface="Wingdings" panose="05000000000000000000" pitchFamily="2" charset="2"/>
              </a:rPr>
              <a:t> Sortieren (absteigend nach Spalte "Alter")</a:t>
            </a:r>
            <a:endParaRPr lang="de-DE" dirty="0"/>
          </a:p>
          <a:p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df.sort_index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dirty="0">
                <a:sym typeface="Wingdings" panose="05000000000000000000" pitchFamily="2" charset="2"/>
              </a:rPr>
              <a:t> Nach Index sortieren</a:t>
            </a:r>
            <a:endParaRPr lang="de-DE" dirty="0"/>
          </a:p>
          <a:p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[0, 1] = 23 </a:t>
            </a:r>
            <a:r>
              <a:rPr lang="de-DE" dirty="0">
                <a:sym typeface="Wingdings" panose="05000000000000000000" pitchFamily="2" charset="2"/>
              </a:rPr>
              <a:t> Daten in 1. Zeile, 2. Spalte ändern</a:t>
            </a:r>
          </a:p>
          <a:p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df.loc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[0, "Alter"] = 24 </a:t>
            </a:r>
            <a:r>
              <a:rPr lang="de-DE" dirty="0">
                <a:sym typeface="Wingdings" panose="05000000000000000000" pitchFamily="2" charset="2"/>
              </a:rPr>
              <a:t> Daten i. 1. Zeile, Spalte "Alter" ändern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201523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37100B-33A7-5921-4E66-E692595F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Pandas </a:t>
            </a:r>
            <a:r>
              <a:rPr lang="de-DE" dirty="0" err="1"/>
              <a:t>DataFrames</a:t>
            </a:r>
            <a:r>
              <a:rPr lang="de-DE" dirty="0"/>
              <a:t> ausgeben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FAE847-75A9-730F-64E1-1098FD8E8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600200"/>
            <a:ext cx="8892480" cy="4853136"/>
          </a:xfrm>
        </p:spPr>
        <p:txBody>
          <a:bodyPr>
            <a:normAutofit fontScale="92500"/>
          </a:bodyPr>
          <a:lstStyle/>
          <a:p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de-DE" dirty="0">
                <a:sym typeface="Wingdings" panose="05000000000000000000" pitchFamily="2" charset="2"/>
              </a:rPr>
              <a:t> Gibt DF aus, kürzt ihn aber bei Bedarf</a:t>
            </a:r>
            <a:endParaRPr lang="de-DE" dirty="0"/>
          </a:p>
          <a:p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df.to_string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 </a:t>
            </a:r>
            <a:r>
              <a:rPr lang="de-DE" dirty="0">
                <a:sym typeface="Wingdings" panose="05000000000000000000" pitchFamily="2" charset="2"/>
              </a:rPr>
              <a:t> Gibt ganzen DF aus</a:t>
            </a:r>
          </a:p>
          <a:p>
            <a:r>
              <a:rPr lang="de-DE" dirty="0" err="1">
                <a:sym typeface="Wingdings" panose="05000000000000000000" pitchFamily="2" charset="2"/>
              </a:rPr>
              <a:t>DataFrames</a:t>
            </a:r>
            <a:r>
              <a:rPr lang="de-DE" dirty="0">
                <a:sym typeface="Wingdings" panose="05000000000000000000" pitchFamily="2" charset="2"/>
              </a:rPr>
              <a:t> lassen sich nicht direkt und vollständig durchiterieren (z.B. </a:t>
            </a:r>
            <a:r>
              <a:rPr lang="de-DE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for z in </a:t>
            </a:r>
            <a:r>
              <a:rPr lang="de-DE" sz="2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df</a:t>
            </a:r>
            <a:r>
              <a:rPr lang="de-DE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: </a:t>
            </a:r>
            <a:r>
              <a:rPr lang="de-DE" dirty="0">
                <a:sym typeface="Wingdings" panose="05000000000000000000" pitchFamily="2" charset="2"/>
              </a:rPr>
              <a:t>geht nicht), aber lassen sich folgendermaßen in Schleifen ansprechen:</a:t>
            </a:r>
          </a:p>
          <a:p>
            <a:pPr lvl="1"/>
            <a:r>
              <a:rPr lang="de-DE" dirty="0">
                <a:sym typeface="Wingdings" panose="05000000000000000000" pitchFamily="2" charset="2"/>
              </a:rPr>
              <a:t>über den Index mit 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.</a:t>
            </a:r>
            <a:r>
              <a:rPr lang="de-DE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iloc</a:t>
            </a:r>
            <a:r>
              <a:rPr lang="de-DE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[Index, Spalte]</a:t>
            </a:r>
            <a:br>
              <a:rPr lang="de-DE" dirty="0">
                <a:sym typeface="Wingdings" panose="05000000000000000000" pitchFamily="2" charset="2"/>
              </a:rPr>
            </a:br>
            <a:r>
              <a:rPr lang="de-DE" sz="1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for i in </a:t>
            </a:r>
            <a:r>
              <a:rPr lang="de-DE" sz="19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range</a:t>
            </a:r>
            <a:r>
              <a:rPr lang="de-DE" sz="1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19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len</a:t>
            </a:r>
            <a:r>
              <a:rPr lang="de-DE" sz="1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19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df</a:t>
            </a:r>
            <a:r>
              <a:rPr lang="de-DE" sz="1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)):  </a:t>
            </a:r>
            <a:br>
              <a:rPr lang="de-DE" sz="1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</a:br>
            <a:r>
              <a:rPr lang="de-DE" sz="1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  </a:t>
            </a:r>
            <a:r>
              <a:rPr lang="de-DE" sz="19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print</a:t>
            </a:r>
            <a:r>
              <a:rPr lang="de-DE" sz="1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19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df.iloc</a:t>
            </a:r>
            <a:r>
              <a:rPr lang="de-DE" sz="1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[i,0], </a:t>
            </a:r>
            <a:r>
              <a:rPr lang="de-DE" sz="19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df.iloc</a:t>
            </a:r>
            <a:r>
              <a:rPr lang="de-DE" sz="19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[i,1])</a:t>
            </a:r>
            <a:endParaRPr lang="de-DE" sz="14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lvl="1"/>
            <a:r>
              <a:rPr lang="de-DE" dirty="0">
                <a:sym typeface="Wingdings" panose="05000000000000000000" pitchFamily="2" charset="2"/>
              </a:rPr>
              <a:t>durch eine Spalte kann man über den Namen durchiterieren:</a:t>
            </a:r>
            <a:br>
              <a:rPr lang="de-DE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</a:b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for n in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df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["Name"]: print(n)</a:t>
            </a:r>
            <a:endParaRPr lang="de-DE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44935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DD8608-38E7-A167-BE18-A6E400F4A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Pandas Datenauswertung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A88888-A08E-AE21-5400-32DCC856C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196752"/>
            <a:ext cx="8748463" cy="2016224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5A9E767-76F9-268D-F5A3-1BE94D7E1EA2}"/>
              </a:ext>
            </a:extLst>
          </p:cNvPr>
          <p:cNvSpPr txBox="1"/>
          <p:nvPr/>
        </p:nvSpPr>
        <p:spPr>
          <a:xfrm>
            <a:off x="21248" y="3636672"/>
            <a:ext cx="9036495" cy="304698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1600" b="1" dirty="0" err="1">
                <a:latin typeface="Consolas" panose="020B0609020204030204" pitchFamily="49" charset="0"/>
              </a:rPr>
              <a:t>import</a:t>
            </a:r>
            <a:r>
              <a:rPr lang="de-DE" sz="1600" b="1" dirty="0">
                <a:latin typeface="Consolas" panose="020B0609020204030204" pitchFamily="49" charset="0"/>
              </a:rPr>
              <a:t> </a:t>
            </a:r>
            <a:r>
              <a:rPr lang="de-DE" sz="1600" b="1" dirty="0" err="1">
                <a:latin typeface="Consolas" panose="020B0609020204030204" pitchFamily="49" charset="0"/>
              </a:rPr>
              <a:t>pandas</a:t>
            </a:r>
            <a:r>
              <a:rPr lang="de-DE" sz="1600" b="1" dirty="0">
                <a:latin typeface="Consolas" panose="020B0609020204030204" pitchFamily="49" charset="0"/>
              </a:rPr>
              <a:t> </a:t>
            </a:r>
            <a:r>
              <a:rPr lang="de-DE" sz="1600" b="1" dirty="0" err="1">
                <a:latin typeface="Consolas" panose="020B0609020204030204" pitchFamily="49" charset="0"/>
              </a:rPr>
              <a:t>as</a:t>
            </a:r>
            <a:r>
              <a:rPr lang="de-DE" sz="1600" b="1" dirty="0">
                <a:latin typeface="Consolas" panose="020B0609020204030204" pitchFamily="49" charset="0"/>
              </a:rPr>
              <a:t> </a:t>
            </a:r>
            <a:r>
              <a:rPr lang="de-DE" sz="1600" b="1" dirty="0" err="1">
                <a:latin typeface="Consolas" panose="020B0609020204030204" pitchFamily="49" charset="0"/>
              </a:rPr>
              <a:t>pd</a:t>
            </a:r>
            <a:endParaRPr lang="de-DE" sz="1600" b="1" dirty="0">
              <a:latin typeface="Consolas" panose="020B0609020204030204" pitchFamily="49" charset="0"/>
            </a:endParaRPr>
          </a:p>
          <a:p>
            <a:r>
              <a:rPr lang="de-DE" sz="1600" b="1" dirty="0" err="1">
                <a:latin typeface="Consolas" panose="020B0609020204030204" pitchFamily="49" charset="0"/>
              </a:rPr>
              <a:t>data</a:t>
            </a:r>
            <a:r>
              <a:rPr lang="de-DE" sz="1600" b="1" dirty="0">
                <a:latin typeface="Consolas" panose="020B0609020204030204" pitchFamily="49" charset="0"/>
              </a:rPr>
              <a:t> = {</a:t>
            </a:r>
          </a:p>
          <a:p>
            <a:r>
              <a:rPr lang="de-DE" sz="1600" b="1" dirty="0">
                <a:latin typeface="Consolas" panose="020B0609020204030204" pitchFamily="49" charset="0"/>
              </a:rPr>
              <a:t>    "Name": ["Hans", "Berta", "Fritz", "Otto", "Anna", "Lena", "Max"],</a:t>
            </a:r>
          </a:p>
          <a:p>
            <a:r>
              <a:rPr lang="de-DE" sz="1600" b="1" dirty="0">
                <a:latin typeface="Consolas" panose="020B0609020204030204" pitchFamily="49" charset="0"/>
              </a:rPr>
              <a:t>    "Alter": [22, 33, 44, 17, 25, 36, 29],</a:t>
            </a:r>
          </a:p>
          <a:p>
            <a:r>
              <a:rPr lang="de-DE" sz="1600" b="1" dirty="0">
                <a:latin typeface="Consolas" panose="020B0609020204030204" pitchFamily="49" charset="0"/>
              </a:rPr>
              <a:t>    "Geschlecht": ["M", "W", "M", "M", "W", "W", "M"],</a:t>
            </a:r>
          </a:p>
          <a:p>
            <a:r>
              <a:rPr lang="de-DE" sz="1600" b="1" dirty="0">
                <a:latin typeface="Consolas" panose="020B0609020204030204" pitchFamily="49" charset="0"/>
              </a:rPr>
              <a:t>    "Einkommen": [50000, 62000, 75000, 40000, 52000, 68000, 58000]</a:t>
            </a:r>
          </a:p>
          <a:p>
            <a:r>
              <a:rPr lang="de-DE" sz="1600" b="1" dirty="0">
                <a:latin typeface="Consolas" panose="020B0609020204030204" pitchFamily="49" charset="0"/>
              </a:rPr>
              <a:t>}</a:t>
            </a:r>
          </a:p>
          <a:p>
            <a:r>
              <a:rPr lang="de-DE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df</a:t>
            </a:r>
            <a:r>
              <a:rPr lang="de-DE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= </a:t>
            </a:r>
            <a:r>
              <a:rPr lang="de-DE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pd.DataFrame</a:t>
            </a:r>
            <a:r>
              <a:rPr lang="de-DE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de-DE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data</a:t>
            </a:r>
            <a:r>
              <a:rPr lang="de-DE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) </a:t>
            </a:r>
            <a:r>
              <a:rPr lang="de-DE" sz="1600" b="1" dirty="0">
                <a:latin typeface="Consolas" panose="020B0609020204030204" pitchFamily="49" charset="0"/>
              </a:rPr>
              <a:t># Dataframe aus </a:t>
            </a:r>
            <a:r>
              <a:rPr lang="de-DE" sz="1600" b="1" dirty="0" err="1">
                <a:latin typeface="Consolas" panose="020B0609020204030204" pitchFamily="49" charset="0"/>
              </a:rPr>
              <a:t>Dict</a:t>
            </a:r>
            <a:r>
              <a:rPr lang="de-DE" sz="1600" b="1" dirty="0">
                <a:latin typeface="Consolas" panose="020B0609020204030204" pitchFamily="49" charset="0"/>
              </a:rPr>
              <a:t> erzeugen</a:t>
            </a:r>
          </a:p>
          <a:p>
            <a:r>
              <a:rPr lang="de-DE" sz="1600" b="1" dirty="0" err="1">
                <a:latin typeface="Consolas" panose="020B0609020204030204" pitchFamily="49" charset="0"/>
              </a:rPr>
              <a:t>print</a:t>
            </a:r>
            <a:r>
              <a:rPr lang="de-DE" sz="1600" b="1" dirty="0">
                <a:latin typeface="Consolas" panose="020B0609020204030204" pitchFamily="49" charset="0"/>
              </a:rPr>
              <a:t>(</a:t>
            </a:r>
            <a:r>
              <a:rPr lang="de-DE" sz="1600" b="1" dirty="0" err="1">
                <a:latin typeface="Consolas" panose="020B0609020204030204" pitchFamily="49" charset="0"/>
              </a:rPr>
              <a:t>df</a:t>
            </a:r>
            <a:r>
              <a:rPr lang="de-DE" sz="1600" b="1" dirty="0">
                <a:latin typeface="Consolas" panose="020B0609020204030204" pitchFamily="49" charset="0"/>
              </a:rPr>
              <a:t>)</a:t>
            </a:r>
          </a:p>
          <a:p>
            <a:r>
              <a:rPr lang="de-DE" sz="1600" b="1" dirty="0" err="1">
                <a:latin typeface="Consolas" panose="020B0609020204030204" pitchFamily="49" charset="0"/>
              </a:rPr>
              <a:t>print</a:t>
            </a:r>
            <a:r>
              <a:rPr lang="de-DE" sz="1600" b="1" dirty="0">
                <a:latin typeface="Consolas" panose="020B0609020204030204" pitchFamily="49" charset="0"/>
              </a:rPr>
              <a:t>(</a:t>
            </a:r>
            <a:r>
              <a:rPr lang="de-DE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df.describe</a:t>
            </a:r>
            <a:r>
              <a:rPr lang="de-DE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()</a:t>
            </a:r>
            <a:r>
              <a:rPr lang="de-DE" sz="1600" b="1" dirty="0">
                <a:latin typeface="Consolas" panose="020B0609020204030204" pitchFamily="49" charset="0"/>
              </a:rPr>
              <a:t>)    # Auswertung aller Numerischen Spalten</a:t>
            </a:r>
          </a:p>
          <a:p>
            <a:r>
              <a:rPr lang="de-DE" sz="1600" b="1" dirty="0">
                <a:latin typeface="Consolas" panose="020B0609020204030204" pitchFamily="49" charset="0"/>
              </a:rPr>
              <a:t># Pivot-Tabelle über Einkommen und Geschlecht:</a:t>
            </a:r>
          </a:p>
          <a:p>
            <a:r>
              <a:rPr lang="de-DE" sz="1600" b="1" dirty="0" err="1">
                <a:latin typeface="Consolas" panose="020B0609020204030204" pitchFamily="49" charset="0"/>
              </a:rPr>
              <a:t>print</a:t>
            </a:r>
            <a:r>
              <a:rPr lang="de-DE" sz="1600" b="1" dirty="0">
                <a:latin typeface="Consolas" panose="020B0609020204030204" pitchFamily="49" charset="0"/>
              </a:rPr>
              <a:t>(</a:t>
            </a:r>
            <a:r>
              <a:rPr lang="de-DE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df.pivot_table</a:t>
            </a:r>
            <a:r>
              <a:rPr lang="de-DE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de-DE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values</a:t>
            </a:r>
            <a:r>
              <a:rPr lang="de-DE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='Einkommen', </a:t>
            </a:r>
            <a:r>
              <a:rPr lang="de-DE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index</a:t>
            </a:r>
            <a:r>
              <a:rPr lang="de-DE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='Geschlecht',  </a:t>
            </a:r>
            <a:r>
              <a:rPr lang="de-DE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aggfunc</a:t>
            </a:r>
            <a:r>
              <a:rPr lang="de-DE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='</a:t>
            </a:r>
            <a:r>
              <a:rPr lang="de-DE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mean</a:t>
            </a:r>
            <a:r>
              <a:rPr lang="de-DE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')</a:t>
            </a:r>
            <a:r>
              <a:rPr lang="de-DE" sz="1600" b="1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696069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0207F4D-5704-4C93-88B3-14D9DF7AB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512" y="2636912"/>
            <a:ext cx="8784976" cy="1470025"/>
          </a:xfrm>
        </p:spPr>
        <p:txBody>
          <a:bodyPr>
            <a:normAutofit/>
          </a:bodyPr>
          <a:lstStyle/>
          <a:p>
            <a:r>
              <a:rPr lang="de-DE" dirty="0"/>
              <a:t>Mit dem Modul </a:t>
            </a:r>
            <a:r>
              <a:rPr lang="de-DE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requests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in Python Web-APIs abfragen</a:t>
            </a:r>
          </a:p>
        </p:txBody>
      </p:sp>
    </p:spTree>
    <p:extLst>
      <p:ext uri="{BB962C8B-B14F-4D97-AF65-F5344CB8AC3E}">
        <p14:creationId xmlns:p14="http://schemas.microsoft.com/office/powerpoint/2010/main" val="38700655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520DAC-A4D6-4AD6-597C-C29543816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44624"/>
            <a:ext cx="6480720" cy="1143000"/>
          </a:xfrm>
        </p:spPr>
        <p:txBody>
          <a:bodyPr/>
          <a:lstStyle/>
          <a:p>
            <a:r>
              <a:rPr lang="de-DE" dirty="0"/>
              <a:t>REST-APIs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0E6783-1621-D874-2462-A8A9FBC8A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0258"/>
            <a:ext cx="9144000" cy="3096344"/>
          </a:xfrm>
        </p:spPr>
        <p:txBody>
          <a:bodyPr>
            <a:normAutofit fontScale="92500"/>
          </a:bodyPr>
          <a:lstStyle/>
          <a:p>
            <a:pPr>
              <a:spcBef>
                <a:spcPts val="0"/>
              </a:spcBef>
            </a:pPr>
            <a:r>
              <a:rPr lang="de-DE" sz="1600" dirty="0"/>
              <a:t>REST-APIs (auch verallgemeinernd Web-APIs genannt) nutzen das http- oder https-Protokoll, um Server-Applikationen über das Web abzufragen.</a:t>
            </a:r>
          </a:p>
          <a:p>
            <a:pPr>
              <a:spcBef>
                <a:spcPts val="0"/>
              </a:spcBef>
            </a:pPr>
            <a:r>
              <a:rPr lang="de-DE" sz="1600" dirty="0"/>
              <a:t>Dabei wird die Abfrage vom Client aus mit einer </a:t>
            </a:r>
            <a:r>
              <a:rPr lang="de-DE" sz="1600" b="1" dirty="0" err="1"/>
              <a:t>get</a:t>
            </a:r>
            <a:r>
              <a:rPr lang="de-DE" sz="1600" b="1" dirty="0"/>
              <a:t>-URL</a:t>
            </a:r>
            <a:r>
              <a:rPr lang="de-DE" sz="1600" dirty="0"/>
              <a:t>  (ähnlich wie es auch ein Browser macht) gestartet und der Server antwortet üblicherweise mit einem JSON-String (s.u.)</a:t>
            </a:r>
          </a:p>
          <a:p>
            <a:pPr>
              <a:spcBef>
                <a:spcPts val="0"/>
              </a:spcBef>
            </a:pPr>
            <a:r>
              <a:rPr lang="de-DE" sz="1600" dirty="0"/>
              <a:t>REST steht für "</a:t>
            </a:r>
            <a:r>
              <a:rPr lang="de-DE" sz="1600" b="1" dirty="0" err="1"/>
              <a:t>Representational</a:t>
            </a:r>
            <a:r>
              <a:rPr lang="de-DE" sz="1600" b="1" dirty="0"/>
              <a:t> State Transfer</a:t>
            </a:r>
            <a:r>
              <a:rPr lang="de-DE" sz="1600" dirty="0"/>
              <a:t>" und beschreibt gewisse Eigenschaften der API, die besonders sinnvoll für Web-Abfragen sind, z.B.</a:t>
            </a:r>
          </a:p>
          <a:p>
            <a:pPr lvl="1">
              <a:spcBef>
                <a:spcPts val="0"/>
              </a:spcBef>
            </a:pPr>
            <a:r>
              <a:rPr lang="de-DE" sz="1400" b="1" dirty="0" err="1"/>
              <a:t>Ressources</a:t>
            </a:r>
            <a:r>
              <a:rPr lang="de-DE" sz="1400" dirty="0"/>
              <a:t> </a:t>
            </a:r>
            <a:r>
              <a:rPr lang="de-DE" sz="1400" dirty="0">
                <a:sym typeface="Wingdings" panose="05000000000000000000" pitchFamily="2" charset="2"/>
              </a:rPr>
              <a:t> Informationen werden als Ressourcen beschrieben / repräsentiert. Jede Ressource kann mit einer eindeutigen URL abgefragt werden.</a:t>
            </a:r>
            <a:endParaRPr lang="de-DE" sz="1400" dirty="0"/>
          </a:p>
          <a:p>
            <a:pPr lvl="1">
              <a:spcBef>
                <a:spcPts val="0"/>
              </a:spcBef>
            </a:pPr>
            <a:r>
              <a:rPr lang="de-DE" sz="1400" b="1" dirty="0" err="1"/>
              <a:t>Stateless</a:t>
            </a:r>
            <a:r>
              <a:rPr lang="de-DE" sz="1400" dirty="0"/>
              <a:t> (Zustandslos) </a:t>
            </a:r>
            <a:r>
              <a:rPr lang="de-DE" sz="1400" dirty="0">
                <a:sym typeface="Wingdings" panose="05000000000000000000" pitchFamily="2" charset="2"/>
              </a:rPr>
              <a:t> Eine Abfrage basiert niemals auf einer anderen Abfrage, die vorher gesendet wurden, auch die Authentifizierung wird in jeder einzelnen Abfrage durchgeführt.</a:t>
            </a:r>
          </a:p>
          <a:p>
            <a:pPr lvl="1">
              <a:spcBef>
                <a:spcPts val="0"/>
              </a:spcBef>
            </a:pPr>
            <a:r>
              <a:rPr lang="de-DE" sz="1400" dirty="0">
                <a:sym typeface="Wingdings" panose="05000000000000000000" pitchFamily="2" charset="2"/>
              </a:rPr>
              <a:t>Die API unterstützt </a:t>
            </a:r>
            <a:r>
              <a:rPr lang="de-DE" sz="1400" b="1" dirty="0">
                <a:sym typeface="Wingdings" panose="05000000000000000000" pitchFamily="2" charset="2"/>
              </a:rPr>
              <a:t>Caching</a:t>
            </a:r>
            <a:r>
              <a:rPr lang="de-DE" sz="1400" dirty="0">
                <a:sym typeface="Wingdings" panose="05000000000000000000" pitchFamily="2" charset="2"/>
              </a:rPr>
              <a:t>, um den Server zu entlasten. Eine Anfrage, die nicht bearbeitet werden muss, ist schnell!</a:t>
            </a:r>
          </a:p>
          <a:p>
            <a:pPr lvl="1">
              <a:spcBef>
                <a:spcPts val="0"/>
              </a:spcBef>
            </a:pPr>
            <a:r>
              <a:rPr lang="de-DE" sz="1400" dirty="0">
                <a:sym typeface="Wingdings" panose="05000000000000000000" pitchFamily="2" charset="2"/>
              </a:rPr>
              <a:t>Auch Parameter bzw. Argumente werden mit der URL mitgesendet, in folgendem Beispiel eine </a:t>
            </a:r>
            <a:r>
              <a:rPr lang="de-DE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app_id</a:t>
            </a:r>
            <a:r>
              <a:rPr lang="de-DE" sz="1400" dirty="0">
                <a:sym typeface="Wingdings" panose="05000000000000000000" pitchFamily="2" charset="2"/>
              </a:rPr>
              <a:t> zur Authentifizierung: </a:t>
            </a:r>
            <a:r>
              <a:rPr lang="de-DE" sz="1400" b="1" dirty="0">
                <a:solidFill>
                  <a:srgbClr val="0070C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https://openexchangerates.org/api/latest.json?</a:t>
            </a:r>
            <a:r>
              <a:rPr lang="de-DE" sz="1400" b="1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app_id=d4b5e7b19f5a4c9482ede512232da353</a:t>
            </a:r>
            <a:endParaRPr lang="de-DE" sz="1400" dirty="0">
              <a:solidFill>
                <a:srgbClr val="FF0000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90C2A1C-8A79-6377-AF5B-2B1151E897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396"/>
          <a:stretch/>
        </p:blipFill>
        <p:spPr>
          <a:xfrm>
            <a:off x="2034903" y="4437112"/>
            <a:ext cx="4913361" cy="23762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5570181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313C61-5E6C-DCBC-2134-CDD83836B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6143372" cy="1143000"/>
          </a:xfrm>
        </p:spPr>
        <p:txBody>
          <a:bodyPr/>
          <a:lstStyle/>
          <a:p>
            <a:r>
              <a:rPr lang="de-DE" dirty="0"/>
              <a:t>Überblick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requests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9ADAD3-356B-3475-A4B1-7A864777C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0768"/>
            <a:ext cx="9144000" cy="4032448"/>
          </a:xfrm>
        </p:spPr>
        <p:txBody>
          <a:bodyPr>
            <a:normAutofit fontScale="55000" lnSpcReduction="20000"/>
          </a:bodyPr>
          <a:lstStyle/>
          <a:p>
            <a:r>
              <a:rPr lang="de-DE" dirty="0"/>
              <a:t>WEB-APIs (auch </a:t>
            </a:r>
            <a:r>
              <a:rPr lang="de-DE" b="1" dirty="0"/>
              <a:t>REST-APIs</a:t>
            </a:r>
            <a:r>
              <a:rPr lang="de-DE" dirty="0"/>
              <a:t>) genannt, kann man mit Hilfe des Moduls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requests</a:t>
            </a:r>
            <a:r>
              <a:rPr lang="de-DE" dirty="0"/>
              <a:t> in Python abfragen. Offizielle Website: </a:t>
            </a:r>
            <a:r>
              <a:rPr lang="de-DE" dirty="0">
                <a:hlinkClick r:id="rId2"/>
              </a:rPr>
              <a:t>https://requests.readthedocs.io/en/latest/</a:t>
            </a:r>
            <a:r>
              <a:rPr lang="de-DE" dirty="0"/>
              <a:t> </a:t>
            </a:r>
          </a:p>
          <a:p>
            <a:r>
              <a:rPr lang="de-DE" dirty="0"/>
              <a:t>Das Modul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requests</a:t>
            </a:r>
            <a:r>
              <a:rPr lang="de-DE" dirty="0"/>
              <a:t> gehört nicht zum Standardumfang von Python und muss ggf. mit 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pip3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requests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installiert werden.</a:t>
            </a:r>
          </a:p>
          <a:p>
            <a:r>
              <a:rPr lang="de-DE" dirty="0"/>
              <a:t>Viele der APIs sind kostenlos, allerdings benötigt man bei einigen einen sogenannten API-Key, den man bei der Abfrage mit übermitteln muss. API-Keys können natürlich auch kostenpflichtig sein. </a:t>
            </a:r>
          </a:p>
          <a:p>
            <a:r>
              <a:rPr lang="de-DE" dirty="0"/>
              <a:t>Mit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requests.get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de-DE" dirty="0"/>
              <a:t>fragt man die API ab. Das Argument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de-DE" dirty="0"/>
              <a:t> muss ein String sein!</a:t>
            </a:r>
          </a:p>
          <a:p>
            <a:r>
              <a:rPr lang="de-DE" dirty="0"/>
              <a:t>Mit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ergebnis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r.json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dirty="0"/>
              <a:t>wandelt man das Ergebnis der Abfrage (im JSON-Format) in eine Python-Variable (Dictionary, welches weitere </a:t>
            </a:r>
            <a:r>
              <a:rPr lang="de-DE" dirty="0" err="1"/>
              <a:t>Dictionaries</a:t>
            </a:r>
            <a:r>
              <a:rPr lang="de-DE" dirty="0"/>
              <a:t> oder Listen enthält) um.</a:t>
            </a:r>
          </a:p>
          <a:p>
            <a:r>
              <a:rPr lang="de-DE" dirty="0"/>
              <a:t>Tipp: Mit </a:t>
            </a:r>
            <a:r>
              <a:rPr lang="de-DE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pprint</a:t>
            </a:r>
            <a:r>
              <a:rPr lang="de-DE" dirty="0"/>
              <a:t> (vorher mit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pprint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pprint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importieren) kann man </a:t>
            </a:r>
            <a:r>
              <a:rPr lang="de-DE" dirty="0" err="1"/>
              <a:t>Dictionaries</a:t>
            </a:r>
            <a:r>
              <a:rPr lang="de-DE" dirty="0"/>
              <a:t> gut lesbar ausgeben lassen. Das ist aber nicht bei allen APIs notwendig.</a:t>
            </a:r>
          </a:p>
          <a:p>
            <a:r>
              <a:rPr lang="de-DE" dirty="0"/>
              <a:t>Zugriff auf die konkret ausgelesenen Daten erhält man dann wie bei Dictionary / Listen üblich, im nachfolgenden Beispiel kann man den ersten Produktnamen mit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(daten["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"][0]["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"]) </a:t>
            </a:r>
            <a:r>
              <a:rPr lang="de-DE" dirty="0"/>
              <a:t>ausgeben.</a:t>
            </a:r>
          </a:p>
          <a:p>
            <a:pPr marL="0" indent="0">
              <a:buNone/>
            </a:pPr>
            <a:r>
              <a:rPr lang="de-DE" sz="2900" b="1" dirty="0"/>
              <a:t>Beispielcode (Dokumentation zu dieser Demo-API unter </a:t>
            </a:r>
            <a:r>
              <a:rPr lang="de-DE" sz="2900" b="1" dirty="0">
                <a:hlinkClick r:id="rId3"/>
              </a:rPr>
              <a:t>https://www.predic8.de/rest-beispiel.htm</a:t>
            </a:r>
            <a:r>
              <a:rPr lang="de-DE" sz="2900" b="1" dirty="0"/>
              <a:t>):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0ACF047-A62E-CFA3-7156-E17F5AE18E7F}"/>
              </a:ext>
            </a:extLst>
          </p:cNvPr>
          <p:cNvSpPr txBox="1"/>
          <p:nvPr/>
        </p:nvSpPr>
        <p:spPr>
          <a:xfrm>
            <a:off x="168180" y="5373216"/>
            <a:ext cx="8868316" cy="120032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DE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requests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r = </a:t>
            </a:r>
            <a:r>
              <a:rPr lang="de-DE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requests.get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("https://api.predic8.de/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/")</a:t>
            </a:r>
            <a:r>
              <a:rPr lang="de-DE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#Abruf</a:t>
            </a:r>
          </a:p>
          <a:p>
            <a:pPr marL="0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daten = </a:t>
            </a:r>
            <a:r>
              <a:rPr lang="de-DE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r.json</a:t>
            </a:r>
            <a:r>
              <a:rPr lang="de-DE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Daten in Dictionary wandeln</a:t>
            </a:r>
          </a:p>
          <a:p>
            <a:pPr marL="0" indent="0">
              <a:buNone/>
            </a:pPr>
            <a:r>
              <a:rPr lang="de-DE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(daten)		</a:t>
            </a:r>
            <a:r>
              <a:rPr lang="de-DE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Alternative: </a:t>
            </a:r>
            <a:r>
              <a:rPr lang="de-DE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pprint</a:t>
            </a:r>
            <a:r>
              <a:rPr lang="de-DE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(daten)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pic>
        <p:nvPicPr>
          <p:cNvPr id="1026" name="Picture 2" descr="Requests logo">
            <a:extLst>
              <a:ext uri="{FF2B5EF4-FFF2-40B4-BE49-F238E27FC236}">
                <a16:creationId xmlns:a16="http://schemas.microsoft.com/office/drawing/2014/main" id="{9F7F33C5-A68C-A729-9EE9-E0A3055A8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704" y="1"/>
            <a:ext cx="1045612" cy="13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1819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8BFEDD-175D-4FE6-8C4C-A02458E0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Web-API-Abfrage Beispiel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19AB43-F6BA-4806-8091-DDED253B4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268760"/>
            <a:ext cx="9145015" cy="2664296"/>
          </a:xfrm>
          <a:ln>
            <a:noFill/>
          </a:ln>
        </p:spPr>
        <p:txBody>
          <a:bodyPr>
            <a:normAutofit fontScale="77500" lnSpcReduction="20000"/>
          </a:bodyPr>
          <a:lstStyle/>
          <a:p>
            <a:r>
              <a:rPr lang="de-DE" dirty="0"/>
              <a:t>Folgendes Beispiel zeigt einer der möglichen  Abfrage der REST-API von </a:t>
            </a:r>
            <a:r>
              <a:rPr lang="de-DE" dirty="0" err="1"/>
              <a:t>Github</a:t>
            </a:r>
            <a:r>
              <a:rPr lang="de-DE" dirty="0"/>
              <a:t>.</a:t>
            </a:r>
          </a:p>
          <a:p>
            <a:r>
              <a:rPr lang="de-DE" dirty="0"/>
              <a:t>Die URL, die abgefragt wird, ist: </a:t>
            </a:r>
            <a:br>
              <a:rPr lang="de-DE" dirty="0"/>
            </a:br>
            <a:r>
              <a:rPr lang="de-DE" b="1" dirty="0">
                <a:latin typeface="Consolas" panose="020B0609020204030204" pitchFamily="49" charset="0"/>
              </a:rPr>
              <a:t>https://api.github.com/users/&lt;username&gt;</a:t>
            </a:r>
            <a:br>
              <a:rPr lang="de-DE" b="1" dirty="0">
                <a:latin typeface="Consolas" panose="020B0609020204030204" pitchFamily="49" charset="0"/>
              </a:rPr>
            </a:br>
            <a:r>
              <a:rPr lang="de-DE" dirty="0"/>
              <a:t>(Der Username muss also angegeben werden)</a:t>
            </a:r>
          </a:p>
          <a:p>
            <a:r>
              <a:rPr lang="de-DE" dirty="0"/>
              <a:t>Weitere Infos zu dieser API unter </a:t>
            </a:r>
            <a:r>
              <a:rPr lang="de-DE" dirty="0">
                <a:hlinkClick r:id="rId2"/>
              </a:rPr>
              <a:t>https://docs.github.com/en/rest</a:t>
            </a:r>
            <a:r>
              <a:rPr lang="de-DE" dirty="0"/>
              <a:t> </a:t>
            </a:r>
            <a:br>
              <a:rPr lang="de-DE" dirty="0"/>
            </a:br>
            <a:endParaRPr lang="de-DE" dirty="0"/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CB1DEC3-D943-0E99-D7EA-63437B9AC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17032"/>
            <a:ext cx="9144000" cy="26774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0271967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8BFEDD-175D-4FE6-8C4C-A02458E0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Web-API-Abfrage Beispiel 2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19AB43-F6BA-4806-8091-DDED253B4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363335"/>
            <a:ext cx="8579296" cy="3312368"/>
          </a:xfrm>
          <a:ln>
            <a:noFill/>
          </a:ln>
        </p:spPr>
        <p:txBody>
          <a:bodyPr>
            <a:normAutofit fontScale="55000" lnSpcReduction="20000"/>
          </a:bodyPr>
          <a:lstStyle/>
          <a:p>
            <a:r>
              <a:rPr lang="de-DE" dirty="0"/>
              <a:t>Folgendes Beispiel zeigt die Abfrage der API des Stromanbieters AWATTAR– auch dort ist kein API-Key notwendig (Stand 2.2025)</a:t>
            </a:r>
          </a:p>
          <a:p>
            <a:r>
              <a:rPr lang="de-DE" dirty="0"/>
              <a:t>Das Skript zeigt für die nächsten 24 Stunden den zu erwartenden Nettostrompreis an. Die Uhrzeiten/Datumswerte werden dabei als Unix-</a:t>
            </a:r>
            <a:r>
              <a:rPr lang="de-DE" dirty="0" err="1"/>
              <a:t>Epoch</a:t>
            </a:r>
            <a:r>
              <a:rPr lang="de-DE" dirty="0"/>
              <a:t>-Millisekunden-Werte übertragen (Anzahl der Millisekunden seit 01.01.1970 00:00:00)</a:t>
            </a:r>
          </a:p>
          <a:p>
            <a:r>
              <a:rPr lang="de-DE" dirty="0"/>
              <a:t>Die API liefert uns eine Liste von </a:t>
            </a:r>
            <a:r>
              <a:rPr lang="de-DE" dirty="0" err="1"/>
              <a:t>Dictionaries</a:t>
            </a:r>
            <a:r>
              <a:rPr lang="de-DE" dirty="0"/>
              <a:t> mit Zeit und Preis</a:t>
            </a:r>
          </a:p>
          <a:p>
            <a:r>
              <a:rPr lang="de-DE" dirty="0"/>
              <a:t>In einer Schleife durchlaufen wir die einzelnen </a:t>
            </a:r>
            <a:r>
              <a:rPr lang="de-DE" dirty="0" err="1"/>
              <a:t>Dictionaries</a:t>
            </a:r>
            <a:r>
              <a:rPr lang="de-DE" dirty="0"/>
              <a:t> unter daten["</a:t>
            </a:r>
            <a:r>
              <a:rPr lang="de-DE" dirty="0" err="1"/>
              <a:t>data</a:t>
            </a:r>
            <a:r>
              <a:rPr lang="de-DE" dirty="0"/>
              <a:t>"]</a:t>
            </a:r>
          </a:p>
          <a:p>
            <a:r>
              <a:rPr lang="de-DE" dirty="0"/>
              <a:t>Dabei wird in jedem Datensatz der Key-Value "</a:t>
            </a:r>
            <a:r>
              <a:rPr lang="de-DE" b="1" dirty="0" err="1"/>
              <a:t>start_timestamp</a:t>
            </a:r>
            <a:r>
              <a:rPr lang="de-DE" dirty="0"/>
              <a:t>" (im </a:t>
            </a:r>
            <a:r>
              <a:rPr lang="de-DE" dirty="0" err="1"/>
              <a:t>Epoch</a:t>
            </a:r>
            <a:r>
              <a:rPr lang="de-DE" dirty="0"/>
              <a:t>-Format) aus der Dictionary-Struktur ausgelesen und in ein </a:t>
            </a:r>
            <a:r>
              <a:rPr lang="de-DE" sz="3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de-DE" dirty="0"/>
              <a:t>-Objekt gewandelt. </a:t>
            </a:r>
          </a:p>
          <a:p>
            <a:r>
              <a:rPr lang="de-DE" dirty="0"/>
              <a:t>Der Key-Value "</a:t>
            </a:r>
            <a:r>
              <a:rPr lang="de-DE" b="1" dirty="0" err="1"/>
              <a:t>marketprice</a:t>
            </a:r>
            <a:r>
              <a:rPr lang="de-DE" dirty="0"/>
              <a:t>" wird durch 10 dividiert, um den Preis in ct/kWh zu bekommen (</a:t>
            </a:r>
            <a:r>
              <a:rPr lang="de-DE" dirty="0" err="1"/>
              <a:t>marketprice</a:t>
            </a:r>
            <a:r>
              <a:rPr lang="de-DE" dirty="0"/>
              <a:t> liefert den Preis in €/MWh)</a:t>
            </a:r>
          </a:p>
          <a:p>
            <a:r>
              <a:rPr lang="de-DE" dirty="0"/>
              <a:t>Mehr Info zur API: </a:t>
            </a:r>
            <a:r>
              <a:rPr lang="de-DE" dirty="0">
                <a:hlinkClick r:id="rId2"/>
              </a:rPr>
              <a:t>https://www.awattar.de/services/api</a:t>
            </a:r>
            <a:r>
              <a:rPr lang="de-DE" dirty="0"/>
              <a:t>  </a:t>
            </a:r>
            <a:br>
              <a:rPr lang="de-DE" dirty="0"/>
            </a:br>
            <a:endParaRPr lang="de-DE" dirty="0"/>
          </a:p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1EB850D-1157-F764-02FB-5AC672897D6C}"/>
              </a:ext>
            </a:extLst>
          </p:cNvPr>
          <p:cNvSpPr txBox="1"/>
          <p:nvPr/>
        </p:nvSpPr>
        <p:spPr>
          <a:xfrm>
            <a:off x="457200" y="4621399"/>
            <a:ext cx="8229600" cy="203132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requests</a:t>
            </a:r>
            <a:endParaRPr lang="de-DE" sz="105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Für die Umwandlung in </a:t>
            </a:r>
            <a:r>
              <a:rPr lang="de-DE" sz="105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-Objekte</a:t>
            </a:r>
          </a:p>
          <a:p>
            <a:pPr marL="0" indent="0">
              <a:buNone/>
            </a:pPr>
            <a:endParaRPr lang="de-DE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="https://api.awattar.de/v1/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marketdata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buNone/>
            </a:pPr>
            <a:endParaRPr lang="de-DE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r = 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requests.get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daten =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r.json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de-DE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daten["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"]:   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Schleife durch alle </a:t>
            </a:r>
            <a:r>
              <a:rPr lang="de-DE" sz="105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Dictionaries</a:t>
            </a:r>
            <a:endParaRPr lang="de-DE" sz="105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zeit =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datetime.fromtimestamp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start_timestamp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"]/1000)   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Umrechnung </a:t>
            </a:r>
            <a:r>
              <a:rPr lang="de-DE" sz="105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epoch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de-DE" sz="105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datetime</a:t>
            </a:r>
            <a:endParaRPr lang="de-DE" sz="105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preis =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round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marketprice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"]/10,2)	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Preis im ct/kWh umrechnen und runden</a:t>
            </a:r>
          </a:p>
          <a:p>
            <a:pPr marL="0" indent="0">
              <a:buNone/>
            </a:pP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(zeit, preis)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198197146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8BFEDD-175D-4FE6-8C4C-A02458E0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Web-API-Abfrage Beispiel 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19AB43-F6BA-4806-8091-DDED253B4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363335"/>
            <a:ext cx="5040560" cy="3312368"/>
          </a:xfrm>
          <a:ln>
            <a:noFill/>
          </a:ln>
        </p:spPr>
        <p:txBody>
          <a:bodyPr>
            <a:normAutofit lnSpcReduction="10000"/>
          </a:bodyPr>
          <a:lstStyle/>
          <a:p>
            <a:r>
              <a:rPr lang="de-DE" sz="2400" dirty="0"/>
              <a:t>Coindesk.com liefert den aktuellen Bitcoin-Kurs per Web-API unter</a:t>
            </a:r>
            <a:br>
              <a:rPr lang="de-DE" sz="2400" dirty="0"/>
            </a:br>
            <a:r>
              <a:rPr lang="de-DE" sz="1700" dirty="0">
                <a:hlinkClick r:id="rId2"/>
              </a:rPr>
              <a:t>https://api.coindesk.com/v1/bpi/currentprice.json</a:t>
            </a:r>
            <a:r>
              <a:rPr lang="de-DE" sz="1700" dirty="0"/>
              <a:t> </a:t>
            </a:r>
          </a:p>
          <a:p>
            <a:r>
              <a:rPr lang="de-DE" sz="2400" dirty="0"/>
              <a:t>Auch diese API kommt ohne API-Key aus, weitere wesentlich umfangreichere Finanz-APIs (kostenlos, aber mit Key) finden Sie unter </a:t>
            </a:r>
            <a:r>
              <a:rPr lang="de-DE" sz="1900" dirty="0">
                <a:hlinkClick r:id="rId3"/>
              </a:rPr>
              <a:t>https://rapidapi.com/collection/finance-apis</a:t>
            </a:r>
            <a:r>
              <a:rPr lang="de-DE" sz="1900" dirty="0"/>
              <a:t> </a:t>
            </a:r>
            <a:br>
              <a:rPr lang="de-DE" sz="2400" dirty="0"/>
            </a:br>
            <a:endParaRPr lang="de-DE" sz="2400" dirty="0"/>
          </a:p>
          <a:p>
            <a:endParaRPr lang="de-DE" sz="24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1EB850D-1157-F764-02FB-5AC672897D6C}"/>
              </a:ext>
            </a:extLst>
          </p:cNvPr>
          <p:cNvSpPr txBox="1"/>
          <p:nvPr/>
        </p:nvSpPr>
        <p:spPr>
          <a:xfrm>
            <a:off x="755576" y="4515528"/>
            <a:ext cx="7437492" cy="230832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DE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requests</a:t>
            </a:r>
            <a:endParaRPr lang="de-DE" sz="16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de-DE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="https://api.coindesk.com/v1/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bpi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currentprice.json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buNone/>
            </a:pPr>
            <a:endParaRPr lang="de-DE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r=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requests.get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daten = </a:t>
            </a:r>
            <a:r>
              <a:rPr lang="de-DE" sz="16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r.json</a:t>
            </a:r>
            <a:r>
              <a:rPr lang="de-DE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de-DE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("BTC rate 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:",daten["time"]["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updated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"], end=": ")</a:t>
            </a:r>
          </a:p>
          <a:p>
            <a:pPr marL="0" indent="0">
              <a:buNone/>
            </a:pP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(daten["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bpi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"]["EUR"]["rate"],"€")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CAA6878-AE26-B44D-2D48-B28DF2491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3839" y="1268759"/>
            <a:ext cx="3138601" cy="32167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112625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8BFEDD-175D-4FE6-8C4C-A02458E0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Web-API-Abfrage Beispiel 4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19AB43-F6BA-4806-8091-DDED253B4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263" y="1268760"/>
            <a:ext cx="8579296" cy="2664296"/>
          </a:xfrm>
          <a:ln>
            <a:noFill/>
          </a:ln>
        </p:spPr>
        <p:txBody>
          <a:bodyPr>
            <a:normAutofit fontScale="62500" lnSpcReduction="20000"/>
          </a:bodyPr>
          <a:lstStyle/>
          <a:p>
            <a:r>
              <a:rPr lang="de-DE" dirty="0"/>
              <a:t>Folgendes Beispiel zeigt die Abfrage der API des Deutschen Wetterdienstes (DWD) – es ist dort kein API-Key notwendig (Stand 3.2024)</a:t>
            </a:r>
          </a:p>
          <a:p>
            <a:r>
              <a:rPr lang="de-DE" dirty="0"/>
              <a:t>Das Skript zeigt die heutige maximale Temperatur für die DWD-Station 10513 </a:t>
            </a:r>
            <a:br>
              <a:rPr lang="de-DE" dirty="0"/>
            </a:br>
            <a:r>
              <a:rPr lang="de-DE" dirty="0"/>
              <a:t>(Flughafen Köln-Bonn / EDDK)</a:t>
            </a:r>
          </a:p>
          <a:p>
            <a:r>
              <a:rPr lang="de-DE" dirty="0"/>
              <a:t>Dabei wird der Key-Value "</a:t>
            </a:r>
            <a:r>
              <a:rPr lang="de-DE" dirty="0" err="1"/>
              <a:t>temperatureMax</a:t>
            </a:r>
            <a:r>
              <a:rPr lang="de-DE" dirty="0"/>
              <a:t>" aus der Dictionary-Struktur ausgelesen (muss durch 10 geteilt werden, weil die API nur </a:t>
            </a:r>
            <a:r>
              <a:rPr lang="de-DE" dirty="0" err="1"/>
              <a:t>int</a:t>
            </a:r>
            <a:r>
              <a:rPr lang="de-DE" dirty="0"/>
              <a:t>-Zahlen liefert)</a:t>
            </a:r>
          </a:p>
          <a:p>
            <a:r>
              <a:rPr lang="de-DE" dirty="0"/>
              <a:t>Mehr Info zur DWD-API: </a:t>
            </a:r>
            <a:r>
              <a:rPr lang="de-DE" dirty="0">
                <a:hlinkClick r:id="rId2"/>
              </a:rPr>
              <a:t>https://dwd.api.bund.dev/</a:t>
            </a:r>
            <a:r>
              <a:rPr lang="de-DE" dirty="0"/>
              <a:t>, eine JSON-Liste der REST-APIs des Bundes unter </a:t>
            </a:r>
            <a:r>
              <a:rPr lang="de-DE" dirty="0">
                <a:hlinkClick r:id="rId3"/>
              </a:rPr>
              <a:t>https://api.bund.dev/</a:t>
            </a:r>
            <a:r>
              <a:rPr lang="de-DE" dirty="0"/>
              <a:t> </a:t>
            </a:r>
            <a:br>
              <a:rPr lang="de-DE" dirty="0"/>
            </a:br>
            <a:endParaRPr lang="de-DE" dirty="0"/>
          </a:p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1EB850D-1157-F764-02FB-5AC672897D6C}"/>
              </a:ext>
            </a:extLst>
          </p:cNvPr>
          <p:cNvSpPr txBox="1"/>
          <p:nvPr/>
        </p:nvSpPr>
        <p:spPr>
          <a:xfrm>
            <a:off x="479137" y="3525476"/>
            <a:ext cx="8229600" cy="316240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requests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Muss gegebenenfalls erst installiert werden!</a:t>
            </a:r>
          </a:p>
          <a:p>
            <a:pPr marL="0" indent="0">
              <a:buNone/>
            </a:pPr>
            <a:endParaRPr lang="de-DE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="https://dwd.api.proxy.bund.dev/v30/stationOverviewExtended?stationIds=10513"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Die URL der API</a:t>
            </a:r>
          </a:p>
          <a:p>
            <a:pPr marL="0" indent="0">
              <a:buNone/>
            </a:pP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headers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={                           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Header-Dictionary (optional)</a:t>
            </a:r>
          </a:p>
          <a:p>
            <a:pPr marL="0" indent="0">
              <a:buNone/>
            </a:pP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"user-agent": "Mozilla/5.0" }   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Wir tun so als wären wir Firefox</a:t>
            </a:r>
          </a:p>
          <a:p>
            <a:pPr marL="0" indent="0">
              <a:buNone/>
            </a:pP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0" indent="0">
              <a:buNone/>
            </a:pP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r=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requests.get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headers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Die eigentliche Abfrage, </a:t>
            </a:r>
            <a:r>
              <a:rPr lang="de-DE" sz="105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headers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sind optional</a:t>
            </a:r>
          </a:p>
          <a:p>
            <a:pPr marL="0" indent="0">
              <a:buNone/>
            </a:pPr>
            <a:endParaRPr lang="de-DE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r.status_code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==200:              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Nur dann war der Request/Response erfolgreich!</a:t>
            </a:r>
          </a:p>
          <a:p>
            <a:pPr marL="0" indent="0">
              <a:buNone/>
            </a:pP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("Status: HTTP 200 OK\n")  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Nur zur Info</a:t>
            </a:r>
          </a:p>
          <a:p>
            <a:pPr marL="0" indent="0">
              <a:buNone/>
            </a:pP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("Encoding:",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r.encoding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)   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Alles OK!</a:t>
            </a:r>
          </a:p>
          <a:p>
            <a:pPr marL="0" indent="0">
              <a:buNone/>
            </a:pP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0" indent="0">
              <a:buNone/>
            </a:pP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antwort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r.json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Umwandlung der Response in Python-Liste/</a:t>
            </a:r>
            <a:r>
              <a:rPr lang="de-DE" sz="105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wichtig!</a:t>
            </a:r>
          </a:p>
          <a:p>
            <a:pPr marL="0" indent="0">
              <a:buNone/>
            </a:pP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tempMin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antwort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["10513"]["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days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"][0]["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temperatureMin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"]/10 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Heutige Minimaltemperatur</a:t>
            </a:r>
            <a:endParaRPr lang="de-DE" sz="105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tempMax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antwort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["10513"]["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days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"][0]["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temperatureMax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"]/10 </a:t>
            </a:r>
            <a:r>
              <a:rPr lang="de-DE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Heutige Maximaltemperatur</a:t>
            </a:r>
          </a:p>
          <a:p>
            <a:pPr marL="0" indent="0">
              <a:buNone/>
            </a:pP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("\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nVorhersage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heutige Minimaltemperatur:",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tempMin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)+"° Celsius")</a:t>
            </a:r>
          </a:p>
          <a:p>
            <a:pPr marL="0" indent="0">
              <a:buNone/>
            </a:pP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("Vorhersage heutige Maximaltemperatur:",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tempMax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)+"° Celsius")</a:t>
            </a:r>
          </a:p>
          <a:p>
            <a:pPr marL="0" indent="0">
              <a:buNone/>
            </a:pPr>
            <a:endParaRPr lang="de-DE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(“DWD Web-API antwortet nicht korrekt")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275488672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E51926-3BAD-CD3D-B2D3-42CE9E30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72" y="202630"/>
            <a:ext cx="7283152" cy="1143000"/>
          </a:xfrm>
        </p:spPr>
        <p:txBody>
          <a:bodyPr>
            <a:normAutofit fontScale="90000"/>
          </a:bodyPr>
          <a:lstStyle/>
          <a:p>
            <a:r>
              <a:rPr lang="de-DE" dirty="0"/>
              <a:t>Eigene Web-API programmieren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8032D9-868A-F299-1051-DC79EC9AB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71" y="1340768"/>
            <a:ext cx="5004419" cy="5314602"/>
          </a:xfrm>
        </p:spPr>
        <p:txBody>
          <a:bodyPr>
            <a:normAutofit fontScale="70000" lnSpcReduction="20000"/>
          </a:bodyPr>
          <a:lstStyle/>
          <a:p>
            <a:r>
              <a:rPr lang="de-DE" dirty="0"/>
              <a:t>Beispielsweise kann man mit dem Modul </a:t>
            </a:r>
            <a:r>
              <a:rPr lang="de-DE" b="1" dirty="0" err="1"/>
              <a:t>Flask</a:t>
            </a:r>
            <a:r>
              <a:rPr lang="de-DE" dirty="0"/>
              <a:t> recht einfach eine eigene REST-Server-API programmieren, die auf Webanfragen reagiert. </a:t>
            </a:r>
          </a:p>
          <a:p>
            <a:r>
              <a:rPr lang="de-DE" b="1" dirty="0" err="1"/>
              <a:t>Flask</a:t>
            </a:r>
            <a:r>
              <a:rPr lang="de-DE" dirty="0"/>
              <a:t> muss vor Verwendung mit </a:t>
            </a:r>
            <a:r>
              <a:rPr lang="de-DE" sz="2600" b="1" dirty="0">
                <a:latin typeface="Consolas" panose="020B0609020204030204" pitchFamily="49" charset="0"/>
              </a:rPr>
              <a:t>pip3 </a:t>
            </a:r>
            <a:r>
              <a:rPr lang="de-DE" sz="2600" b="1" dirty="0" err="1">
                <a:latin typeface="Consolas" panose="020B0609020204030204" pitchFamily="49" charset="0"/>
              </a:rPr>
              <a:t>install</a:t>
            </a:r>
            <a:r>
              <a:rPr lang="de-DE" sz="2600" b="1" dirty="0">
                <a:latin typeface="Consolas" panose="020B0609020204030204" pitchFamily="49" charset="0"/>
              </a:rPr>
              <a:t> </a:t>
            </a:r>
            <a:r>
              <a:rPr lang="de-DE" sz="2600" b="1" dirty="0" err="1">
                <a:latin typeface="Consolas" panose="020B0609020204030204" pitchFamily="49" charset="0"/>
              </a:rPr>
              <a:t>flask</a:t>
            </a:r>
            <a:r>
              <a:rPr lang="de-DE" sz="2600" b="1" dirty="0">
                <a:latin typeface="Consolas" panose="020B0609020204030204" pitchFamily="49" charset="0"/>
              </a:rPr>
              <a:t> </a:t>
            </a:r>
            <a:r>
              <a:rPr lang="de-DE" dirty="0"/>
              <a:t>installiert werden.</a:t>
            </a:r>
          </a:p>
          <a:p>
            <a:r>
              <a:rPr lang="de-DE" dirty="0"/>
              <a:t>Prinzipiell wird dabei folgendermaßen vorgegangen (die Beispiel-API liefert die aktuelle Zeit in HTML oder JSON):</a:t>
            </a:r>
          </a:p>
          <a:p>
            <a:pPr lvl="1"/>
            <a:r>
              <a:rPr lang="de-DE" dirty="0"/>
              <a:t>mit </a:t>
            </a:r>
            <a:r>
              <a:rPr lang="de-DE" sz="2600" b="1" dirty="0" err="1">
                <a:latin typeface="Consolas" panose="020B0609020204030204" pitchFamily="49" charset="0"/>
              </a:rPr>
              <a:t>app</a:t>
            </a:r>
            <a:r>
              <a:rPr lang="de-DE" sz="2600" b="1" dirty="0">
                <a:latin typeface="Consolas" panose="020B0609020204030204" pitchFamily="49" charset="0"/>
              </a:rPr>
              <a:t> = </a:t>
            </a:r>
            <a:r>
              <a:rPr lang="de-DE" sz="2600" b="1" dirty="0" err="1">
                <a:latin typeface="Consolas" panose="020B0609020204030204" pitchFamily="49" charset="0"/>
              </a:rPr>
              <a:t>flask.Flask</a:t>
            </a:r>
            <a:r>
              <a:rPr lang="de-DE" sz="2600" b="1" dirty="0">
                <a:latin typeface="Consolas" panose="020B0609020204030204" pitchFamily="49" charset="0"/>
              </a:rPr>
              <a:t>("Name") </a:t>
            </a:r>
            <a:r>
              <a:rPr lang="de-DE" dirty="0"/>
              <a:t>wird ein Applikationsobjekt vorbereitet</a:t>
            </a:r>
          </a:p>
          <a:p>
            <a:pPr lvl="1"/>
            <a:r>
              <a:rPr lang="de-DE" dirty="0"/>
              <a:t>mit dem Decorator </a:t>
            </a:r>
            <a:r>
              <a:rPr lang="de-DE" sz="2600" b="1" dirty="0">
                <a:solidFill>
                  <a:srgbClr val="FF0000"/>
                </a:solidFill>
                <a:latin typeface="Consolas" panose="020B0609020204030204" pitchFamily="49" charset="0"/>
              </a:rPr>
              <a:t>@app.route("/") </a:t>
            </a:r>
            <a:r>
              <a:rPr lang="de-DE" dirty="0"/>
              <a:t>wird ein URL-</a:t>
            </a:r>
            <a:r>
              <a:rPr lang="de-DE" dirty="0" err="1"/>
              <a:t>Endpoint</a:t>
            </a:r>
            <a:r>
              <a:rPr lang="de-DE" dirty="0"/>
              <a:t> festgelegt, die darauffolgende Methode muss mit </a:t>
            </a:r>
            <a:r>
              <a:rPr lang="de-DE" sz="2600" b="1" dirty="0" err="1">
                <a:latin typeface="Consolas" panose="020B0609020204030204" pitchFamily="49" charset="0"/>
              </a:rPr>
              <a:t>return</a:t>
            </a:r>
            <a:r>
              <a:rPr lang="de-DE" dirty="0"/>
              <a:t> die Daten an den Client zurückgeben</a:t>
            </a:r>
          </a:p>
          <a:p>
            <a:pPr lvl="1"/>
            <a:r>
              <a:rPr lang="de-DE" dirty="0"/>
              <a:t>Zuletzt wird mit </a:t>
            </a:r>
            <a:r>
              <a:rPr lang="de-DE" sz="2600" b="1" dirty="0" err="1">
                <a:latin typeface="Consolas" panose="020B0609020204030204" pitchFamily="49" charset="0"/>
              </a:rPr>
              <a:t>app.run</a:t>
            </a:r>
            <a:r>
              <a:rPr lang="de-DE" sz="2600" b="1" dirty="0">
                <a:latin typeface="Consolas" panose="020B0609020204030204" pitchFamily="49" charset="0"/>
              </a:rPr>
              <a:t>(</a:t>
            </a:r>
            <a:r>
              <a:rPr lang="de-DE" sz="2600" b="1" dirty="0" err="1">
                <a:latin typeface="Consolas" panose="020B0609020204030204" pitchFamily="49" charset="0"/>
              </a:rPr>
              <a:t>port</a:t>
            </a:r>
            <a:r>
              <a:rPr lang="de-DE" sz="2600" b="1" dirty="0">
                <a:latin typeface="Consolas" panose="020B0609020204030204" pitchFamily="49" charset="0"/>
              </a:rPr>
              <a:t>=80) </a:t>
            </a:r>
            <a:r>
              <a:rPr lang="de-DE" dirty="0"/>
              <a:t>die Applikation gestartet (in diesem Fall mit Portangabe 80, Default ist 5000)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01B2C9D-7029-A6A1-E9F7-ECB8B355A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87" y="2084198"/>
            <a:ext cx="4196281" cy="314500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C4505A5-2A45-A3BD-756F-7ECBB3D9B36C}"/>
              </a:ext>
            </a:extLst>
          </p:cNvPr>
          <p:cNvSpPr txBox="1"/>
          <p:nvPr/>
        </p:nvSpPr>
        <p:spPr>
          <a:xfrm>
            <a:off x="5361327" y="5249594"/>
            <a:ext cx="3226845" cy="7167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de-DE" sz="1400" dirty="0"/>
              <a:t>Die selbstprogrammierte REST-API kann </a:t>
            </a:r>
            <a:br>
              <a:rPr lang="de-DE" sz="1400" dirty="0"/>
            </a:br>
            <a:r>
              <a:rPr lang="de-DE" sz="1400" dirty="0"/>
              <a:t>im Webbrowser mit </a:t>
            </a:r>
            <a:r>
              <a:rPr lang="de-DE" sz="1400" dirty="0">
                <a:hlinkClick r:id="rId3"/>
              </a:rPr>
              <a:t>http://localhost/html</a:t>
            </a:r>
            <a:br>
              <a:rPr lang="de-DE" sz="1400" dirty="0"/>
            </a:br>
            <a:r>
              <a:rPr lang="de-DE" sz="1400" dirty="0"/>
              <a:t>oder </a:t>
            </a:r>
            <a:r>
              <a:rPr lang="de-DE" sz="1400" dirty="0">
                <a:hlinkClick r:id="rId4"/>
              </a:rPr>
              <a:t>http://localhost/json</a:t>
            </a:r>
            <a:r>
              <a:rPr lang="de-DE" sz="1400" dirty="0"/>
              <a:t> aufgerufen</a:t>
            </a:r>
            <a:br>
              <a:rPr lang="de-DE" sz="1400" dirty="0"/>
            </a:br>
            <a:r>
              <a:rPr lang="de-DE" sz="1400" dirty="0"/>
              <a:t>werden</a:t>
            </a:r>
          </a:p>
        </p:txBody>
      </p:sp>
    </p:spTree>
    <p:extLst>
      <p:ext uri="{BB962C8B-B14F-4D97-AF65-F5344CB8AC3E}">
        <p14:creationId xmlns:p14="http://schemas.microsoft.com/office/powerpoint/2010/main" val="228372399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42B4A7B-1CDB-17DD-870E-91FB11D6A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92896"/>
            <a:ext cx="7772400" cy="1470025"/>
          </a:xfrm>
        </p:spPr>
        <p:txBody>
          <a:bodyPr/>
          <a:lstStyle/>
          <a:p>
            <a:r>
              <a:rPr lang="de-DE" dirty="0"/>
              <a:t>Module installieren mit </a:t>
            </a:r>
            <a:r>
              <a:rPr lang="de-DE" b="1" dirty="0"/>
              <a:t>pip3</a:t>
            </a:r>
          </a:p>
        </p:txBody>
      </p:sp>
    </p:spTree>
    <p:extLst>
      <p:ext uri="{BB962C8B-B14F-4D97-AF65-F5344CB8AC3E}">
        <p14:creationId xmlns:p14="http://schemas.microsoft.com/office/powerpoint/2010/main" val="406218710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79A4E-40FD-7949-9B46-0AF8603F1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pip3</a:t>
            </a:r>
            <a:r>
              <a:rPr lang="de-DE"/>
              <a:t> / pypi.org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2CCA8C-DD43-4A47-ADEA-96A787F9D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6" y="1340768"/>
            <a:ext cx="9108504" cy="5517232"/>
          </a:xfrm>
        </p:spPr>
        <p:txBody>
          <a:bodyPr>
            <a:normAutofit lnSpcReduction="10000"/>
          </a:bodyPr>
          <a:lstStyle/>
          <a:p>
            <a:r>
              <a:rPr lang="de-DE" sz="1800" dirty="0"/>
              <a:t>Kommandozeilen-Tool zum Installieren von externen Modulen von </a:t>
            </a:r>
            <a:r>
              <a:rPr lang="de-DE" sz="1800" dirty="0" err="1"/>
              <a:t>PyPI</a:t>
            </a:r>
            <a:r>
              <a:rPr lang="de-DE" sz="1800" dirty="0"/>
              <a:t>, die nicht mit in der Standardbibliothek sind.</a:t>
            </a:r>
          </a:p>
          <a:p>
            <a:r>
              <a:rPr lang="de-DE" sz="1800" dirty="0"/>
              <a:t>Tipp: 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pip</a:t>
            </a:r>
            <a:r>
              <a:rPr lang="de-DE" sz="1800" dirty="0"/>
              <a:t> wird normalerweise mit 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pip3</a:t>
            </a:r>
            <a:r>
              <a:rPr lang="de-DE" sz="1800" dirty="0"/>
              <a:t> aufgerufen, man kann aber auch (falls mehrere Python-Versionen installiert sind, eine ganze bestimmte aufrufen, z.B. </a:t>
            </a:r>
            <a:r>
              <a:rPr lang="de-DE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pip3.12</a:t>
            </a:r>
            <a:endParaRPr lang="de-DE" sz="1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800" dirty="0" err="1"/>
              <a:t>PyPI</a:t>
            </a:r>
            <a:r>
              <a:rPr lang="de-DE" sz="1800" dirty="0"/>
              <a:t>-Online-Verzeichnis der Module (Python Package Index) unter </a:t>
            </a:r>
            <a:r>
              <a:rPr lang="de-DE" sz="1800" b="1" dirty="0"/>
              <a:t>pypi.org </a:t>
            </a:r>
            <a:endParaRPr lang="de-DE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pip3 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800" dirty="0">
                <a:sym typeface="Wingdings" panose="05000000000000000000" pitchFamily="2" charset="2"/>
              </a:rPr>
              <a:t> Zeigt installierte Module der aktuellsten installierten Python-Version an.</a:t>
            </a:r>
          </a:p>
          <a:p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pip3 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modul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de-DE" sz="1800" dirty="0">
                <a:sym typeface="Wingdings" panose="05000000000000000000" pitchFamily="2" charset="2"/>
              </a:rPr>
              <a:t> Zeigt Infos zu einem bestimmten installierten Modul an.</a:t>
            </a:r>
          </a:p>
          <a:p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pip3 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uninstall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&lt;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modul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&gt; </a:t>
            </a:r>
            <a:r>
              <a:rPr lang="de-DE" sz="1800" dirty="0">
                <a:sym typeface="Wingdings" panose="05000000000000000000" pitchFamily="2" charset="2"/>
              </a:rPr>
              <a:t> Deinstalliert ein Modul.</a:t>
            </a:r>
          </a:p>
          <a:p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pip3 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install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&lt;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modul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&gt; </a:t>
            </a:r>
            <a:r>
              <a:rPr lang="de-DE" sz="1800" dirty="0">
                <a:sym typeface="Wingdings" panose="05000000000000000000" pitchFamily="2" charset="2"/>
              </a:rPr>
              <a:t> Lädt ein Modul und installiert es</a:t>
            </a:r>
          </a:p>
          <a:p>
            <a:r>
              <a:rPr lang="de-DE" sz="1800" dirty="0">
                <a:sym typeface="Wingdings" panose="05000000000000000000" pitchFamily="2" charset="2"/>
              </a:rPr>
              <a:t>Bekannte Module, die vor Nutzung installiert werden müssen:</a:t>
            </a:r>
          </a:p>
          <a:p>
            <a:pPr lvl="1"/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requests</a:t>
            </a:r>
            <a:r>
              <a:rPr lang="de-DE" sz="1600" dirty="0">
                <a:sym typeface="Wingdings" panose="05000000000000000000" pitchFamily="2" charset="2"/>
              </a:rPr>
              <a:t>  Web-APIs abfragen</a:t>
            </a:r>
          </a:p>
          <a:p>
            <a:pPr lvl="1"/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matplotlib</a:t>
            </a:r>
            <a:r>
              <a:rPr lang="de-DE" sz="1600" dirty="0">
                <a:sym typeface="Wingdings" panose="05000000000000000000" pitchFamily="2" charset="2"/>
              </a:rPr>
              <a:t>  Diagramme plotten</a:t>
            </a:r>
          </a:p>
          <a:p>
            <a:pPr lvl="1"/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numpy</a:t>
            </a:r>
            <a:r>
              <a:rPr lang="de-DE" sz="1600" dirty="0">
                <a:sym typeface="Wingdings" panose="05000000000000000000" pitchFamily="2" charset="2"/>
              </a:rPr>
              <a:t>  Schnelle Arrays in Python für große Datenmengen</a:t>
            </a:r>
          </a:p>
          <a:p>
            <a:pPr lvl="1"/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pygame</a:t>
            </a:r>
            <a:r>
              <a:rPr lang="de-DE" sz="1600" dirty="0">
                <a:sym typeface="Wingdings" panose="05000000000000000000" pitchFamily="2" charset="2"/>
              </a:rPr>
              <a:t>  Spieleprogrammierung (Grafik, Sound, Tasturabfrage, Maus…)</a:t>
            </a:r>
          </a:p>
          <a:p>
            <a:pPr lvl="1"/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unicurses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de-DE" sz="1600" dirty="0">
                <a:sym typeface="Wingdings" panose="05000000000000000000" pitchFamily="2" charset="2"/>
              </a:rPr>
              <a:t>Funktionen f. t</a:t>
            </a:r>
            <a:r>
              <a:rPr lang="de-DE" sz="1600" dirty="0"/>
              <a:t>extbasierte Spiele (VT100-Terminal)</a:t>
            </a:r>
          </a:p>
          <a:p>
            <a:pPr lvl="1"/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de-DE" sz="1600" dirty="0"/>
              <a:t> </a:t>
            </a:r>
            <a:r>
              <a:rPr lang="de-DE" sz="1600" dirty="0">
                <a:sym typeface="Wingdings" panose="05000000000000000000" pitchFamily="2" charset="2"/>
              </a:rPr>
              <a:t> Modul zum Analysieren und Auswerten von Datentabellen</a:t>
            </a:r>
            <a:endParaRPr lang="de-DE" sz="1600" dirty="0"/>
          </a:p>
          <a:p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pip3 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modul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--upgrade </a:t>
            </a:r>
            <a:r>
              <a:rPr lang="de-DE" sz="1800" dirty="0">
                <a:sym typeface="Wingdings" panose="05000000000000000000" pitchFamily="2" charset="2"/>
              </a:rPr>
              <a:t> Versucht, ein bestimmtes Modul upzudaten</a:t>
            </a:r>
            <a:endParaRPr lang="de-DE" sz="1800" u="sng" dirty="0"/>
          </a:p>
          <a:p>
            <a:r>
              <a:rPr lang="de-DE" sz="1800" u="sng" dirty="0"/>
              <a:t>Tipp</a:t>
            </a:r>
            <a:r>
              <a:rPr lang="de-DE" sz="1800" dirty="0"/>
              <a:t>: </a:t>
            </a:r>
            <a:r>
              <a:rPr lang="de-DE" sz="1800" b="1" dirty="0" err="1"/>
              <a:t>pip</a:t>
            </a:r>
            <a:r>
              <a:rPr lang="de-DE" sz="1800" dirty="0"/>
              <a:t> updaten mit 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python.exe -m pip3 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--upgrade 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pip</a:t>
            </a:r>
            <a:endParaRPr lang="de-DE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02857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BB62B481-CC5B-1407-5422-E5A2B8309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4127050"/>
            <a:ext cx="3563888" cy="269552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D725BBB-7238-394F-8328-A40E1416B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488832" cy="1143000"/>
          </a:xfrm>
        </p:spPr>
        <p:txBody>
          <a:bodyPr>
            <a:noAutofit/>
          </a:bodyPr>
          <a:lstStyle/>
          <a:p>
            <a:r>
              <a:rPr lang="de-DE" sz="3600"/>
              <a:t>Tipp: Grafische </a:t>
            </a:r>
            <a:r>
              <a:rPr lang="de-DE" sz="3600" dirty="0"/>
              <a:t>Datenauswertungen mit dem Modul </a:t>
            </a:r>
            <a:r>
              <a:rPr lang="de-DE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endParaRPr lang="de-DE" sz="3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E5E3D6-06C0-4343-8FC2-534B52F8D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34124" cy="5257800"/>
          </a:xfrm>
        </p:spPr>
        <p:txBody>
          <a:bodyPr>
            <a:normAutofit fontScale="55000" lnSpcReduction="20000"/>
          </a:bodyPr>
          <a:lstStyle/>
          <a:p>
            <a:r>
              <a:rPr lang="de-DE" sz="3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de-DE" sz="3300" dirty="0"/>
              <a:t> ist eine mächtige Bibliothek zum grafischen Auswerten von Daten/Zahlen. Wichtigste Klasse ist </a:t>
            </a:r>
            <a:r>
              <a:rPr lang="de-DE" sz="3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endParaRPr lang="de-DE" sz="3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3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de-DE" sz="3300" dirty="0"/>
              <a:t> muss vor Nutzung installiert werden: </a:t>
            </a:r>
            <a:br>
              <a:rPr lang="de-DE" sz="3300" dirty="0"/>
            </a:br>
            <a:r>
              <a:rPr lang="de-DE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pip3 </a:t>
            </a:r>
            <a:r>
              <a:rPr lang="de-DE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de-DE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endParaRPr lang="de-DE" sz="3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3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pyplot</a:t>
            </a:r>
            <a:r>
              <a:rPr lang="de-DE" sz="3300" dirty="0"/>
              <a:t> wird üblicherweise mit </a:t>
            </a:r>
            <a:r>
              <a:rPr lang="de-DE" sz="3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de-DE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DE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r>
              <a:rPr lang="de-DE" sz="3300" dirty="0"/>
              <a:t> importiert</a:t>
            </a:r>
          </a:p>
          <a:p>
            <a:r>
              <a:rPr lang="de-DE" sz="3300" dirty="0"/>
              <a:t>Die Nutzung von </a:t>
            </a:r>
            <a:r>
              <a:rPr lang="de-DE" sz="3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pyplot</a:t>
            </a:r>
            <a:r>
              <a:rPr lang="de-DE" sz="3300" dirty="0"/>
              <a:t> ist mit wenigen Zeilen Code möglich:</a:t>
            </a:r>
          </a:p>
          <a:p>
            <a:pPr marL="0" indent="0">
              <a:buNone/>
            </a:pPr>
            <a:br>
              <a:rPr lang="de-DE" sz="2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2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2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2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de-DE" sz="2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2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DE" sz="2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2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de-DE" sz="2200" b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de-DE" sz="2200" b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[100, 90, 80, 40, 50, 90]              </a:t>
            </a:r>
            <a:r>
              <a:rPr lang="de-DE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Liste mit Daten</a:t>
            </a:r>
          </a:p>
          <a:p>
            <a:pPr marL="0" indent="0">
              <a:buNone/>
            </a:pPr>
            <a:r>
              <a:rPr lang="de-DE" sz="2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["</a:t>
            </a:r>
            <a:r>
              <a:rPr lang="de-DE" sz="22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Jan","Feb","Mär","Apr","Mai","Jun</a:t>
            </a:r>
            <a:r>
              <a:rPr lang="de-DE" sz="2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"]  </a:t>
            </a:r>
            <a:r>
              <a:rPr lang="de-DE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Liste mit Beschriftungen</a:t>
            </a:r>
          </a:p>
          <a:p>
            <a:pPr marL="0" indent="0">
              <a:buNone/>
            </a:pPr>
            <a:endParaRPr lang="de-DE" sz="2200" b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2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plt.title</a:t>
            </a:r>
            <a:r>
              <a:rPr lang="de-DE" sz="2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("Umsatzzahlen 2022") </a:t>
            </a:r>
            <a:r>
              <a:rPr lang="de-DE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Überschrift</a:t>
            </a:r>
          </a:p>
          <a:p>
            <a:pPr marL="0" indent="0">
              <a:buNone/>
            </a:pPr>
            <a:r>
              <a:rPr lang="de-DE" sz="22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plt.bar</a:t>
            </a:r>
            <a:r>
              <a:rPr lang="de-DE" sz="2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2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de-DE" sz="2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de-DE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Säulen-Plot mit Daten für x und Y-Achse</a:t>
            </a:r>
          </a:p>
          <a:p>
            <a:pPr marL="0" indent="0">
              <a:buNone/>
            </a:pPr>
            <a:r>
              <a:rPr lang="de-DE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e-DE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de-DE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de-DE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# Das wäre dann ein Linien-Plot</a:t>
            </a:r>
          </a:p>
          <a:p>
            <a:pPr marL="0" indent="0">
              <a:buNone/>
            </a:pPr>
            <a:r>
              <a:rPr lang="de-DE" sz="22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plt.xlabel</a:t>
            </a:r>
            <a:r>
              <a:rPr lang="de-DE" sz="2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("Monate")  </a:t>
            </a:r>
            <a:r>
              <a:rPr lang="de-DE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Label für die X-Achse</a:t>
            </a:r>
          </a:p>
          <a:p>
            <a:pPr marL="0" indent="0">
              <a:buNone/>
            </a:pPr>
            <a:r>
              <a:rPr lang="de-DE" sz="22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plt.ylabel</a:t>
            </a:r>
            <a:r>
              <a:rPr lang="de-DE" sz="2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("Umsatz")  </a:t>
            </a:r>
            <a:r>
              <a:rPr lang="de-DE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Label für die Y-Achse</a:t>
            </a:r>
          </a:p>
          <a:p>
            <a:pPr marL="0" indent="0">
              <a:buNone/>
            </a:pPr>
            <a:endParaRPr lang="de-DE" sz="2200" b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2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de-DE" sz="2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         </a:t>
            </a:r>
            <a:r>
              <a:rPr lang="de-DE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e-DE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Plotanweisung</a:t>
            </a:r>
            <a:r>
              <a:rPr lang="de-DE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wird durchgeführt</a:t>
            </a:r>
            <a:endParaRPr lang="de-DE" sz="31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de-DE" sz="3100" dirty="0"/>
          </a:p>
          <a:p>
            <a:pPr marL="0" indent="0">
              <a:buNone/>
            </a:pPr>
            <a:r>
              <a:rPr lang="de-DE" sz="3100" dirty="0"/>
              <a:t>Weitere Optionen (Formatierung des Graphen, Farben, </a:t>
            </a:r>
          </a:p>
          <a:p>
            <a:pPr marL="0" indent="0">
              <a:buNone/>
            </a:pPr>
            <a:r>
              <a:rPr lang="de-DE" sz="3100" dirty="0"/>
              <a:t>Skalierung. Andere Diagramme etc.) sind natürlich auch </a:t>
            </a:r>
            <a:br>
              <a:rPr lang="de-DE" sz="3100" dirty="0"/>
            </a:br>
            <a:r>
              <a:rPr lang="de-DE" sz="3100" dirty="0"/>
              <a:t>möglich.</a:t>
            </a:r>
          </a:p>
        </p:txBody>
      </p:sp>
    </p:spTree>
    <p:extLst>
      <p:ext uri="{BB962C8B-B14F-4D97-AF65-F5344CB8AC3E}">
        <p14:creationId xmlns:p14="http://schemas.microsoft.com/office/powerpoint/2010/main" val="148013435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CFAB60-9BF8-94B7-9A24-0AA7829A9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3200" dirty="0"/>
              <a:t>Python lernen und experimentieren </a:t>
            </a:r>
            <a:br>
              <a:rPr lang="de-DE" sz="3200" dirty="0"/>
            </a:br>
            <a:r>
              <a:rPr lang="de-DE" sz="3200" dirty="0"/>
              <a:t>mit </a:t>
            </a:r>
            <a:r>
              <a:rPr lang="de-DE" sz="3200" dirty="0" err="1"/>
              <a:t>Jupyter</a:t>
            </a:r>
            <a:r>
              <a:rPr lang="de-DE" sz="3200" dirty="0"/>
              <a:t> Notebook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D96187-B89B-8B26-AC51-8D78E017C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600200"/>
            <a:ext cx="5046210" cy="5213176"/>
          </a:xfrm>
        </p:spPr>
        <p:txBody>
          <a:bodyPr>
            <a:normAutofit fontScale="70000" lnSpcReduction="20000"/>
          </a:bodyPr>
          <a:lstStyle/>
          <a:p>
            <a:r>
              <a:rPr lang="de-DE" dirty="0" err="1"/>
              <a:t>Jupyter</a:t>
            </a:r>
            <a:r>
              <a:rPr lang="de-DE" dirty="0"/>
              <a:t> Notebook ermöglicht auf einer lokalen Weboberfläche das Testen und Lernen von Python-Code (</a:t>
            </a:r>
            <a:r>
              <a:rPr lang="de-DE" dirty="0" err="1"/>
              <a:t>Jupyter</a:t>
            </a:r>
            <a:r>
              <a:rPr lang="de-DE" dirty="0"/>
              <a:t> unterstützt aber auch viele andere Programmiersprachen)</a:t>
            </a:r>
          </a:p>
          <a:p>
            <a:r>
              <a:rPr lang="de-DE" dirty="0"/>
              <a:t>Installation mit 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pip3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endParaRPr lang="de-DE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/>
              <a:t>Starten: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notebook</a:t>
            </a:r>
            <a:endParaRPr lang="de-DE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/>
              <a:t>Code wird in Zellen geschrieben, Zellen lassen sich kopieren, verschieben und insgesamt oder einzeln ausführen</a:t>
            </a:r>
          </a:p>
          <a:p>
            <a:r>
              <a:rPr lang="de-DE" dirty="0"/>
              <a:t>Es lassen sich Snapshots erstellen, man kann jederzeit dorthin zurückkehren</a:t>
            </a:r>
          </a:p>
          <a:p>
            <a:r>
              <a:rPr lang="de-DE" dirty="0"/>
              <a:t>Eingabe, Textausgabe und grafische Ausgabe erfolgt im gleichen Fenster</a:t>
            </a:r>
          </a:p>
          <a:p>
            <a:r>
              <a:rPr lang="de-DE" dirty="0"/>
              <a:t>Sämtlicher Code eines Notebooks wird in einer .</a:t>
            </a:r>
            <a:r>
              <a:rPr lang="de-DE" dirty="0" err="1"/>
              <a:t>ipynb</a:t>
            </a:r>
            <a:r>
              <a:rPr lang="de-DE" dirty="0"/>
              <a:t>-Datei gespeichert und kann so einfach weitergegeben werden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6A8DFE1-2C5D-9AE8-B5BA-6C5E48047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053" y="1844824"/>
            <a:ext cx="3844443" cy="45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63804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03E537-3518-B7BE-A9D0-321FBBAD3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Statische Datentypen in Python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49A323-816A-17DD-9A72-F23E80091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417638"/>
            <a:ext cx="5436095" cy="5440362"/>
          </a:xfrm>
        </p:spPr>
        <p:txBody>
          <a:bodyPr>
            <a:normAutofit fontScale="85000" lnSpcReduction="20000"/>
          </a:bodyPr>
          <a:lstStyle/>
          <a:p>
            <a:r>
              <a:rPr lang="de-DE" dirty="0"/>
              <a:t>Ab Python 3.6 kann man den Typ einer Variablen auch explizit festlegen, z.B. </a:t>
            </a:r>
            <a:br>
              <a:rPr lang="de-DE" dirty="0"/>
            </a:b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 :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1.23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/>
              <a:t>Dadurch kann man bereits im Quellcode die Typisierung der Variablen überprüfen (z.B. im </a:t>
            </a:r>
            <a:r>
              <a:rPr lang="de-DE" dirty="0" err="1"/>
              <a:t>VSCode</a:t>
            </a:r>
            <a:r>
              <a:rPr lang="de-DE" dirty="0"/>
              <a:t> aktivierbar mit dem Plugin </a:t>
            </a:r>
            <a:r>
              <a:rPr lang="de-DE" dirty="0" err="1"/>
              <a:t>Pylance</a:t>
            </a:r>
            <a:r>
              <a:rPr lang="de-DE" dirty="0"/>
              <a:t>) </a:t>
            </a:r>
          </a:p>
          <a:p>
            <a:r>
              <a:rPr lang="de-DE" dirty="0"/>
              <a:t>Eine weitere Möglichkeit, vorhandenen Python-Code zu "type-checken", ist das Modul </a:t>
            </a:r>
            <a:r>
              <a:rPr lang="de-DE" b="1" dirty="0" err="1"/>
              <a:t>MyPy</a:t>
            </a:r>
            <a:endParaRPr lang="de-DE" b="1" dirty="0"/>
          </a:p>
          <a:p>
            <a:r>
              <a:rPr lang="de-DE" dirty="0"/>
              <a:t>Eine Prüfung zur Laufzeit vom Python-Interpreter erfolgt nicht!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4CF44B9-40CB-4EB5-D1B2-E83B09AFE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3" y="4549870"/>
            <a:ext cx="3496549" cy="179435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F1DBDAE-48CB-BB96-D40A-4318177D6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0" y="1789504"/>
            <a:ext cx="3879849" cy="84494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AFFBF1F-E582-EC4E-BDC7-CEDE77744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096" y="2798410"/>
            <a:ext cx="3640566" cy="128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30104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37CBC6-DE86-CC6D-85B3-627D08C4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704856" cy="1143000"/>
          </a:xfrm>
        </p:spPr>
        <p:txBody>
          <a:bodyPr>
            <a:noAutofit/>
          </a:bodyPr>
          <a:lstStyle/>
          <a:p>
            <a:r>
              <a:rPr lang="de-DE" sz="3600" dirty="0"/>
              <a:t>Regionsabhängige Zahlendarstellung </a:t>
            </a:r>
            <a:br>
              <a:rPr lang="de-DE" sz="3600" dirty="0"/>
            </a:br>
            <a:r>
              <a:rPr lang="de-DE" sz="3600" dirty="0"/>
              <a:t>mit dem Modul </a:t>
            </a:r>
            <a:r>
              <a:rPr lang="de-DE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locale</a:t>
            </a:r>
            <a:endParaRPr lang="de-DE" sz="3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C72F9C-7793-AB34-6909-E918FC8CB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2980927"/>
          </a:xfrm>
        </p:spPr>
        <p:txBody>
          <a:bodyPr>
            <a:normAutofit fontScale="77500" lnSpcReduction="20000"/>
          </a:bodyPr>
          <a:lstStyle/>
          <a:p>
            <a:r>
              <a:rPr lang="de-DE" dirty="0"/>
              <a:t>Das Modul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locale</a:t>
            </a:r>
            <a:r>
              <a:rPr lang="de-DE" dirty="0"/>
              <a:t> stellt verschiedene Funktionen zur Verfügung, um die Ausgabe von Dezimaltrennzeichen, Tausender-Gruppierung und Währungszeichen länderspezifisch anpassen.</a:t>
            </a:r>
          </a:p>
          <a:p>
            <a:r>
              <a:rPr lang="de-DE" dirty="0"/>
              <a:t>Auch landesspezifische Eingaben vom User (z.B. Kommazahlen mit "," statt mit ".") lassen sich in Python-kompatible </a:t>
            </a:r>
            <a:r>
              <a:rPr lang="de-DE" dirty="0" err="1"/>
              <a:t>Float</a:t>
            </a:r>
            <a:r>
              <a:rPr lang="de-DE" dirty="0"/>
              <a:t>-Zahlen umwandeln.</a:t>
            </a:r>
          </a:p>
          <a:p>
            <a:r>
              <a:rPr lang="de-DE" dirty="0"/>
              <a:t>Siehe auch: </a:t>
            </a:r>
            <a:r>
              <a:rPr lang="de-DE" dirty="0">
                <a:hlinkClick r:id="rId2"/>
              </a:rPr>
              <a:t>https://phrase.com/blog/posts/beginners-guide-to-locale-in-python/</a:t>
            </a:r>
            <a:r>
              <a:rPr lang="de-DE" dirty="0"/>
              <a:t> 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B2DFE38-973A-0493-A814-2D77BEA1F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94739"/>
            <a:ext cx="9144000" cy="246265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0711800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5536" y="278092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de-DE" sz="6600"/>
              <a:t>SQL-Datenbankzugriff </a:t>
            </a:r>
            <a:br>
              <a:rPr lang="de-DE" sz="6600"/>
            </a:br>
            <a:r>
              <a:rPr lang="de-DE" sz="6600"/>
              <a:t>mit </a:t>
            </a:r>
            <a:r>
              <a:rPr lang="de-DE" sz="6600" dirty="0"/>
              <a:t>Python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4CC2BFE-BDBF-4902-829F-EA1F56256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5309181"/>
            <a:ext cx="1861326" cy="83902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6F06BED-02E5-4A2D-91C4-EBDAE77D2D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613" b="24394"/>
          <a:stretch/>
        </p:blipFill>
        <p:spPr>
          <a:xfrm>
            <a:off x="6629236" y="5157192"/>
            <a:ext cx="2286328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82998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B40C9F-1D69-E4AD-9B15-EF7370434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Überblick:</a:t>
            </a:r>
            <a:br>
              <a:rPr lang="de-DE" dirty="0"/>
            </a:br>
            <a:r>
              <a:rPr lang="de-DE" dirty="0"/>
              <a:t>Wichtigste SQL-Statements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E46ED2-F8A6-6657-23E5-57E014034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sz="2800" b="1">
                <a:solidFill>
                  <a:srgbClr val="FF0000"/>
                </a:solidFill>
              </a:rPr>
              <a:t>SELECT</a:t>
            </a:r>
            <a:r>
              <a:rPr lang="de-DE" sz="2800"/>
              <a:t> </a:t>
            </a:r>
            <a:r>
              <a:rPr lang="de-DE" sz="2800">
                <a:sym typeface="Wingdings" panose="05000000000000000000" pitchFamily="2" charset="2"/>
              </a:rPr>
              <a:t> Daten aus Datenbank auslesen</a:t>
            </a:r>
          </a:p>
          <a:p>
            <a:r>
              <a:rPr lang="de-DE" sz="2800" b="1">
                <a:solidFill>
                  <a:srgbClr val="FF0000"/>
                </a:solidFill>
                <a:sym typeface="Wingdings" panose="05000000000000000000" pitchFamily="2" charset="2"/>
              </a:rPr>
              <a:t>INSERT INTO VALUES </a:t>
            </a:r>
            <a:r>
              <a:rPr lang="de-DE" sz="2800">
                <a:sym typeface="Wingdings" panose="05000000000000000000" pitchFamily="2" charset="2"/>
              </a:rPr>
              <a:t> Daten in DB einfügen</a:t>
            </a:r>
          </a:p>
          <a:p>
            <a:r>
              <a:rPr lang="de-DE" sz="2800" b="1">
                <a:solidFill>
                  <a:srgbClr val="FF0000"/>
                </a:solidFill>
                <a:sym typeface="Wingdings" panose="05000000000000000000" pitchFamily="2" charset="2"/>
              </a:rPr>
              <a:t>DELETE FROM WHERE </a:t>
            </a:r>
            <a:r>
              <a:rPr lang="de-DE" sz="2800">
                <a:sym typeface="Wingdings" panose="05000000000000000000" pitchFamily="2" charset="2"/>
              </a:rPr>
              <a:t> Daten aus DB löschen</a:t>
            </a:r>
          </a:p>
          <a:p>
            <a:r>
              <a:rPr lang="de-DE" sz="2800" b="1">
                <a:solidFill>
                  <a:srgbClr val="FF0000"/>
                </a:solidFill>
                <a:sym typeface="Wingdings" panose="05000000000000000000" pitchFamily="2" charset="2"/>
              </a:rPr>
              <a:t>UPDATE SET WHERE </a:t>
            </a:r>
            <a:r>
              <a:rPr lang="de-DE" sz="2800">
                <a:sym typeface="Wingdings" panose="05000000000000000000" pitchFamily="2" charset="2"/>
              </a:rPr>
              <a:t> Daten ändern</a:t>
            </a:r>
          </a:p>
          <a:p>
            <a:r>
              <a:rPr lang="de-DE" sz="2800" b="1">
                <a:solidFill>
                  <a:srgbClr val="FF0000"/>
                </a:solidFill>
                <a:sym typeface="Wingdings" panose="05000000000000000000" pitchFamily="2" charset="2"/>
              </a:rPr>
              <a:t>CREATE TABLE </a:t>
            </a:r>
            <a:r>
              <a:rPr lang="de-DE" sz="2800">
                <a:sym typeface="Wingdings" panose="05000000000000000000" pitchFamily="2" charset="2"/>
              </a:rPr>
              <a:t> Tabellen erzeugen</a:t>
            </a:r>
          </a:p>
          <a:p>
            <a:r>
              <a:rPr lang="de-DE" sz="2800" b="1">
                <a:solidFill>
                  <a:srgbClr val="FF0000"/>
                </a:solidFill>
                <a:sym typeface="Wingdings" panose="05000000000000000000" pitchFamily="2" charset="2"/>
              </a:rPr>
              <a:t>ALTER TABLE </a:t>
            </a:r>
            <a:r>
              <a:rPr lang="de-DE" sz="2800">
                <a:sym typeface="Wingdings" panose="05000000000000000000" pitchFamily="2" charset="2"/>
              </a:rPr>
              <a:t> Tabellenaufbau verändern</a:t>
            </a:r>
          </a:p>
          <a:p>
            <a:r>
              <a:rPr lang="de-DE" sz="2800" b="1">
                <a:solidFill>
                  <a:srgbClr val="FF0000"/>
                </a:solidFill>
                <a:sym typeface="Wingdings" panose="05000000000000000000" pitchFamily="2" charset="2"/>
              </a:rPr>
              <a:t>DROP TABLE </a:t>
            </a:r>
            <a:r>
              <a:rPr lang="de-DE" sz="2800">
                <a:sym typeface="Wingdings" panose="05000000000000000000" pitchFamily="2" charset="2"/>
              </a:rPr>
              <a:t> Tabelle löschen</a:t>
            </a:r>
          </a:p>
          <a:p>
            <a:r>
              <a:rPr lang="de-DE" sz="2800" b="1">
                <a:solidFill>
                  <a:srgbClr val="FF0000"/>
                </a:solidFill>
              </a:rPr>
              <a:t>CREATE / DROP DATABASE </a:t>
            </a:r>
            <a:r>
              <a:rPr lang="de-DE" sz="2800">
                <a:sym typeface="Wingdings" panose="05000000000000000000" pitchFamily="2" charset="2"/>
              </a:rPr>
              <a:t> DB erzeugen / löschen (nicht benutzbar bei SQLite)</a:t>
            </a:r>
          </a:p>
          <a:p>
            <a:r>
              <a:rPr lang="de-DE" sz="2800" b="1">
                <a:solidFill>
                  <a:srgbClr val="FF0000"/>
                </a:solidFill>
                <a:sym typeface="Wingdings" panose="05000000000000000000" pitchFamily="2" charset="2"/>
              </a:rPr>
              <a:t>PRAGMA </a:t>
            </a:r>
            <a:r>
              <a:rPr lang="de-DE" sz="2800">
                <a:sym typeface="Wingdings" panose="05000000000000000000" pitchFamily="2" charset="2"/>
              </a:rPr>
              <a:t> Individuelle DB-Einstellungen</a:t>
            </a:r>
            <a:endParaRPr lang="de-DE" sz="2800"/>
          </a:p>
        </p:txBody>
      </p:sp>
    </p:spTree>
    <p:extLst>
      <p:ext uri="{BB962C8B-B14F-4D97-AF65-F5344CB8AC3E}">
        <p14:creationId xmlns:p14="http://schemas.microsoft.com/office/powerpoint/2010/main" val="3020039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AC1ACA-CFDE-4547-BA57-1432285D9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SQL-Datenbanken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7A35DA-AE9B-44F6-97BD-EBE614466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395738"/>
          </a:xfrm>
        </p:spPr>
        <p:txBody>
          <a:bodyPr>
            <a:normAutofit fontScale="85000" lnSpcReduction="20000"/>
          </a:bodyPr>
          <a:lstStyle/>
          <a:p>
            <a:r>
              <a:rPr lang="de-DE" dirty="0"/>
              <a:t>Mit Python kann man viele  relationale Datenbanksysteme (MySQL,  </a:t>
            </a:r>
            <a:r>
              <a:rPr lang="de-DE" dirty="0" err="1"/>
              <a:t>MariaDB</a:t>
            </a:r>
            <a:r>
              <a:rPr lang="de-DE" dirty="0"/>
              <a:t>, SQLite3, Microsoft-SQL, Oracle, PostgreSQL, Access und andere) nutzen.</a:t>
            </a:r>
          </a:p>
          <a:p>
            <a:r>
              <a:rPr lang="de-DE" dirty="0"/>
              <a:t>Zu den Möglichkeiten in Python gehört insbesondere:</a:t>
            </a:r>
          </a:p>
          <a:p>
            <a:pPr lvl="1"/>
            <a:r>
              <a:rPr lang="de-DE" dirty="0">
                <a:solidFill>
                  <a:srgbClr val="0070C0"/>
                </a:solidFill>
              </a:rPr>
              <a:t>Datenbanken / Tabellen / Spalten anlegen (CREATE, ALTER)</a:t>
            </a:r>
          </a:p>
          <a:p>
            <a:pPr lvl="1"/>
            <a:r>
              <a:rPr lang="de-DE" dirty="0">
                <a:solidFill>
                  <a:srgbClr val="00B050"/>
                </a:solidFill>
              </a:rPr>
              <a:t>Datensätze einfügen, ändern und löschen</a:t>
            </a:r>
            <a:br>
              <a:rPr lang="de-DE" dirty="0">
                <a:solidFill>
                  <a:srgbClr val="00B050"/>
                </a:solidFill>
              </a:rPr>
            </a:br>
            <a:r>
              <a:rPr lang="de-DE" dirty="0">
                <a:solidFill>
                  <a:srgbClr val="00B050"/>
                </a:solidFill>
              </a:rPr>
              <a:t>(INSERT INTO, DELETE FROM, UPDATE)</a:t>
            </a:r>
          </a:p>
          <a:p>
            <a:pPr lvl="1"/>
            <a:r>
              <a:rPr lang="de-DE" dirty="0">
                <a:solidFill>
                  <a:srgbClr val="C00000"/>
                </a:solidFill>
              </a:rPr>
              <a:t>Datensätze abfragen / auslesen (SELECT)</a:t>
            </a:r>
          </a:p>
          <a:p>
            <a:r>
              <a:rPr lang="de-DE" dirty="0"/>
              <a:t>Die Datenbank </a:t>
            </a:r>
            <a:r>
              <a:rPr lang="de-DE" b="1" dirty="0"/>
              <a:t>SQLite3</a:t>
            </a:r>
            <a:r>
              <a:rPr lang="de-DE" dirty="0"/>
              <a:t> ist Lieferumfang von Python, andere Module müssen nachinstalliert werden</a:t>
            </a:r>
          </a:p>
          <a:p>
            <a:r>
              <a:rPr lang="de-DE" dirty="0">
                <a:solidFill>
                  <a:srgbClr val="FF0000"/>
                </a:solidFill>
              </a:rPr>
              <a:t>Kleine Warnung: Nennen Sie Ihr Python-Skript nicht </a:t>
            </a:r>
            <a:r>
              <a:rPr lang="de-DE" b="1" dirty="0">
                <a:solidFill>
                  <a:srgbClr val="FF0000"/>
                </a:solidFill>
              </a:rPr>
              <a:t>mariadb.py </a:t>
            </a:r>
            <a:r>
              <a:rPr lang="de-DE" dirty="0">
                <a:solidFill>
                  <a:srgbClr val="FF0000"/>
                </a:solidFill>
              </a:rPr>
              <a:t>oder </a:t>
            </a:r>
            <a:r>
              <a:rPr lang="de-DE" b="1" dirty="0">
                <a:solidFill>
                  <a:srgbClr val="FF0000"/>
                </a:solidFill>
              </a:rPr>
              <a:t>sqlite3.py</a:t>
            </a:r>
            <a:r>
              <a:rPr lang="de-DE" dirty="0">
                <a:solidFill>
                  <a:srgbClr val="FF0000"/>
                </a:solidFill>
              </a:rPr>
              <a:t>, da sonst u.U. Namens-Kollisionen mit den gleichnamigen Modulen auftreten!</a:t>
            </a:r>
          </a:p>
        </p:txBody>
      </p:sp>
    </p:spTree>
    <p:extLst>
      <p:ext uri="{BB962C8B-B14F-4D97-AF65-F5344CB8AC3E}">
        <p14:creationId xmlns:p14="http://schemas.microsoft.com/office/powerpoint/2010/main" val="371241429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8DD5CC-E994-CA91-358C-E56700085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Datenbank-</a:t>
            </a:r>
            <a:r>
              <a:rPr lang="de-DE" dirty="0" err="1"/>
              <a:t>Connectoren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9C4EB3-48A2-AE33-21D2-13EF2C347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743200"/>
          </a:xfrm>
        </p:spPr>
        <p:txBody>
          <a:bodyPr>
            <a:normAutofit fontScale="85000" lnSpcReduction="10000"/>
          </a:bodyPr>
          <a:lstStyle/>
          <a:p>
            <a:r>
              <a:rPr lang="de-DE" dirty="0"/>
              <a:t>Zum Zugriff auf Datenbanken muss man in Python zunächst das korrekte Connector-Modul importieren.</a:t>
            </a:r>
          </a:p>
          <a:p>
            <a:r>
              <a:rPr lang="de-DE" dirty="0"/>
              <a:t>Das Modul muss vorher natürlich mit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pip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modulname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de-DE" dirty="0"/>
              <a:t>installiert werden (Ausnahme: 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sqlite3</a:t>
            </a:r>
            <a:r>
              <a:rPr lang="de-DE" dirty="0"/>
              <a:t>, ist in Python enthalten)</a:t>
            </a:r>
          </a:p>
          <a:p>
            <a:r>
              <a:rPr lang="de-DE" dirty="0"/>
              <a:t>Populäre Module sind u.a.:</a:t>
            </a:r>
          </a:p>
          <a:p>
            <a:endParaRPr lang="de-DE" dirty="0"/>
          </a:p>
        </p:txBody>
      </p:sp>
      <p:graphicFrame>
        <p:nvGraphicFramePr>
          <p:cNvPr id="5" name="Tabelle 5">
            <a:extLst>
              <a:ext uri="{FF2B5EF4-FFF2-40B4-BE49-F238E27FC236}">
                <a16:creationId xmlns:a16="http://schemas.microsoft.com/office/drawing/2014/main" id="{1425F890-5E95-37F3-61BC-8053B74B24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655893"/>
              </p:ext>
            </p:extLst>
          </p:nvPr>
        </p:nvGraphicFramePr>
        <p:xfrm>
          <a:off x="899592" y="4077072"/>
          <a:ext cx="583264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766">
                  <a:extLst>
                    <a:ext uri="{9D8B030D-6E8A-4147-A177-3AD203B41FA5}">
                      <a16:colId xmlns:a16="http://schemas.microsoft.com/office/drawing/2014/main" val="2310336416"/>
                    </a:ext>
                  </a:extLst>
                </a:gridCol>
                <a:gridCol w="3769882">
                  <a:extLst>
                    <a:ext uri="{9D8B030D-6E8A-4147-A177-3AD203B41FA5}">
                      <a16:colId xmlns:a16="http://schemas.microsoft.com/office/drawing/2014/main" val="1505944997"/>
                    </a:ext>
                  </a:extLst>
                </a:gridCol>
              </a:tblGrid>
              <a:tr h="256028">
                <a:tc>
                  <a:txBody>
                    <a:bodyPr/>
                    <a:lstStyle/>
                    <a:p>
                      <a:r>
                        <a:rPr lang="de-DE" sz="1400" dirty="0"/>
                        <a:t>Datenbank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Python Modulname (</a:t>
                      </a:r>
                      <a:r>
                        <a:rPr lang="de-DE" sz="1400" dirty="0" err="1"/>
                        <a:t>pip</a:t>
                      </a:r>
                      <a:r>
                        <a:rPr lang="de-DE" sz="1400" dirty="0"/>
                        <a:t> </a:t>
                      </a:r>
                      <a:r>
                        <a:rPr lang="de-DE" sz="1400" dirty="0" err="1"/>
                        <a:t>install</a:t>
                      </a:r>
                      <a:r>
                        <a:rPr lang="de-DE" sz="1400" dirty="0"/>
                        <a:t> &lt;</a:t>
                      </a:r>
                      <a:r>
                        <a:rPr lang="de-DE" sz="1400" dirty="0" err="1"/>
                        <a:t>modulname</a:t>
                      </a:r>
                      <a:r>
                        <a:rPr lang="de-DE" sz="1400" dirty="0"/>
                        <a:t>&gt;)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781699"/>
                  </a:ext>
                </a:extLst>
              </a:tr>
              <a:tr h="256028">
                <a:tc>
                  <a:txBody>
                    <a:bodyPr/>
                    <a:lstStyle/>
                    <a:p>
                      <a:r>
                        <a:rPr lang="de-DE" sz="1400" dirty="0"/>
                        <a:t>SQLite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sqlite3 (keine Installation notwendig)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721315"/>
                  </a:ext>
                </a:extLst>
              </a:tr>
              <a:tr h="256028">
                <a:tc>
                  <a:txBody>
                    <a:bodyPr/>
                    <a:lstStyle/>
                    <a:p>
                      <a:r>
                        <a:rPr lang="de-DE" sz="1400" dirty="0" err="1"/>
                        <a:t>mySQL</a:t>
                      </a:r>
                      <a:r>
                        <a:rPr lang="de-DE" sz="1400" dirty="0"/>
                        <a:t>, </a:t>
                      </a:r>
                      <a:r>
                        <a:rPr lang="de-DE" sz="1400" dirty="0" err="1"/>
                        <a:t>MariaDB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err="1"/>
                        <a:t>mariadb</a:t>
                      </a:r>
                      <a:r>
                        <a:rPr lang="de-DE" sz="1400" dirty="0"/>
                        <a:t> oder </a:t>
                      </a:r>
                      <a:r>
                        <a:rPr lang="de-DE" sz="1400" dirty="0" err="1"/>
                        <a:t>mysql-connector-python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136774"/>
                  </a:ext>
                </a:extLst>
              </a:tr>
              <a:tr h="256028">
                <a:tc>
                  <a:txBody>
                    <a:bodyPr/>
                    <a:lstStyle/>
                    <a:p>
                      <a:r>
                        <a:rPr lang="de-DE" sz="1400" dirty="0"/>
                        <a:t>Microsoft SQL-Server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err="1"/>
                        <a:t>pymssql</a:t>
                      </a:r>
                      <a:r>
                        <a:rPr lang="de-DE" sz="1400" dirty="0"/>
                        <a:t> oder </a:t>
                      </a:r>
                      <a:r>
                        <a:rPr lang="de-DE" sz="1400" dirty="0" err="1"/>
                        <a:t>pyodbc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548179"/>
                  </a:ext>
                </a:extLst>
              </a:tr>
              <a:tr h="256028">
                <a:tc>
                  <a:txBody>
                    <a:bodyPr/>
                    <a:lstStyle/>
                    <a:p>
                      <a:r>
                        <a:rPr lang="de-DE" sz="1400" dirty="0"/>
                        <a:t>Oracle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err="1"/>
                        <a:t>cx_Oracle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952067"/>
                  </a:ext>
                </a:extLst>
              </a:tr>
              <a:tr h="256028">
                <a:tc>
                  <a:txBody>
                    <a:bodyPr/>
                    <a:lstStyle/>
                    <a:p>
                      <a:r>
                        <a:rPr lang="de-DE" sz="1400" dirty="0"/>
                        <a:t>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psycopg2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613121"/>
                  </a:ext>
                </a:extLst>
              </a:tr>
              <a:tr h="256028">
                <a:tc>
                  <a:txBody>
                    <a:bodyPr/>
                    <a:lstStyle/>
                    <a:p>
                      <a:r>
                        <a:rPr lang="de-DE" sz="1400" dirty="0"/>
                        <a:t>Microsoft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err="1"/>
                        <a:t>pyodbc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583618"/>
                  </a:ext>
                </a:extLst>
              </a:tr>
              <a:tr h="256028">
                <a:tc>
                  <a:txBody>
                    <a:bodyPr/>
                    <a:lstStyle/>
                    <a:p>
                      <a:r>
                        <a:rPr lang="de-DE" sz="1400" dirty="0"/>
                        <a:t>MongoDB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err="1"/>
                        <a:t>pymongo</a:t>
                      </a:r>
                      <a:r>
                        <a:rPr lang="de-DE" sz="14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276944"/>
                  </a:ext>
                </a:extLst>
              </a:tr>
              <a:tr h="256028">
                <a:tc>
                  <a:txBody>
                    <a:bodyPr/>
                    <a:lstStyle/>
                    <a:p>
                      <a:r>
                        <a:rPr lang="de-DE" sz="1400" dirty="0" err="1"/>
                        <a:t>InfluxDB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err="1"/>
                        <a:t>influxdb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914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6858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A351FA-A7C7-429D-BE05-28379ABFE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/>
              <a:t>Datenbank Module in Python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4AABCA-C74F-465C-8C4C-44E39E8D4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5069160"/>
          </a:xfrm>
        </p:spPr>
        <p:txBody>
          <a:bodyPr>
            <a:normAutofit fontScale="85000" lnSpcReduction="20000"/>
          </a:bodyPr>
          <a:lstStyle/>
          <a:p>
            <a:r>
              <a:rPr lang="de-DE" dirty="0"/>
              <a:t>Beim Python-Modul 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sqlite3</a:t>
            </a:r>
            <a:r>
              <a:rPr lang="de-DE" dirty="0"/>
              <a:t> ist eine SQL-Datenbank (weitgehend MySQL-kompatibel) schon inkludiert und kann "Out-</a:t>
            </a:r>
            <a:r>
              <a:rPr lang="de-DE" dirty="0" err="1"/>
              <a:t>Of</a:t>
            </a:r>
            <a:r>
              <a:rPr lang="de-DE" dirty="0"/>
              <a:t>-The-Box" (ohne Installation mit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pip</a:t>
            </a:r>
            <a:r>
              <a:rPr lang="de-DE" dirty="0"/>
              <a:t>) mit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sqlite3 </a:t>
            </a:r>
            <a:r>
              <a:rPr lang="de-DE" dirty="0"/>
              <a:t>verwendet werden</a:t>
            </a:r>
          </a:p>
          <a:p>
            <a:r>
              <a:rPr lang="de-DE" dirty="0">
                <a:solidFill>
                  <a:srgbClr val="0070C0"/>
                </a:solidFill>
              </a:rPr>
              <a:t>SQLite ist die meistverwendete Datenbank-Engine der Welt. Der Hersteller gibt an, dass es vermutlich über </a:t>
            </a:r>
            <a:br>
              <a:rPr lang="de-DE" dirty="0">
                <a:solidFill>
                  <a:srgbClr val="0070C0"/>
                </a:solidFill>
              </a:rPr>
            </a:br>
            <a:r>
              <a:rPr lang="de-DE" dirty="0">
                <a:solidFill>
                  <a:srgbClr val="0070C0"/>
                </a:solidFill>
              </a:rPr>
              <a:t>1 Billionen (!) Installationen gibt. Siehe </a:t>
            </a:r>
            <a:r>
              <a:rPr lang="de-DE" dirty="0">
                <a:hlinkClick r:id="rId2"/>
              </a:rPr>
              <a:t>https://www.sqlite.org/</a:t>
            </a:r>
            <a:br>
              <a:rPr lang="de-DE" dirty="0"/>
            </a:br>
            <a:r>
              <a:rPr lang="de-DE" sz="23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('…</a:t>
            </a:r>
            <a:r>
              <a:rPr lang="en-US" sz="23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it seems likely that there are over one trillion (1e12) SQLite databases in active use…')</a:t>
            </a:r>
            <a:endParaRPr lang="de-DE" b="1" i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/>
              <a:t>Mit dem Modul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mysql-connector-python</a:t>
            </a:r>
            <a:r>
              <a:rPr lang="de-DE" dirty="0"/>
              <a:t> bzw.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mariadb</a:t>
            </a:r>
            <a:r>
              <a:rPr lang="de-DE" dirty="0"/>
              <a:t> kann man auf übers Netzwerk erreichbare DB-Server zugreifen, das Connector-Modul muss aber erst installiert werden (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pip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mysql-connector-python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300" dirty="0"/>
              <a:t>oder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pip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mariadb</a:t>
            </a:r>
            <a:r>
              <a:rPr 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5758091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2E08B3-9E10-4486-B7E3-7434B1884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03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de-DE"/>
              <a:t>SQLite3 </a:t>
            </a:r>
            <a:r>
              <a:rPr lang="de-DE" dirty="0"/>
              <a:t>vs. </a:t>
            </a:r>
            <a:r>
              <a:rPr lang="de-DE" dirty="0" err="1"/>
              <a:t>MariaDB</a:t>
            </a:r>
            <a:r>
              <a:rPr lang="de-DE" dirty="0"/>
              <a:t> </a:t>
            </a:r>
            <a:r>
              <a:rPr lang="de-DE"/>
              <a:t>/ MySQL-Server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06FD529-089D-401B-8AF9-8094F59CB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de-DE" dirty="0"/>
              <a:t>sqlite3	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125E7AC-F50F-4AFF-A86A-3629F77EC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147235"/>
          </a:xfrm>
        </p:spPr>
        <p:txBody>
          <a:bodyPr>
            <a:normAutofit fontScale="85000" lnSpcReduction="20000"/>
          </a:bodyPr>
          <a:lstStyle/>
          <a:p>
            <a:r>
              <a:rPr lang="de-DE" dirty="0"/>
              <a:t>Datenkommunikation übers Dateisystem (lokal) </a:t>
            </a:r>
            <a:r>
              <a:rPr lang="de-DE" dirty="0">
                <a:sym typeface="Wingdings" panose="05000000000000000000" pitchFamily="2" charset="2"/>
              </a:rPr>
              <a:t> Performant</a:t>
            </a:r>
            <a:endParaRPr lang="de-DE" dirty="0"/>
          </a:p>
          <a:p>
            <a:r>
              <a:rPr lang="de-DE" dirty="0"/>
              <a:t>Kein Serverdienst nötig</a:t>
            </a:r>
          </a:p>
          <a:p>
            <a:r>
              <a:rPr lang="de-DE" dirty="0"/>
              <a:t>Pro DB-Datei eine Datenbank</a:t>
            </a:r>
          </a:p>
          <a:p>
            <a:r>
              <a:rPr lang="de-DE" dirty="0"/>
              <a:t>Ideal wenn Applikation und DB auf einem Rechner sind</a:t>
            </a:r>
          </a:p>
          <a:p>
            <a:r>
              <a:rPr lang="de-DE" dirty="0"/>
              <a:t>Für kleine und mittelschwere Last (einige 100.000 Zugriffe/Monat)</a:t>
            </a:r>
          </a:p>
          <a:p>
            <a:r>
              <a:rPr lang="de-DE" dirty="0"/>
              <a:t>Kleiner Speicherbedarf</a:t>
            </a:r>
          </a:p>
          <a:p>
            <a:r>
              <a:rPr lang="de-DE" dirty="0"/>
              <a:t>Transaktionsfähig</a:t>
            </a:r>
          </a:p>
          <a:p>
            <a:r>
              <a:rPr lang="de-DE" dirty="0"/>
              <a:t>Einige SQL-Funktionen fehlen</a:t>
            </a:r>
          </a:p>
          <a:p>
            <a:r>
              <a:rPr lang="de-DE" dirty="0"/>
              <a:t>Weniger Datentypen (REAL, INTEGER, TEXT, BLOB, NULL)</a:t>
            </a:r>
          </a:p>
          <a:p>
            <a:r>
              <a:rPr lang="de-DE" dirty="0"/>
              <a:t>Keine Benutzerverwaltung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FF58BC5-8EA4-4748-8259-691E0F45B5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de-DE" dirty="0" err="1"/>
              <a:t>MariaDB</a:t>
            </a:r>
            <a:r>
              <a:rPr lang="de-DE" dirty="0"/>
              <a:t> / </a:t>
            </a:r>
            <a:r>
              <a:rPr lang="de-DE" dirty="0" err="1"/>
              <a:t>mySQL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6E66AB5E-1F7D-4EFB-B6A1-9789BAE67C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5025" y="2198659"/>
            <a:ext cx="4041775" cy="3951288"/>
          </a:xfrm>
        </p:spPr>
        <p:txBody>
          <a:bodyPr>
            <a:normAutofit fontScale="85000" lnSpcReduction="20000"/>
          </a:bodyPr>
          <a:lstStyle/>
          <a:p>
            <a:r>
              <a:rPr lang="de-DE" dirty="0"/>
              <a:t>Datenkommunikation übers Netzwerk, SSL möglich</a:t>
            </a:r>
          </a:p>
          <a:p>
            <a:r>
              <a:rPr lang="de-DE" dirty="0"/>
              <a:t>Läuft als Server bzw. Service</a:t>
            </a:r>
          </a:p>
          <a:p>
            <a:r>
              <a:rPr lang="de-DE" dirty="0"/>
              <a:t>Pro Server beliebig viele DBs</a:t>
            </a:r>
          </a:p>
          <a:p>
            <a:r>
              <a:rPr lang="de-DE" dirty="0"/>
              <a:t>Idealerweise sind Datenbank und Applikation getrennt.</a:t>
            </a:r>
          </a:p>
          <a:p>
            <a:r>
              <a:rPr lang="de-DE" dirty="0"/>
              <a:t>Fast beliebig skalierbar</a:t>
            </a:r>
          </a:p>
          <a:p>
            <a:r>
              <a:rPr lang="de-DE" dirty="0"/>
              <a:t>Transaktionsfähig</a:t>
            </a:r>
          </a:p>
          <a:p>
            <a:r>
              <a:rPr lang="de-DE" dirty="0"/>
              <a:t>Vollständige SQL92-Unterstützung mit Erweiterungen</a:t>
            </a:r>
          </a:p>
          <a:p>
            <a:r>
              <a:rPr lang="de-DE" dirty="0"/>
              <a:t>Benutzerverwaltung</a:t>
            </a:r>
          </a:p>
          <a:p>
            <a:r>
              <a:rPr lang="de-DE" dirty="0"/>
              <a:t>Enterprise Version erhältlich (Support)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BDE09F6-C86A-4915-A765-6DDDF0923763}"/>
              </a:ext>
            </a:extLst>
          </p:cNvPr>
          <p:cNvSpPr txBox="1"/>
          <p:nvPr/>
        </p:nvSpPr>
        <p:spPr>
          <a:xfrm>
            <a:off x="0" y="6322110"/>
            <a:ext cx="9144000" cy="4616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chemeClr val="bg1">
                    <a:lumMod val="95000"/>
                  </a:schemeClr>
                </a:solidFill>
              </a:rPr>
              <a:t>Bei </a:t>
            </a:r>
            <a:r>
              <a:rPr lang="de-DE" sz="2400">
                <a:solidFill>
                  <a:schemeClr val="bg1">
                    <a:lumMod val="95000"/>
                  </a:schemeClr>
                </a:solidFill>
              </a:rPr>
              <a:t>vielen Python-Datenbankapplikationen </a:t>
            </a:r>
            <a:r>
              <a:rPr lang="de-DE" sz="2400" dirty="0">
                <a:solidFill>
                  <a:schemeClr val="bg1">
                    <a:lumMod val="95000"/>
                  </a:schemeClr>
                </a:solidFill>
              </a:rPr>
              <a:t>ist </a:t>
            </a:r>
            <a:r>
              <a:rPr lang="de-DE" sz="2400" dirty="0">
                <a:solidFill>
                  <a:srgbClr val="0070C0"/>
                </a:solidFill>
              </a:rPr>
              <a:t>SQlite3</a:t>
            </a:r>
            <a:r>
              <a:rPr lang="de-DE" sz="2400" dirty="0">
                <a:solidFill>
                  <a:schemeClr val="bg1">
                    <a:lumMod val="95000"/>
                  </a:schemeClr>
                </a:solidFill>
              </a:rPr>
              <a:t> völlig ausreichend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6E0AAE9-C087-4B67-82E7-9D5360897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283324"/>
            <a:ext cx="1861326" cy="83902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76D5F55-4360-4D98-A748-A3211314A6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613" b="24394"/>
          <a:stretch/>
        </p:blipFill>
        <p:spPr>
          <a:xfrm>
            <a:off x="5509440" y="1078169"/>
            <a:ext cx="2286328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22625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239779-EAFE-409E-97B9-1F80D3BD4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Struktogramme SQLite3-Datenbank-Zugriff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7BC1679-3162-BBF9-5E3F-DB739040F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1646665"/>
            <a:ext cx="5647775" cy="1782335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18DCDCA-3D18-C0EA-1DA8-DEAC98A6F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3573016"/>
            <a:ext cx="5638200" cy="2520280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C4A1957-8148-2F18-F963-6142328BC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864" y="2136731"/>
            <a:ext cx="3428136" cy="2977581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297649259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AEE588-3D9D-42DB-862A-91F699409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Vorbereiten </a:t>
            </a:r>
            <a:r>
              <a:rPr lang="de-DE" dirty="0"/>
              <a:t>des DB-Zugriffs (</a:t>
            </a:r>
            <a:r>
              <a:rPr lang="de-DE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sqlite3</a:t>
            </a:r>
            <a:r>
              <a:rPr lang="de-DE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8A3D74-8B95-4476-A233-C058A2640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928992" cy="5141168"/>
          </a:xfrm>
        </p:spPr>
        <p:txBody>
          <a:bodyPr>
            <a:normAutofit fontScale="77500" lnSpcReduction="20000"/>
          </a:bodyPr>
          <a:lstStyle/>
          <a:p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sqlite3 </a:t>
            </a:r>
            <a:r>
              <a:rPr lang="de-DE" dirty="0">
                <a:sym typeface="Wingdings" panose="05000000000000000000" pitchFamily="2" charset="2"/>
              </a:rPr>
              <a:t> Importiert das Modul</a:t>
            </a:r>
          </a:p>
          <a:p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db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sqlite3.connect("datenbank.sqlite3") </a:t>
            </a:r>
            <a:b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</a:br>
            <a:r>
              <a:rPr lang="de-DE" dirty="0">
                <a:sym typeface="Wingdings" panose="05000000000000000000" pitchFamily="2" charset="2"/>
              </a:rPr>
              <a:t> Erzeugt eine Verbindung zur DB-Datei in Python. Falls die DB nicht vorhanden ist, wird sie angelegt.</a:t>
            </a:r>
          </a:p>
          <a:p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db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sqlite3.connect(":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memory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:")  </a:t>
            </a:r>
            <a:r>
              <a:rPr lang="de-DE" dirty="0">
                <a:sym typeface="Wingdings" panose="05000000000000000000" pitchFamily="2" charset="2"/>
              </a:rPr>
              <a:t>erzeugt eine DB im RAM. Diese ist nicht persistent, also nicht dauerhaft!</a:t>
            </a:r>
          </a:p>
          <a:p>
            <a:r>
              <a:rPr lang="de-DE" dirty="0">
                <a:sym typeface="Wingdings" panose="05000000000000000000" pitchFamily="2" charset="2"/>
              </a:rPr>
              <a:t>Danach einen "Cursor" anlegen mit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cursor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db.cursor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</a:t>
            </a:r>
          </a:p>
          <a:p>
            <a:r>
              <a:rPr lang="de-DE" dirty="0">
                <a:sym typeface="Wingdings" panose="05000000000000000000" pitchFamily="2" charset="2"/>
              </a:rPr>
              <a:t>Um SQL-Befehle auszuführen, erzeugt man zunächst einen SQL-String und übergibt den dann an den Cursor mit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cursor.execute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sqlstring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 </a:t>
            </a:r>
            <a:r>
              <a:rPr lang="de-DE" dirty="0">
                <a:sym typeface="Wingdings" panose="05000000000000000000" pitchFamily="2" charset="2"/>
              </a:rPr>
              <a:t>zur Ausführung:</a:t>
            </a:r>
            <a:br>
              <a:rPr lang="de-DE" dirty="0">
                <a:sym typeface="Wingdings" panose="05000000000000000000" pitchFamily="2" charset="2"/>
              </a:rPr>
            </a:br>
            <a:r>
              <a:rPr lang="de-DE" sz="15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sql</a:t>
            </a:r>
            <a:r>
              <a:rPr lang="de-DE" sz="15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"CREATE TABLE </a:t>
            </a:r>
            <a:r>
              <a:rPr lang="de-DE" sz="15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tblArtikel</a:t>
            </a:r>
            <a:r>
              <a:rPr lang="de-DE" sz="15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15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id</a:t>
            </a:r>
            <a:r>
              <a:rPr lang="de-DE" sz="15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INTEGER PRIMARY KEY AUTOINCREMENT, Name TEXT, Anzahl INTEGER, Preis REAL)"</a:t>
            </a:r>
            <a:br>
              <a:rPr lang="de-DE" sz="3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</a:br>
            <a:r>
              <a:rPr lang="de-DE" sz="15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cursor.execute</a:t>
            </a:r>
            <a:r>
              <a:rPr lang="de-DE" sz="15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15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sql</a:t>
            </a:r>
            <a:r>
              <a:rPr lang="de-DE" sz="15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</a:t>
            </a:r>
            <a:endParaRPr lang="de-DE" sz="13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db.close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dirty="0">
                <a:sym typeface="Wingdings" panose="05000000000000000000" pitchFamily="2" charset="2"/>
              </a:rPr>
              <a:t> Schließt die Datenbank-Verbindung.</a:t>
            </a:r>
          </a:p>
          <a:p>
            <a:r>
              <a:rPr lang="de-DE" sz="3000" b="1" dirty="0"/>
              <a:t>Tipp</a:t>
            </a:r>
            <a:r>
              <a:rPr lang="de-DE" sz="3000" dirty="0"/>
              <a:t>: Mit einem SQLite-Editor, z.B. </a:t>
            </a:r>
            <a:r>
              <a:rPr lang="de-DE" sz="3000" dirty="0">
                <a:hlinkClick r:id="rId2"/>
              </a:rPr>
              <a:t>https://sqlitebrowser.org/</a:t>
            </a:r>
            <a:r>
              <a:rPr lang="de-DE" sz="3000" dirty="0"/>
              <a:t> lassen sich SQLite-Datenbanken / Tabellen einfacher anlegen!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846873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0DE5AB-BB1F-4408-A6AE-A96205605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Daten / Befehle in </a:t>
            </a:r>
            <a:r>
              <a:rPr lang="de-DE" dirty="0"/>
              <a:t>die Datenbank schreiben (</a:t>
            </a:r>
            <a:r>
              <a:rPr lang="de-DE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sqlite3</a:t>
            </a:r>
            <a:r>
              <a:rPr lang="de-DE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01A54-ED8D-4463-A40F-2616A05AF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600200"/>
            <a:ext cx="8856984" cy="4983162"/>
          </a:xfrm>
        </p:spPr>
        <p:txBody>
          <a:bodyPr>
            <a:normAutofit fontScale="62500" lnSpcReduction="20000"/>
          </a:bodyPr>
          <a:lstStyle/>
          <a:p>
            <a:r>
              <a:rPr lang="de-DE" dirty="0"/>
              <a:t>Das Einfügen, Ändern und Löschen (oder auch andere SQL-Befehle) erfolgt über die entsprechenden SQL-Befehle, die 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cursor.execute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DE" dirty="0"/>
              <a:t>ausgeführt werden.</a:t>
            </a:r>
          </a:p>
          <a:p>
            <a:r>
              <a:rPr lang="de-DE" dirty="0"/>
              <a:t>Damit Änderungen von Daten (über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de-DE" dirty="0"/>
              <a:t>,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de-DE" dirty="0"/>
              <a:t>,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de-DE" dirty="0"/>
              <a:t>) dann auch in die Datenbank geschrieben werden ist ein abschließendes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db.commit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DE" sz="3100" dirty="0"/>
              <a:t>unbedingt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notwendig (ansonsten gehen die Änderungen verloren, d.h. werden als offene Transaktionen nicht wirklich gespeichert):</a:t>
            </a:r>
          </a:p>
          <a:p>
            <a:pPr marL="400050" lvl="1" indent="0">
              <a:spcBef>
                <a:spcPts val="600"/>
              </a:spcBef>
              <a:buNone/>
            </a:pPr>
            <a:b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7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27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sqlite3</a:t>
            </a:r>
          </a:p>
          <a:p>
            <a:pPr marL="400050" lvl="1" indent="0">
              <a:spcBef>
                <a:spcPts val="600"/>
              </a:spcBef>
              <a:buNone/>
            </a:pPr>
            <a:r>
              <a:rPr lang="de-DE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de-D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sqlite3.connect("</a:t>
            </a:r>
            <a:r>
              <a:rPr lang="de-DE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datenbank.sqlite</a:t>
            </a:r>
            <a:r>
              <a:rPr lang="de-D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400050" lvl="1" indent="0">
              <a:spcBef>
                <a:spcPts val="600"/>
              </a:spcBef>
              <a:buNone/>
            </a:pPr>
            <a:r>
              <a:rPr lang="de-DE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de-D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db.cursor</a:t>
            </a:r>
            <a:r>
              <a:rPr lang="de-D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00050" lvl="1" indent="0">
              <a:spcBef>
                <a:spcPts val="600"/>
              </a:spcBef>
              <a:buNone/>
            </a:pPr>
            <a:endParaRPr lang="de-DE" sz="2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spcBef>
                <a:spcPts val="600"/>
              </a:spcBef>
              <a:buNone/>
            </a:pPr>
            <a:r>
              <a:rPr lang="de-DE" sz="2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de-DE" sz="2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"INSERT INTO </a:t>
            </a:r>
            <a:r>
              <a:rPr lang="de-DE" sz="2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tblArtikel</a:t>
            </a:r>
            <a:r>
              <a:rPr lang="de-DE" sz="2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(Name, Anzahl) VALUES('Hut',14)"</a:t>
            </a:r>
          </a:p>
          <a:p>
            <a:pPr marL="400050" lvl="1" indent="0">
              <a:spcBef>
                <a:spcPts val="600"/>
              </a:spcBef>
              <a:buNone/>
            </a:pP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cursor.execute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00050" lvl="1" indent="0">
              <a:spcBef>
                <a:spcPts val="600"/>
              </a:spcBef>
              <a:buNone/>
            </a:pP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db.commit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 	# Bestätigt die Transaktion/Speicherung!</a:t>
            </a:r>
            <a:br>
              <a:rPr lang="de-DE" dirty="0"/>
            </a:br>
            <a:endParaRPr lang="de-DE" dirty="0"/>
          </a:p>
          <a:p>
            <a:pPr marL="400050" lvl="1" indent="0">
              <a:spcBef>
                <a:spcPts val="600"/>
              </a:spcBef>
              <a:buNone/>
            </a:pPr>
            <a:r>
              <a:rPr lang="de-DE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db.close</a:t>
            </a:r>
            <a:r>
              <a:rPr lang="de-D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spcBef>
                <a:spcPts val="600"/>
              </a:spcBef>
              <a:buNone/>
            </a:pPr>
            <a:endParaRPr lang="de-DE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7622FC9-4F72-4D00-44EC-F0CD74EE9721}"/>
              </a:ext>
            </a:extLst>
          </p:cNvPr>
          <p:cNvSpPr txBox="1"/>
          <p:nvPr/>
        </p:nvSpPr>
        <p:spPr>
          <a:xfrm>
            <a:off x="4283968" y="5805264"/>
            <a:ext cx="4248472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b="1" u="sng" dirty="0">
                <a:solidFill>
                  <a:srgbClr val="FF0000"/>
                </a:solidFill>
              </a:rPr>
              <a:t>Wichtig</a:t>
            </a:r>
            <a:r>
              <a:rPr lang="de-DE" b="1" dirty="0">
                <a:solidFill>
                  <a:srgbClr val="FF0000"/>
                </a:solidFill>
              </a:rPr>
              <a:t>: Für INSERT, UPDATE, DELETE ist ein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DE" b="1" dirty="0">
                <a:solidFill>
                  <a:srgbClr val="FF0000"/>
                </a:solidFill>
              </a:rPr>
              <a:t>notwendig, sonst werden die Daten in der DB nicht gespeichert!</a:t>
            </a:r>
          </a:p>
        </p:txBody>
      </p:sp>
    </p:spTree>
    <p:extLst>
      <p:ext uri="{BB962C8B-B14F-4D97-AF65-F5344CB8AC3E}">
        <p14:creationId xmlns:p14="http://schemas.microsoft.com/office/powerpoint/2010/main" val="253205216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0DE5AB-BB1F-4408-A6AE-A96205605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3200" dirty="0"/>
              <a:t>Daten aus der Datenbank lesen und auf dem Bildschirm ausgeben (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sqlite3</a:t>
            </a:r>
            <a:r>
              <a:rPr lang="de-DE" sz="3200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01A54-ED8D-4463-A40F-2616A05AF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600200"/>
            <a:ext cx="9036496" cy="5069160"/>
          </a:xfrm>
        </p:spPr>
        <p:txBody>
          <a:bodyPr>
            <a:normAutofit fontScale="62500" lnSpcReduction="20000"/>
          </a:bodyPr>
          <a:lstStyle/>
          <a:p>
            <a:r>
              <a:rPr lang="de-DE" dirty="0"/>
              <a:t>Das Lesen </a:t>
            </a:r>
            <a:r>
              <a:rPr lang="de-DE" dirty="0" err="1"/>
              <a:t>sus</a:t>
            </a:r>
            <a:r>
              <a:rPr lang="de-DE" dirty="0"/>
              <a:t> der DB erfolgt üblicherweise durch einen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de-DE" dirty="0"/>
              <a:t> SQL-Befehl, der 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cursor.execute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DE" dirty="0"/>
              <a:t>ausgeführt wird. Vorher muss der Cursor 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db.cursor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dirty="0"/>
              <a:t>erzeugt werden.</a:t>
            </a:r>
          </a:p>
          <a:p>
            <a:r>
              <a:rPr lang="de-DE" dirty="0"/>
              <a:t>Die ausgelesenen Datensätze sind dann im Objekt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de-DE" dirty="0"/>
              <a:t> gespeichert und können z.B. in einer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de-DE" sz="4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- Schleife ausgelesen und 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dirty="0"/>
              <a:t>in einem f-String ausgegeben werden.</a:t>
            </a:r>
          </a:p>
          <a:p>
            <a:r>
              <a:rPr lang="de-DE" dirty="0"/>
              <a:t>Die SELECT-Abfrage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sqlite_master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liefert bei SQLite die Struktur der Datenbank im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de-DE" dirty="0"/>
              <a:t>-Objekt zurück (das Datenbank-Schema).</a:t>
            </a:r>
          </a:p>
          <a:p>
            <a:pPr marL="0" indent="0">
              <a:buNone/>
            </a:pPr>
            <a:endParaRPr lang="de-DE" sz="26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6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de-DE" sz="2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sqlite3.connect("</a:t>
            </a:r>
            <a:r>
              <a:rPr lang="de-DE" sz="26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datenbank.sqlite</a:t>
            </a:r>
            <a:r>
              <a:rPr lang="de-DE" sz="2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b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</a:b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cursor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db.cursor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</a:t>
            </a:r>
          </a:p>
          <a:p>
            <a:pPr marL="0" indent="0">
              <a:buNone/>
            </a:pP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"SELECT * FROM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tblArtikel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buNone/>
            </a:pP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cursor.execute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sz="2600" dirty="0"/>
              <a:t>	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(f"{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[0]:4} {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[1]:12} {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[2]:5}") # Datensatz f-String  </a:t>
            </a:r>
          </a:p>
          <a:p>
            <a:pPr marL="0" indent="0">
              <a:buNone/>
            </a:pPr>
            <a:br>
              <a:rPr lang="de-DE" sz="2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6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db.close</a:t>
            </a:r>
            <a:r>
              <a:rPr lang="de-DE" sz="2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27545750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E92684-6A59-B30B-4167-8FC51E38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Was ist der "Datenbank-Cursor"?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4394CD-1389-C506-8BEC-A17B2D338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5141168"/>
          </a:xfrm>
        </p:spPr>
        <p:txBody>
          <a:bodyPr>
            <a:normAutofit fontScale="70000" lnSpcReduction="20000"/>
          </a:bodyPr>
          <a:lstStyle/>
          <a:p>
            <a:r>
              <a:rPr lang="de-DE" dirty="0"/>
              <a:t>Zum Kommunizieren mit der Datenbank muss zunächst ein Verbindungsobjekt ("Connection") erzeugt werden (je nach DB mit </a:t>
            </a:r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de-DE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sqlite.connect</a:t>
            </a:r>
            <a:r>
              <a:rPr lang="de-DE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dateiname</a:t>
            </a:r>
            <a:r>
              <a:rPr lang="de-DE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de-DE" dirty="0"/>
              <a:t>oder </a:t>
            </a:r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de-DE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mariadb.connect</a:t>
            </a:r>
            <a:r>
              <a:rPr lang="de-DE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(…, …, …,) </a:t>
            </a:r>
          </a:p>
          <a:p>
            <a:r>
              <a:rPr lang="de-DE" dirty="0"/>
              <a:t>Danach benötigt man aber ein Cursor-Objekt; erzeugt wird es z.B. 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crs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db.cursor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DE" dirty="0"/>
              <a:t>, welches einerseits SQL-Befehle an die Datenbank sendet (mit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cursor.execute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de-DE" dirty="0"/>
              <a:t>), andererseits aber auch Ergebnisse von Abfragen entgegennimmt, damit diese in Python weiterverarbeitet werden können.</a:t>
            </a:r>
          </a:p>
          <a:p>
            <a:r>
              <a:rPr lang="de-DE" dirty="0"/>
              <a:t>Der 2-dimensionale Inhalt des Cursors kann nach einer Abfrage mit einer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de-DE" dirty="0"/>
              <a:t> Schleife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durchlaufen und ausgewertet / angezeigt werden.</a:t>
            </a:r>
          </a:p>
          <a:p>
            <a:r>
              <a:rPr lang="de-DE" dirty="0"/>
              <a:t>Noch besser ist es das Abfrageergebnis in einer eigene Listenvariable zu übernehmen: </a:t>
            </a:r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cursor.fetchall</a:t>
            </a:r>
            <a:r>
              <a:rPr lang="de-DE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de-DE" dirty="0"/>
              <a:t>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cursor.rowcount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kann man nach einem </a:t>
            </a:r>
            <a:r>
              <a:rPr lang="de-DE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de-DE" dirty="0"/>
              <a:t>, </a:t>
            </a:r>
            <a:r>
              <a:rPr lang="de-DE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de-DE" dirty="0"/>
              <a:t>, </a:t>
            </a:r>
            <a:r>
              <a:rPr lang="de-DE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de-DE" dirty="0"/>
              <a:t> oder </a:t>
            </a:r>
            <a:r>
              <a:rPr lang="de-DE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de-DE" dirty="0"/>
              <a:t> die Anzahl der betroffenen Datensätze ermitteln (Funktioniert bei </a:t>
            </a:r>
            <a:r>
              <a:rPr lang="de-DE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de-DE" dirty="0"/>
              <a:t> nicht mit SQLite3)  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10666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0DE5AB-BB1F-4408-A6AE-A96205605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3200"/>
              <a:t>Daten mit </a:t>
            </a:r>
            <a:r>
              <a:rPr lang="de-DE" sz="2800" b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cursor.fetchall() </a:t>
            </a:r>
            <a:r>
              <a:rPr lang="de-DE" sz="3200"/>
              <a:t>in eine eigene Listenvariable einlesen</a:t>
            </a:r>
            <a:endParaRPr lang="de-DE" sz="32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01A54-ED8D-4463-A40F-2616A05AF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600200"/>
            <a:ext cx="9036496" cy="5285184"/>
          </a:xfrm>
        </p:spPr>
        <p:txBody>
          <a:bodyPr>
            <a:normAutofit fontScale="70000" lnSpcReduction="20000"/>
          </a:bodyPr>
          <a:lstStyle/>
          <a:p>
            <a:r>
              <a:rPr lang="de-DE" dirty="0"/>
              <a:t>Alternativ kann man z.B. 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cursor.fetchall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dirty="0"/>
              <a:t>das gesamte Abfrageergebnis in eine eigene Variable einlesen lassen. </a:t>
            </a:r>
          </a:p>
          <a:p>
            <a:r>
              <a:rPr lang="de-DE" dirty="0"/>
              <a:t>Vorteil: Die DB kann dann unmittelbar geschlossen werden oder der Cursor in einer anderen Abfrage verwendet werden. Ansonsten gibt es u.U. Fehlermeldungen </a:t>
            </a:r>
            <a:r>
              <a:rPr lang="de-DE" sz="3100" dirty="0"/>
              <a:t>(z.B. </a:t>
            </a:r>
            <a:r>
              <a:rPr lang="en-US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Unread result found.</a:t>
            </a:r>
            <a:r>
              <a:rPr lang="en-US" sz="3100" dirty="0"/>
              <a:t>)</a:t>
            </a:r>
            <a:endParaRPr lang="de-DE" sz="3100" dirty="0"/>
          </a:p>
          <a:p>
            <a:r>
              <a:rPr lang="de-DE" dirty="0"/>
              <a:t>Die ausgelesenen Datensätze sind dann in der Variable gespeichert und können z.B. in einer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datensatz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daten:</a:t>
            </a:r>
            <a:r>
              <a:rPr lang="de-DE" sz="4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- Schleife ausgelesen und 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dirty="0"/>
              <a:t>ausgegeben werden.</a:t>
            </a:r>
          </a:p>
          <a:p>
            <a:pPr marL="0" indent="0">
              <a:buNone/>
            </a:pPr>
            <a:endParaRPr lang="de-DE" sz="26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26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de-DE" sz="2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sqlite3.connect("</a:t>
            </a:r>
            <a:r>
              <a:rPr lang="de-DE" sz="26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datenbank.sqlite</a:t>
            </a:r>
            <a:r>
              <a:rPr lang="de-DE" sz="2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de-DE" sz="26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cursor</a:t>
            </a:r>
            <a:r>
              <a:rPr lang="de-DE" sz="2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</a:t>
            </a:r>
            <a:r>
              <a:rPr lang="de-DE" sz="26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db.cursor</a:t>
            </a:r>
            <a:r>
              <a:rPr lang="de-DE" sz="2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</a:t>
            </a:r>
          </a:p>
          <a:p>
            <a:pPr marL="0" indent="0">
              <a:buNone/>
            </a:pPr>
            <a:r>
              <a:rPr lang="de-DE" sz="26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de-DE" sz="2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"SELECT * FROM </a:t>
            </a:r>
            <a:r>
              <a:rPr lang="de-DE" sz="26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tblArtikel</a:t>
            </a:r>
            <a:r>
              <a:rPr lang="de-DE" sz="2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buNone/>
            </a:pPr>
            <a:r>
              <a:rPr lang="de-DE" sz="26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cursor.execute</a:t>
            </a:r>
            <a:r>
              <a:rPr lang="de-DE" sz="2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6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de-DE" sz="2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b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2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cursor.fetchall</a:t>
            </a:r>
            <a:r>
              <a:rPr lang="de-DE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# Übernahme in eigene Variable</a:t>
            </a:r>
          </a:p>
          <a:p>
            <a:pPr marL="0" indent="0">
              <a:buNone/>
            </a:pP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db.close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			</a:t>
            </a:r>
            <a:r>
              <a:rPr lang="de-DE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Kann jetzt geschlossen werden</a:t>
            </a:r>
          </a:p>
          <a:p>
            <a:pPr marL="0" indent="0">
              <a:buNone/>
            </a:pP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sz="2600" dirty="0"/>
              <a:t>	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(f"{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[0]:4} {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[1]:12} {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[2]:8.2f}") </a:t>
            </a:r>
            <a:r>
              <a:rPr lang="de-DE" sz="23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Datensatz</a:t>
            </a:r>
            <a:endParaRPr lang="de-DE" sz="2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81007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3F8A63-98C7-14FB-85D7-C6194C590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Komplexere SQL-Strings mit Parameterbindung definieren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6B9615-70E1-AB3F-9EA9-722079604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fontScale="77500" lnSpcReduction="20000"/>
          </a:bodyPr>
          <a:lstStyle/>
          <a:p>
            <a:r>
              <a:rPr lang="de-DE" dirty="0"/>
              <a:t>Setzt man einen SQL-String (z.B. für ein </a:t>
            </a:r>
            <a:r>
              <a:rPr lang="de-DE" b="1" dirty="0"/>
              <a:t>INSERT </a:t>
            </a:r>
            <a:r>
              <a:rPr lang="de-DE" dirty="0"/>
              <a:t>oder</a:t>
            </a:r>
            <a:r>
              <a:rPr lang="de-DE" b="1" dirty="0"/>
              <a:t> SELECT</a:t>
            </a:r>
            <a:r>
              <a:rPr lang="de-DE" dirty="0"/>
              <a:t>) aus mehreren Variablen zusammen, wird das Ganze oft komplex.</a:t>
            </a:r>
          </a:p>
          <a:p>
            <a:r>
              <a:rPr lang="de-DE" dirty="0"/>
              <a:t>Abhilfe schafft die Parametrisierung des </a:t>
            </a:r>
            <a:r>
              <a:rPr lang="de-DE" dirty="0" err="1"/>
              <a:t>sql</a:t>
            </a:r>
            <a:r>
              <a:rPr lang="de-DE" dirty="0"/>
              <a:t>-Strings, an Stelle der Variablen werden </a:t>
            </a:r>
            <a:r>
              <a:rPr lang="de-DE" b="1" dirty="0"/>
              <a:t>?</a:t>
            </a:r>
            <a:r>
              <a:rPr lang="de-DE" dirty="0"/>
              <a:t> als Platzhalter eingefügt:</a:t>
            </a:r>
            <a:br>
              <a:rPr lang="de-DE" dirty="0"/>
            </a:br>
            <a:r>
              <a:rPr lang="de-DE" sz="2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sql</a:t>
            </a:r>
            <a:r>
              <a:rPr lang="de-DE" sz="2600" b="1" dirty="0">
                <a:solidFill>
                  <a:srgbClr val="0070C0"/>
                </a:solidFill>
                <a:latin typeface="Consolas" panose="020B0609020204030204" pitchFamily="49" charset="0"/>
              </a:rPr>
              <a:t>="INSERT INTO </a:t>
            </a:r>
            <a:r>
              <a:rPr lang="de-DE" sz="2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tblArtikel</a:t>
            </a:r>
            <a:r>
              <a:rPr lang="de-DE" sz="2600" b="1" dirty="0">
                <a:solidFill>
                  <a:srgbClr val="0070C0"/>
                </a:solidFill>
                <a:latin typeface="Consolas" panose="020B0609020204030204" pitchFamily="49" charset="0"/>
              </a:rPr>
              <a:t> (Name, Anzahl) VALUES (?,?)"</a:t>
            </a:r>
            <a:endParaRPr lang="de-DE" b="1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de-DE" dirty="0"/>
              <a:t>Die an den Platzhaltern einzufügenden Variablen werden dann an </a:t>
            </a:r>
            <a:r>
              <a:rPr lang="de-DE" sz="2600" b="1" dirty="0" err="1">
                <a:latin typeface="Consolas" panose="020B0609020204030204" pitchFamily="49" charset="0"/>
              </a:rPr>
              <a:t>cursor.execute</a:t>
            </a:r>
            <a:r>
              <a:rPr lang="de-DE" sz="2600" b="1" dirty="0">
                <a:latin typeface="Consolas" panose="020B0609020204030204" pitchFamily="49" charset="0"/>
              </a:rPr>
              <a:t> </a:t>
            </a:r>
            <a:r>
              <a:rPr lang="de-DE" dirty="0"/>
              <a:t>als Liste oder Tupel (Parameter) übergeben:</a:t>
            </a:r>
            <a:br>
              <a:rPr lang="de-DE" dirty="0"/>
            </a:br>
            <a:r>
              <a:rPr lang="de-DE" sz="2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cursor.execute</a:t>
            </a:r>
            <a:r>
              <a:rPr lang="de-DE" sz="2600" b="1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de-DE" sz="2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sql</a:t>
            </a:r>
            <a:r>
              <a:rPr lang="de-DE" sz="2600" b="1" dirty="0">
                <a:solidFill>
                  <a:srgbClr val="0070C0"/>
                </a:solidFill>
                <a:latin typeface="Consolas" panose="020B0609020204030204" pitchFamily="49" charset="0"/>
              </a:rPr>
              <a:t>, [</a:t>
            </a:r>
            <a:r>
              <a:rPr lang="de-DE" sz="2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n,a</a:t>
            </a:r>
            <a:r>
              <a:rPr lang="de-DE" sz="2600" b="1" dirty="0">
                <a:solidFill>
                  <a:srgbClr val="0070C0"/>
                </a:solidFill>
                <a:latin typeface="Consolas" panose="020B0609020204030204" pitchFamily="49" charset="0"/>
              </a:rPr>
              <a:t>])</a:t>
            </a:r>
            <a:endParaRPr lang="de-DE" dirty="0">
              <a:solidFill>
                <a:srgbClr val="0070C0"/>
              </a:solidFill>
            </a:endParaRPr>
          </a:p>
          <a:p>
            <a:r>
              <a:rPr lang="de-DE" dirty="0"/>
              <a:t>Vorteile dieses Vorgehens:</a:t>
            </a:r>
          </a:p>
          <a:p>
            <a:pPr lvl="1"/>
            <a:r>
              <a:rPr lang="de-DE" dirty="0"/>
              <a:t>Einfacher zu Programmieren, Bessere Lesbarkeit</a:t>
            </a:r>
          </a:p>
          <a:p>
            <a:pPr lvl="1"/>
            <a:r>
              <a:rPr lang="de-DE" dirty="0"/>
              <a:t>Schutz vor SQL-</a:t>
            </a:r>
            <a:r>
              <a:rPr lang="de-DE" dirty="0" err="1"/>
              <a:t>Injection</a:t>
            </a:r>
            <a:r>
              <a:rPr lang="de-DE" dirty="0"/>
              <a:t>, da injizierte, bösartige SQL-Befehle als Strings behandelt werden und Sonderzeichen entfernt werden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Injection</a:t>
            </a:r>
            <a:r>
              <a:rPr lang="de-DE" dirty="0">
                <a:sym typeface="Wingdings" panose="05000000000000000000" pitchFamily="2" charset="2"/>
              </a:rPr>
              <a:t> läuft ins Leere</a:t>
            </a:r>
            <a:endParaRPr lang="de-DE" dirty="0"/>
          </a:p>
          <a:p>
            <a:pPr lvl="1"/>
            <a:r>
              <a:rPr lang="de-DE" dirty="0"/>
              <a:t>Die Variablentypen werden korrekt übergeben, egal ob Strings oder Zahlen</a:t>
            </a:r>
          </a:p>
          <a:p>
            <a:pPr lvl="1"/>
            <a:r>
              <a:rPr lang="de-DE" dirty="0"/>
              <a:t>Performance kann/soll besser sein (Caching)</a:t>
            </a:r>
          </a:p>
        </p:txBody>
      </p:sp>
    </p:spTree>
    <p:extLst>
      <p:ext uri="{BB962C8B-B14F-4D97-AF65-F5344CB8AC3E}">
        <p14:creationId xmlns:p14="http://schemas.microsoft.com/office/powerpoint/2010/main" val="224331166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766135-D751-AEF0-BE80-475265DB6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Weitere Tipps SQLite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645B2C-D2D0-D9D7-CCEF-85B08098F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5069160"/>
          </a:xfrm>
        </p:spPr>
        <p:txBody>
          <a:bodyPr>
            <a:normAutofit fontScale="77500" lnSpcReduction="20000"/>
          </a:bodyPr>
          <a:lstStyle/>
          <a:p>
            <a:r>
              <a:rPr lang="de-DE" dirty="0"/>
              <a:t>Mit folgendem SQL lässt sich der Inhalt einer Tabelle </a:t>
            </a:r>
            <a:r>
              <a:rPr lang="de-DE" b="1" dirty="0" err="1"/>
              <a:t>users</a:t>
            </a:r>
            <a:r>
              <a:rPr lang="de-DE" dirty="0"/>
              <a:t> in die Tabelle </a:t>
            </a:r>
            <a:r>
              <a:rPr lang="de-DE" b="1" dirty="0" err="1"/>
              <a:t>persons</a:t>
            </a:r>
            <a:r>
              <a:rPr lang="de-DE" dirty="0"/>
              <a:t> kopieren:</a:t>
            </a:r>
            <a:br>
              <a:rPr lang="de-DE" dirty="0"/>
            </a:br>
            <a:r>
              <a:rPr lang="en-US" sz="2000" b="1" dirty="0">
                <a:latin typeface="Consolas" panose="020B0609020204030204" pitchFamily="49" charset="0"/>
              </a:rPr>
              <a:t>INSERT INTO persons(</a:t>
            </a:r>
            <a:r>
              <a:rPr lang="en-US" sz="2000" b="1" dirty="0" err="1">
                <a:latin typeface="Consolas" panose="020B0609020204030204" pitchFamily="49" charset="0"/>
              </a:rPr>
              <a:t>UserId</a:t>
            </a:r>
            <a:r>
              <a:rPr lang="en-US" sz="2000" b="1" dirty="0">
                <a:latin typeface="Consolas" panose="020B0609020204030204" pitchFamily="49" charset="0"/>
              </a:rPr>
              <a:t>, FirstName, </a:t>
            </a:r>
            <a:r>
              <a:rPr lang="en-US" sz="2000" b="1" dirty="0" err="1">
                <a:latin typeface="Consolas" panose="020B0609020204030204" pitchFamily="49" charset="0"/>
              </a:rPr>
              <a:t>LastName</a:t>
            </a:r>
            <a:r>
              <a:rPr lang="en-US" sz="2000" b="1" dirty="0">
                <a:latin typeface="Consolas" panose="020B0609020204030204" pitchFamily="49" charset="0"/>
              </a:rPr>
              <a:t>, Email) SELECT </a:t>
            </a:r>
            <a:r>
              <a:rPr lang="en-US" sz="2000" b="1" dirty="0" err="1">
                <a:latin typeface="Consolas" panose="020B0609020204030204" pitchFamily="49" charset="0"/>
              </a:rPr>
              <a:t>UserId</a:t>
            </a:r>
            <a:r>
              <a:rPr lang="en-US" sz="2000" b="1" dirty="0">
                <a:latin typeface="Consolas" panose="020B0609020204030204" pitchFamily="49" charset="0"/>
              </a:rPr>
              <a:t>, FirstName, </a:t>
            </a:r>
            <a:r>
              <a:rPr lang="en-US" sz="2000" b="1" dirty="0" err="1">
                <a:latin typeface="Consolas" panose="020B0609020204030204" pitchFamily="49" charset="0"/>
              </a:rPr>
              <a:t>LastName</a:t>
            </a:r>
            <a:r>
              <a:rPr lang="en-US" sz="2000" b="1" dirty="0">
                <a:latin typeface="Consolas" panose="020B0609020204030204" pitchFamily="49" charset="0"/>
              </a:rPr>
              <a:t>, Email FROM users;</a:t>
            </a:r>
          </a:p>
          <a:p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folgendem</a:t>
            </a:r>
            <a:r>
              <a:rPr lang="en-US" dirty="0"/>
              <a:t> SQL </a:t>
            </a:r>
            <a:r>
              <a:rPr lang="en-US" dirty="0" err="1"/>
              <a:t>lässt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das Schema der </a:t>
            </a:r>
            <a:r>
              <a:rPr lang="en-US" dirty="0" err="1"/>
              <a:t>Datenbank</a:t>
            </a:r>
            <a:r>
              <a:rPr lang="en-US" dirty="0"/>
              <a:t> </a:t>
            </a:r>
            <a:r>
              <a:rPr lang="en-US" dirty="0" err="1"/>
              <a:t>abfragen</a:t>
            </a:r>
            <a:r>
              <a:rPr lang="en-US" dirty="0"/>
              <a:t>:</a:t>
            </a:r>
            <a:br>
              <a:rPr lang="en-US" dirty="0"/>
            </a:br>
            <a:r>
              <a:rPr lang="de-DE" sz="2000" b="1" dirty="0">
                <a:latin typeface="Consolas" panose="020B0609020204030204" pitchFamily="49" charset="0"/>
              </a:rPr>
              <a:t>SELECT * FROM </a:t>
            </a:r>
            <a:r>
              <a:rPr lang="de-DE" sz="2000" b="1" dirty="0" err="1">
                <a:latin typeface="Consolas" panose="020B0609020204030204" pitchFamily="49" charset="0"/>
              </a:rPr>
              <a:t>sqlite_master</a:t>
            </a:r>
            <a:r>
              <a:rPr lang="de-DE" sz="2000" b="1" dirty="0">
                <a:latin typeface="Consolas" panose="020B0609020204030204" pitchFamily="49" charset="0"/>
              </a:rPr>
              <a:t>;</a:t>
            </a:r>
            <a:endParaRPr lang="en-US" sz="2000" b="1" dirty="0">
              <a:latin typeface="Consolas" panose="020B0609020204030204" pitchFamily="49" charset="0"/>
            </a:endParaRPr>
          </a:p>
          <a:p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folgendem</a:t>
            </a:r>
            <a:r>
              <a:rPr lang="en-US" dirty="0"/>
              <a:t> SQL </a:t>
            </a:r>
            <a:r>
              <a:rPr lang="en-US" dirty="0" err="1"/>
              <a:t>lässt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der </a:t>
            </a:r>
            <a:r>
              <a:rPr lang="en-US" dirty="0" err="1"/>
              <a:t>Tabelle</a:t>
            </a:r>
            <a:r>
              <a:rPr lang="en-US" dirty="0"/>
              <a:t> persons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Fremdschlüsselspalte</a:t>
            </a:r>
            <a:r>
              <a:rPr lang="en-US" dirty="0"/>
              <a:t> der </a:t>
            </a:r>
            <a:r>
              <a:rPr lang="en-US" dirty="0" err="1"/>
              <a:t>Tabelle</a:t>
            </a:r>
            <a:r>
              <a:rPr lang="en-US" dirty="0"/>
              <a:t> group </a:t>
            </a:r>
            <a:r>
              <a:rPr lang="en-US" dirty="0" err="1"/>
              <a:t>hinzufügen</a:t>
            </a:r>
            <a:r>
              <a:rPr lang="en-US" dirty="0"/>
              <a:t>:</a:t>
            </a:r>
            <a:br>
              <a:rPr lang="en-US" dirty="0"/>
            </a:br>
            <a:r>
              <a:rPr lang="en-US" sz="2000" b="1" dirty="0">
                <a:latin typeface="Consolas" panose="020B0609020204030204" pitchFamily="49" charset="0"/>
              </a:rPr>
              <a:t>ALTER TABLE persons ADD COLUMN </a:t>
            </a:r>
            <a:r>
              <a:rPr lang="en-US" sz="2000" b="1" dirty="0" err="1">
                <a:latin typeface="Consolas" panose="020B0609020204030204" pitchFamily="49" charset="0"/>
              </a:rPr>
              <a:t>Group_ID</a:t>
            </a:r>
            <a:r>
              <a:rPr lang="en-US" sz="2000" b="1" dirty="0">
                <a:latin typeface="Consolas" panose="020B0609020204030204" pitchFamily="49" charset="0"/>
              </a:rPr>
              <a:t> INTEGER REFERENCES group(ID);</a:t>
            </a:r>
          </a:p>
          <a:p>
            <a:r>
              <a:rPr lang="en-US" dirty="0"/>
              <a:t>Mit </a:t>
            </a:r>
            <a:r>
              <a:rPr lang="en-US" dirty="0" err="1"/>
              <a:t>folgendem</a:t>
            </a:r>
            <a:r>
              <a:rPr lang="en-US" dirty="0"/>
              <a:t> Python-Code </a:t>
            </a:r>
            <a:r>
              <a:rPr lang="en-US" dirty="0" err="1"/>
              <a:t>lässt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die Version der SQLite-DB-Engine </a:t>
            </a:r>
            <a:r>
              <a:rPr lang="en-US" dirty="0" err="1"/>
              <a:t>anzeigen</a:t>
            </a:r>
            <a:r>
              <a:rPr lang="en-US" dirty="0"/>
              <a:t>:</a:t>
            </a:r>
            <a:br>
              <a:rPr lang="en-US" dirty="0"/>
            </a:b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import sqlite3</a:t>
            </a:r>
            <a:b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db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 = sqlite3.connect("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database.db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")</a:t>
            </a:r>
            <a:b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cursor = 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db.cursor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()</a:t>
            </a:r>
            <a:b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sql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 = 'select 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sqlite_version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()'</a:t>
            </a:r>
            <a:b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cursor.execute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sql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)</a:t>
            </a:r>
            <a:b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version = 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cursor.fetchone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()[0]</a:t>
            </a:r>
            <a:b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print ("SQLite Version:", version)</a:t>
            </a:r>
          </a:p>
        </p:txBody>
      </p:sp>
    </p:spTree>
    <p:extLst>
      <p:ext uri="{BB962C8B-B14F-4D97-AF65-F5344CB8AC3E}">
        <p14:creationId xmlns:p14="http://schemas.microsoft.com/office/powerpoint/2010/main" val="106620463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AEE588-3D9D-42DB-862A-91F699409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Vorbereiten des DB-Zugriffs </a:t>
            </a:r>
            <a:br>
              <a:rPr lang="de-DE" dirty="0"/>
            </a:br>
            <a:r>
              <a:rPr lang="de-DE" dirty="0"/>
              <a:t>(</a:t>
            </a:r>
            <a:r>
              <a:rPr lang="de-DE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MySQL / </a:t>
            </a:r>
            <a:r>
              <a:rPr lang="de-DE" sz="4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MariaDB</a:t>
            </a:r>
            <a:r>
              <a:rPr lang="de-DE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8A3D74-8B95-4476-A233-C058A2640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556792"/>
            <a:ext cx="8928992" cy="5328592"/>
          </a:xfrm>
        </p:spPr>
        <p:txBody>
          <a:bodyPr>
            <a:normAutofit fontScale="70000" lnSpcReduction="20000"/>
          </a:bodyPr>
          <a:lstStyle/>
          <a:p>
            <a:r>
              <a:rPr lang="de-DE" dirty="0"/>
              <a:t>Mit dem Modul </a:t>
            </a:r>
            <a:r>
              <a:rPr lang="de-DE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mysql-connector-python</a:t>
            </a:r>
            <a:r>
              <a:rPr lang="de-DE" dirty="0"/>
              <a:t> kann man über das Netzwerk auf beliebige MySQL / </a:t>
            </a:r>
            <a:r>
              <a:rPr lang="de-DE" dirty="0" err="1"/>
              <a:t>MariaDB</a:t>
            </a:r>
            <a:r>
              <a:rPr lang="de-DE" dirty="0"/>
              <a:t> - Instanzen/Server zugreifen. Vom Konkurrenten </a:t>
            </a:r>
            <a:r>
              <a:rPr lang="de-DE" dirty="0" err="1"/>
              <a:t>MariaDB</a:t>
            </a:r>
            <a:r>
              <a:rPr lang="de-DE" dirty="0"/>
              <a:t> gibt es das Modul </a:t>
            </a:r>
            <a:r>
              <a:rPr lang="de-DE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mariadb</a:t>
            </a:r>
            <a:endParaRPr lang="de-DE" dirty="0"/>
          </a:p>
          <a:p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pip3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mysql-connector-python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dirty="0"/>
              <a:t>(einmalig notwendig in Eingabeaufforderung)</a:t>
            </a:r>
          </a:p>
          <a:p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mysql.connector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>
                <a:sym typeface="Wingdings" panose="05000000000000000000" pitchFamily="2" charset="2"/>
              </a:rPr>
              <a:t> Importiert das Modul</a:t>
            </a:r>
          </a:p>
          <a:p>
            <a:r>
              <a:rPr lang="de-DE" dirty="0"/>
              <a:t>Datenbank-Verbindung erzeugen</a:t>
            </a:r>
            <a:b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mysql.connector.connect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host="192.168.1.200",  # Server-IP oder Hostname</a:t>
            </a:r>
            <a:b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3306,		 # Standard-Port für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-DBs</a:t>
            </a:r>
            <a:b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meinusername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	 # DB User mit Zugriff auf die DB</a:t>
            </a:r>
            <a:b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meinpasswort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b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database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mydatabase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 # Auswahl der (schon vorhandenen) DB</a:t>
            </a:r>
          </a:p>
          <a:p>
            <a:r>
              <a:rPr lang="de-DE" dirty="0">
                <a:sym typeface="Wingdings" panose="05000000000000000000" pitchFamily="2" charset="2"/>
              </a:rPr>
              <a:t>Um SQL-Befehle auszuführen, erzeugt man zunächst einen SQL-String und übergibt den dann an die DB mit </a:t>
            </a:r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cursor.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execute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sqlstring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 </a:t>
            </a:r>
            <a:r>
              <a:rPr lang="de-DE" dirty="0">
                <a:sym typeface="Wingdings" panose="05000000000000000000" pitchFamily="2" charset="2"/>
              </a:rPr>
              <a:t>zur Ausführung, vorher Cursor mit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cursor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db.cursor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dirty="0">
                <a:sym typeface="Wingdings" panose="05000000000000000000" pitchFamily="2" charset="2"/>
              </a:rPr>
              <a:t>erzeugen:</a:t>
            </a:r>
            <a:br>
              <a:rPr lang="de-DE" dirty="0">
                <a:sym typeface="Wingdings" panose="05000000000000000000" pitchFamily="2" charset="2"/>
              </a:rPr>
            </a:br>
            <a:r>
              <a:rPr lang="de-DE" sz="17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cursor</a:t>
            </a:r>
            <a:r>
              <a:rPr lang="de-DE" sz="17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=</a:t>
            </a:r>
            <a:r>
              <a:rPr lang="de-DE" sz="17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db.cursor</a:t>
            </a:r>
            <a:r>
              <a:rPr lang="de-DE" sz="17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</a:t>
            </a:r>
            <a:br>
              <a:rPr lang="de-DE" sz="17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</a:br>
            <a:r>
              <a:rPr lang="de-DE" sz="17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sql</a:t>
            </a:r>
            <a:r>
              <a:rPr lang="de-DE" sz="17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"CREATE TABLE </a:t>
            </a:r>
            <a:r>
              <a:rPr lang="de-DE" sz="17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tblFirma</a:t>
            </a:r>
            <a:r>
              <a:rPr lang="de-DE" sz="17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(ID INT PRIMARY KEY AUTO_INCREMENT, Name VARCHAR(15))"</a:t>
            </a:r>
            <a:br>
              <a:rPr lang="de-DE" sz="17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</a:br>
            <a:r>
              <a:rPr lang="de-DE" sz="17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cursor.execute</a:t>
            </a:r>
            <a:r>
              <a:rPr lang="de-DE" sz="17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17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sql</a:t>
            </a:r>
            <a:r>
              <a:rPr lang="de-DE" sz="17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</a:t>
            </a:r>
          </a:p>
          <a:p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db.close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dirty="0">
                <a:sym typeface="Wingdings" panose="05000000000000000000" pitchFamily="2" charset="2"/>
              </a:rPr>
              <a:t> Datenbank schließen, Datenbankobjekte freigeben.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348636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0DE5AB-BB1F-4408-A6AE-A96205605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Daten / Befehle in die Datenbank schreiben (</a:t>
            </a:r>
            <a:r>
              <a:rPr lang="de-DE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MySQL / </a:t>
            </a:r>
            <a:r>
              <a:rPr lang="de-DE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MariaDB</a:t>
            </a:r>
            <a:r>
              <a:rPr lang="de-DE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01A54-ED8D-4463-A40F-2616A05AF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600200"/>
            <a:ext cx="9001000" cy="5257800"/>
          </a:xfrm>
        </p:spPr>
        <p:txBody>
          <a:bodyPr>
            <a:normAutofit fontScale="55000" lnSpcReduction="20000"/>
          </a:bodyPr>
          <a:lstStyle/>
          <a:p>
            <a:r>
              <a:rPr lang="de-DE" dirty="0"/>
              <a:t>Das Einfügen, Ändern und Löschen erfolgt über die entsprechenden SQL-Befehle, die 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cursor.execute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DE" dirty="0"/>
              <a:t>ausgeführt werden. Auch hier ist also der Cursor notwendig!</a:t>
            </a:r>
          </a:p>
          <a:p>
            <a:r>
              <a:rPr lang="de-DE" dirty="0"/>
              <a:t>Damit Änderungen von Daten (über INSERT, UPDATE, DELETE) dann auch in die Datenbank geschrieben werden ist ein abschließendes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db.commit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DE" dirty="0"/>
              <a:t>notwendig, ansonsten gehen die Änderungen verloren, d.h. werden als offene Transaktionen nicht wirklich gespeichert: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e-DE" sz="3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mysql.connector</a:t>
            </a:r>
            <a:b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3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mysql.connector.connect</a:t>
            </a:r>
            <a: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host="192.168.1.111",  # Server-IP oder Hostname</a:t>
            </a:r>
            <a:b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sz="3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3306,</a:t>
            </a:r>
            <a:b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de-DE" sz="3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de-DE" sz="3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meinusername</a:t>
            </a:r>
            <a: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	# DB User mit Zugriff auf die DB</a:t>
            </a:r>
            <a:b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de-DE" sz="3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  <a: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de-DE" sz="3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meinpasswort</a:t>
            </a:r>
            <a: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b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sz="3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database</a:t>
            </a:r>
            <a: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de-DE" sz="30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mydatabase</a:t>
            </a:r>
            <a: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 # Auswahl der DB, ist optional</a:t>
            </a:r>
            <a:br>
              <a:rPr lang="de-DE" sz="3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de-DE" sz="30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de-DE" sz="2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db.autocommit</a:t>
            </a:r>
            <a:r>
              <a:rPr lang="de-DE" sz="2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2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de-DE" sz="2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# </a:t>
            </a:r>
            <a:r>
              <a:rPr lang="de-DE" sz="27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Optional, kann für </a:t>
            </a:r>
            <a:r>
              <a:rPr lang="de-DE" sz="27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AutoCommit</a:t>
            </a:r>
            <a:r>
              <a:rPr lang="de-DE" sz="27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auf True gesetzt werden</a:t>
            </a:r>
            <a:endParaRPr lang="de-DE" sz="2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de-DE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db.cursor</a:t>
            </a:r>
            <a:r>
              <a:rPr lang="de-DE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de-DE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"INSERT INTO </a:t>
            </a:r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tblFirma</a:t>
            </a:r>
            <a:r>
              <a:rPr lang="de-DE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(Name) VALUES('Coca Cola AG')"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cursor.execute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db.commit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spcBef>
                <a:spcPts val="600"/>
              </a:spcBef>
              <a:buNone/>
            </a:pPr>
            <a:endParaRPr lang="de-DE" dirty="0"/>
          </a:p>
          <a:p>
            <a:pPr marL="0" indent="0">
              <a:spcBef>
                <a:spcPts val="600"/>
              </a:spcBef>
              <a:buNone/>
            </a:pPr>
            <a:r>
              <a:rPr lang="de-DE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db.close</a:t>
            </a:r>
            <a:r>
              <a:rPr lang="de-D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C3EF910-13F9-41F5-1A9F-C96F41DDAD4C}"/>
              </a:ext>
            </a:extLst>
          </p:cNvPr>
          <p:cNvSpPr txBox="1"/>
          <p:nvPr/>
        </p:nvSpPr>
        <p:spPr>
          <a:xfrm>
            <a:off x="4283968" y="5660032"/>
            <a:ext cx="4248472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b="1" u="sng" dirty="0">
                <a:solidFill>
                  <a:srgbClr val="FF0000"/>
                </a:solidFill>
              </a:rPr>
              <a:t>Wichtig</a:t>
            </a:r>
            <a:r>
              <a:rPr lang="de-DE" b="1" dirty="0">
                <a:solidFill>
                  <a:srgbClr val="FF0000"/>
                </a:solidFill>
              </a:rPr>
              <a:t>: Für INSERT, UPDATE, DELETE ist ein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DE" b="1" dirty="0">
                <a:solidFill>
                  <a:srgbClr val="FF0000"/>
                </a:solidFill>
              </a:rPr>
              <a:t>notwendig, sonst werden die Daten in der DB nicht gespeichert!</a:t>
            </a:r>
          </a:p>
        </p:txBody>
      </p:sp>
    </p:spTree>
    <p:extLst>
      <p:ext uri="{BB962C8B-B14F-4D97-AF65-F5344CB8AC3E}">
        <p14:creationId xmlns:p14="http://schemas.microsoft.com/office/powerpoint/2010/main" val="266051101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0DE5AB-BB1F-4408-A6AE-A9620560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32" y="274638"/>
            <a:ext cx="7776864" cy="1143000"/>
          </a:xfrm>
        </p:spPr>
        <p:txBody>
          <a:bodyPr>
            <a:noAutofit/>
          </a:bodyPr>
          <a:lstStyle/>
          <a:p>
            <a:r>
              <a:rPr lang="de-DE" sz="3600" dirty="0"/>
              <a:t>Daten aus der Datenbank abfragen und auf dem Bildschirm ausgeben </a:t>
            </a:r>
            <a:r>
              <a:rPr lang="de-DE" sz="3200" dirty="0"/>
              <a:t>(</a:t>
            </a:r>
            <a:r>
              <a:rPr lang="de-DE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de-DE" sz="3200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01A54-ED8D-4463-A40F-2616A05AF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85184"/>
          </a:xfrm>
        </p:spPr>
        <p:txBody>
          <a:bodyPr>
            <a:normAutofit fontScale="47500" lnSpcReduction="20000"/>
          </a:bodyPr>
          <a:lstStyle/>
          <a:p>
            <a:r>
              <a:rPr lang="de-DE" dirty="0"/>
              <a:t>Das Lesen aus der DB erfolgt üblicherweise durch einen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SELECT…</a:t>
            </a:r>
            <a:r>
              <a:rPr lang="de-DE" dirty="0"/>
              <a:t> SQL-Befehl, der 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cursor.execute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DE" dirty="0"/>
              <a:t>ausgeführt wird. Vorher muss der Cursor 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db.cursor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dirty="0"/>
              <a:t>erzeugt werden!</a:t>
            </a:r>
          </a:p>
          <a:p>
            <a:r>
              <a:rPr lang="de-DE" dirty="0"/>
              <a:t>Die ausgelesenen Datensätze sind dann im Objekt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de-DE" dirty="0"/>
              <a:t> als Liste gespeichert und können z.B. in einer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de-DE" sz="4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- Schleife ausgelesen und 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dirty="0"/>
              <a:t>ausgegeben werden:</a:t>
            </a:r>
          </a:p>
          <a:p>
            <a:pPr marL="0" indent="0">
              <a:buNone/>
            </a:pPr>
            <a:b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2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32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mysql.connector</a:t>
            </a:r>
            <a:b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2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32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mysql.connector.connect</a:t>
            </a:r>
            <a: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host="192.168.1.111",         # Server-IP oder Hostname</a:t>
            </a:r>
            <a:b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sz="32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3306,</a:t>
            </a:r>
            <a:b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de-DE" sz="32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de-DE" sz="32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meinusername</a:t>
            </a:r>
            <a: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	# DB User mit Zugriff auf die DB</a:t>
            </a:r>
            <a:b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de-DE" sz="32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  <a: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de-DE" sz="32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meinpasswort</a:t>
            </a:r>
            <a: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b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sz="32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database</a:t>
            </a:r>
            <a: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de-DE" sz="32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mydatabase</a:t>
            </a:r>
            <a: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      # Auswahl der DB</a:t>
            </a:r>
            <a:b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de-DE" sz="32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de-DE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db.cursor</a:t>
            </a:r>
            <a:r>
              <a:rPr lang="de-DE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de-DE" sz="3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de-DE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"SELECT * FROM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tblFirma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buNone/>
            </a:pP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cursor.execute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cursor.fetchall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	# Alle Daten in eine eigene Variable holen</a:t>
            </a:r>
          </a:p>
          <a:p>
            <a:pPr marL="0" indent="0">
              <a:buNone/>
            </a:pPr>
            <a:r>
              <a:rPr lang="de-DE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db.close</a:t>
            </a:r>
            <a:r>
              <a:rPr lang="de-D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b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(f"{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[0]:5} | {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[1]":15}") # Datenfelder ID und Name ausgeben </a:t>
            </a:r>
          </a:p>
          <a:p>
            <a:pPr marL="0" indent="0">
              <a:buNone/>
            </a:pPr>
            <a:endParaRPr lang="de-DE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67064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3252B5-1EBF-47E2-9D4D-D2FA29626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Unterschiede Programmierung </a:t>
            </a:r>
            <a:br>
              <a:rPr lang="de-DE" dirty="0"/>
            </a:br>
            <a:r>
              <a:rPr lang="de-DE" dirty="0"/>
              <a:t>SQLite3 vs. MySQL/</a:t>
            </a:r>
            <a:r>
              <a:rPr lang="de-DE" dirty="0" err="1"/>
              <a:t>MariaDB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DB356B1-A2A6-437F-A998-2CA52AEF2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SQLite3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86BBE59-C055-4B7D-BFC1-0C0BAECC9D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de-DE" sz="1800" dirty="0"/>
              <a:t>Keine Vorinstallation nötig</a:t>
            </a:r>
          </a:p>
          <a:p>
            <a:r>
              <a:rPr lang="de-DE" sz="1800" dirty="0"/>
              <a:t>Datenbankverbindung mit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sqlite3.connect("</a:t>
            </a:r>
            <a:r>
              <a:rPr lang="de-DE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dateiname</a:t>
            </a: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  <a:endParaRPr lang="de-DE" sz="1900" dirty="0"/>
          </a:p>
          <a:p>
            <a:r>
              <a:rPr lang="de-DE" sz="1800" dirty="0"/>
              <a:t>Datenbank auch im RAM möglich (flüchtig aber superschnell)</a:t>
            </a:r>
            <a:br>
              <a:rPr lang="de-DE" sz="1800" dirty="0"/>
            </a:b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sqlite3.connect(:</a:t>
            </a:r>
            <a:r>
              <a:rPr lang="de-DE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memory</a:t>
            </a:r>
            <a:r>
              <a:rPr lang="de-DE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:)</a:t>
            </a:r>
            <a:endParaRPr lang="de-DE" sz="1800" dirty="0"/>
          </a:p>
          <a:p>
            <a:r>
              <a:rPr lang="de-DE" sz="1800" dirty="0"/>
              <a:t>Leichte Unterschiede im SQL: z.B. </a:t>
            </a:r>
            <a:r>
              <a:rPr lang="de-DE" sz="1800" dirty="0" err="1"/>
              <a:t>Autoincrement</a:t>
            </a:r>
            <a:r>
              <a:rPr lang="de-DE" sz="1800" dirty="0"/>
              <a:t> mit: 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Tabelle (ID INTEGER PRIMARY KEY AUTOINCREMENT)</a:t>
            </a:r>
          </a:p>
          <a:p>
            <a:r>
              <a:rPr lang="de-DE" sz="1800" dirty="0"/>
              <a:t>Auto-Commit beim Öffnen der DB einschalten (Vorsicht Performanceverlust!) mit </a:t>
            </a:r>
            <a:br>
              <a:rPr lang="de-DE" sz="1800" dirty="0"/>
            </a:br>
            <a:r>
              <a:rPr lang="de-DE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de-DE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sqlite3.connect("</a:t>
            </a:r>
            <a:r>
              <a:rPr lang="de-DE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dateiname</a:t>
            </a:r>
            <a:r>
              <a:rPr lang="de-DE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de-DE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isolation_level</a:t>
            </a:r>
            <a:r>
              <a:rPr lang="de-DE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=None)</a:t>
            </a:r>
          </a:p>
          <a:p>
            <a:r>
              <a:rPr lang="de-DE" sz="1800" dirty="0"/>
              <a:t>CURRENT_TIMESTAMP kann nur beim INSERT verwendet werden, nicht als DEFAULT für eine Spalte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100458B-DF2C-411F-BC88-C5245F95BA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MySQL / </a:t>
            </a:r>
            <a:r>
              <a:rPr lang="de-DE" dirty="0" err="1"/>
              <a:t>MariaDB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5D2CE88-7E85-424F-9F04-92419ACF469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sz="1800" dirty="0"/>
              <a:t>Datenbankserver installieren und </a:t>
            </a:r>
            <a:r>
              <a:rPr lang="de-DE" sz="1800" dirty="0" err="1"/>
              <a:t>mysql</a:t>
            </a:r>
            <a:r>
              <a:rPr lang="de-DE" sz="1800" dirty="0"/>
              <a:t>-</a:t>
            </a:r>
            <a:r>
              <a:rPr lang="de-DE" sz="1800" dirty="0" err="1"/>
              <a:t>connector</a:t>
            </a:r>
            <a:r>
              <a:rPr lang="de-DE" sz="1800" dirty="0"/>
              <a:t>-</a:t>
            </a:r>
            <a:r>
              <a:rPr lang="de-DE" sz="1800" dirty="0" err="1"/>
              <a:t>python</a:t>
            </a:r>
            <a:r>
              <a:rPr lang="de-DE" sz="1800" dirty="0"/>
              <a:t>-Modul mit pip3 einbinden</a:t>
            </a:r>
          </a:p>
          <a:p>
            <a:r>
              <a:rPr lang="de-DE" sz="1800" dirty="0"/>
              <a:t>Datenbankverbindung mit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mysql.connector.connect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 host="…", 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3306,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"…",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"…",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database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"…") </a:t>
            </a:r>
          </a:p>
          <a:p>
            <a:r>
              <a:rPr lang="de-DE" sz="1800" dirty="0" err="1"/>
              <a:t>Autoincrement</a:t>
            </a:r>
            <a:r>
              <a:rPr lang="de-DE" sz="1800" dirty="0"/>
              <a:t> mit 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Tabelle (ID INTEGER PRIMARY KEY AUTO_INCREMENT)</a:t>
            </a:r>
          </a:p>
          <a:p>
            <a:r>
              <a:rPr lang="de-DE" sz="1800" dirty="0"/>
              <a:t>Auto-Commit nach Öffnen der DB einschalten mit 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db.autocommit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True </a:t>
            </a:r>
          </a:p>
          <a:p>
            <a:r>
              <a:rPr lang="de-DE" sz="1800" dirty="0"/>
              <a:t>CURRENT_TIMESTAMP kann auch als DEFAULT-Wert bei CREATE TABLE festgelegt werden</a:t>
            </a:r>
          </a:p>
          <a:p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410448608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D777DDD1-1F5F-2E92-DF09-21670E78C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de-DE"/>
              <a:t> Werte in der DB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09F95818-B3B8-B954-56DF-6E8752DF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686800" cy="4019871"/>
          </a:xfrm>
        </p:spPr>
        <p:txBody>
          <a:bodyPr>
            <a:normAutofit fontScale="77500" lnSpcReduction="20000"/>
          </a:bodyPr>
          <a:lstStyle/>
          <a:p>
            <a:r>
              <a:rPr lang="de-DE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de-DE" dirty="0"/>
              <a:t>-Werte in der DB werden vom Datenbankmodul in Python bei Ausführung von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de-DE" dirty="0"/>
              <a:t> korrekt in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de-DE" dirty="0"/>
              <a:t> umgewandelt.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de-DE" dirty="0"/>
              <a:t> – Werte können jedoch nicht mit </a:t>
            </a:r>
            <a:r>
              <a:rPr lang="de-DE" dirty="0" err="1"/>
              <a:t>mit</a:t>
            </a:r>
            <a:r>
              <a:rPr lang="de-DE" dirty="0"/>
              <a:t> </a:t>
            </a:r>
            <a:r>
              <a:rPr lang="de-DE" b="1" dirty="0"/>
              <a:t>f-Strings</a:t>
            </a:r>
            <a:r>
              <a:rPr lang="de-DE" dirty="0"/>
              <a:t> verwendet werden, deshalb sollte man Datenfelder, die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de-DE" dirty="0"/>
              <a:t> /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de-DE" dirty="0"/>
              <a:t> enthalten können, vorher in einen leeren String ("") umwandeln, falls Bedarf dafür besteht.</a:t>
            </a:r>
          </a:p>
          <a:p>
            <a:r>
              <a:rPr lang="de-DE" dirty="0"/>
              <a:t>Da die Zeile/Datensatz aber normalerweise ein Tupel, also eine unveränderbare Liste ist (nicht bei allen Datenbank-</a:t>
            </a:r>
            <a:r>
              <a:rPr lang="de-DE" dirty="0" err="1"/>
              <a:t>Connectoren</a:t>
            </a:r>
            <a:r>
              <a:rPr lang="de-DE" dirty="0"/>
              <a:t>!), wäre eine Änderung nicht möglich, deshalb ist vorher noch eine Umwandlung in eine Liste notwendig: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788CD05-813D-1092-93E7-89B20D027D80}"/>
              </a:ext>
            </a:extLst>
          </p:cNvPr>
          <p:cNvSpPr txBox="1"/>
          <p:nvPr/>
        </p:nvSpPr>
        <p:spPr>
          <a:xfrm>
            <a:off x="107504" y="5013176"/>
            <a:ext cx="8928992" cy="147732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daten =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cursor.fetchall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daten: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de-DE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de-DE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Umwandlung des Datensatz von Tupel in Liste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[2]==None: </a:t>
            </a:r>
            <a:r>
              <a:rPr lang="de-DE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[2]=""  </a:t>
            </a:r>
            <a:r>
              <a:rPr lang="de-DE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Umwandlung von None    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(f"{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[0]:5} {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[2]:10}") </a:t>
            </a:r>
            <a:r>
              <a:rPr lang="de-DE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e-DE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fString</a:t>
            </a:r>
            <a:endParaRPr lang="de-DE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38170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D2FE8A1-2EC6-48D2-9168-13B0919189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Weitere interessante Module und ihre Anwendung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AF14CE66-74ED-3237-6E7D-580BED229F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datetime</a:t>
            </a:r>
            <a:endParaRPr lang="de-DE" dirty="0"/>
          </a:p>
          <a:p>
            <a:r>
              <a:rPr lang="de-DE" dirty="0" err="1"/>
              <a:t>yfinance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8946122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815CA2-51CC-1FA6-E04B-BC5781A8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 Modul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Datum und Uhrzeit in Python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44B46B-94F3-2670-110B-741E96DA7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3853883"/>
          </a:xfrm>
        </p:spPr>
        <p:txBody>
          <a:bodyPr>
            <a:normAutofit fontScale="70000" lnSpcReduction="20000"/>
          </a:bodyPr>
          <a:lstStyle/>
          <a:p>
            <a:r>
              <a:rPr lang="de-DE" dirty="0"/>
              <a:t>Prinzipiell kann man ein Datum / eine Uhrzeit in Python als String speichern, z.B.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meindatum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"01.01.2023"</a:t>
            </a:r>
            <a:r>
              <a:rPr lang="de-DE" dirty="0"/>
              <a:t>.</a:t>
            </a:r>
          </a:p>
          <a:p>
            <a:r>
              <a:rPr lang="de-DE" dirty="0"/>
              <a:t>Das kann jedoch Nachteile haben, wenn man mit den Werten rechnen, sie sortieren oder anders formatiert will als sie gespeichert/erzeugt worden sind (z.B. 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01/01/23</a:t>
            </a:r>
            <a:r>
              <a:rPr lang="de-DE" dirty="0"/>
              <a:t>) oder beim Speichern in Datenbanken.</a:t>
            </a:r>
          </a:p>
          <a:p>
            <a:r>
              <a:rPr lang="de-DE" dirty="0"/>
              <a:t>Deshalb gibt es in Python das Modul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de-DE" dirty="0"/>
              <a:t>, welches es ermöglicht verschiedene Zeitobjekte zu erzeugen, und zwar .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de-DE" dirty="0"/>
              <a:t> (Uhrzeit), .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de-DE" dirty="0"/>
              <a:t> (Datum) und .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de-DE" dirty="0"/>
              <a:t> (Datum und Uhrzeit kombiniert)</a:t>
            </a:r>
          </a:p>
          <a:p>
            <a:r>
              <a:rPr lang="de-DE" dirty="0"/>
              <a:t>Der Zeitbereich ist dabei vom 01.01.0001 bis zum 31.12.9999 – viel größer als die Unix-Time!</a:t>
            </a:r>
          </a:p>
          <a:p>
            <a:pPr marL="0" indent="0">
              <a:buNone/>
            </a:pPr>
            <a:r>
              <a:rPr lang="de-DE" dirty="0"/>
              <a:t>Beispiele: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2908F07-D6E5-AC00-92DB-6401894BE43B}"/>
              </a:ext>
            </a:extLst>
          </p:cNvPr>
          <p:cNvSpPr txBox="1"/>
          <p:nvPr/>
        </p:nvSpPr>
        <p:spPr>
          <a:xfrm>
            <a:off x="457200" y="5257799"/>
            <a:ext cx="7595349" cy="138499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DE" sz="1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endParaRPr lang="de-DE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zeit  =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datetime.time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(13, 34, 22)      </a:t>
            </a:r>
            <a:r>
              <a:rPr lang="de-DE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Die Uhrzeit 13:34:22</a:t>
            </a:r>
          </a:p>
          <a:p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datum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datetime.date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(1912, 6, 23)     </a:t>
            </a:r>
            <a:r>
              <a:rPr lang="de-DE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Geburtstag A. Turing</a:t>
            </a:r>
          </a:p>
          <a:p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mond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=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datetime.datetime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(1969, 7, 21, 3, 56) </a:t>
            </a:r>
            <a:r>
              <a:rPr lang="de-DE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Mondlandung Apollo XI</a:t>
            </a:r>
          </a:p>
          <a:p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</a:t>
            </a:r>
            <a:r>
              <a:rPr lang="de-DE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am 21.7.1969 um 03:56</a:t>
            </a:r>
          </a:p>
        </p:txBody>
      </p:sp>
    </p:spTree>
    <p:extLst>
      <p:ext uri="{BB962C8B-B14F-4D97-AF65-F5344CB8AC3E}">
        <p14:creationId xmlns:p14="http://schemas.microsoft.com/office/powerpoint/2010/main" val="358838049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0CAFBB-0803-A038-A273-A36C55F3D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de-DE"/>
              <a:t> - Objekte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D64A15-45D4-D3F2-0C03-9FE294725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837" y="1227895"/>
            <a:ext cx="8579296" cy="4104456"/>
          </a:xfrm>
        </p:spPr>
        <p:txBody>
          <a:bodyPr>
            <a:normAutofit fontScale="77500" lnSpcReduction="20000"/>
          </a:bodyPr>
          <a:lstStyle/>
          <a:p>
            <a:r>
              <a:rPr lang="de-DE" dirty="0"/>
              <a:t>In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de-DE" dirty="0"/>
              <a:t> /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de-DE" dirty="0"/>
              <a:t> und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de-DE" dirty="0"/>
              <a:t> Objekten kann Python Datum, Zeit oder beides speichern.</a:t>
            </a:r>
          </a:p>
          <a:p>
            <a:r>
              <a:rPr lang="de-DE" dirty="0"/>
              <a:t>Die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- Klasse bietet eine Menge interessanter Objekte und Methoden und berücksichtigt den Kalender (Schaltjahre etc.).</a:t>
            </a:r>
          </a:p>
          <a:p>
            <a:r>
              <a:rPr lang="de-DE" dirty="0"/>
              <a:t>Es gibt außerdem </a:t>
            </a:r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timedelta</a:t>
            </a:r>
            <a:r>
              <a:rPr lang="de-DE" dirty="0"/>
              <a:t> – Objekte, mit denen man Differenzen zwischen Zeitpunkten errechnen kann. </a:t>
            </a:r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timedelta</a:t>
            </a:r>
            <a:r>
              <a:rPr lang="de-DE" dirty="0"/>
              <a:t> – Objekte entstehen z.B. automatisch, wenn man zwei </a:t>
            </a:r>
            <a:r>
              <a:rPr lang="de-DE" sz="3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de-DE" dirty="0"/>
              <a:t> – Objekte miteinander subtrahiert.</a:t>
            </a:r>
          </a:p>
          <a:p>
            <a:r>
              <a:rPr lang="de-DE" dirty="0"/>
              <a:t>Ein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de-DE" dirty="0"/>
              <a:t> - Objekt kann z.B. man aus einer Datenbank auslesen (TIMESTAMP-Spalte) oder mit der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datetime.datetime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(…) </a:t>
            </a:r>
            <a:r>
              <a:rPr lang="de-DE" dirty="0"/>
              <a:t>– Funktion/Methode erzeugen: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6C71408-F581-DC8F-8D05-81764B427D6E}"/>
              </a:ext>
            </a:extLst>
          </p:cNvPr>
          <p:cNvSpPr txBox="1"/>
          <p:nvPr/>
        </p:nvSpPr>
        <p:spPr>
          <a:xfrm>
            <a:off x="275712" y="5353133"/>
            <a:ext cx="8701421" cy="132343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de-DE" sz="1600" b="1">
                <a:latin typeface="Courier New" panose="02070309020205020404" pitchFamily="49" charset="0"/>
                <a:cs typeface="Courier New" panose="02070309020205020404" pitchFamily="49" charset="0"/>
              </a:rPr>
              <a:t>import datetime</a:t>
            </a:r>
          </a:p>
          <a:p>
            <a:pPr marL="0" indent="0">
              <a:buNone/>
            </a:pPr>
            <a:r>
              <a:rPr lang="de-DE" sz="1600" b="1">
                <a:latin typeface="Courier New" panose="02070309020205020404" pitchFamily="49" charset="0"/>
                <a:cs typeface="Courier New" panose="02070309020205020404" pitchFamily="49" charset="0"/>
              </a:rPr>
              <a:t>jetzt = datetime.datetime.now() </a:t>
            </a:r>
            <a:r>
              <a:rPr lang="de-DE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Aktuelles datetime-Objekt</a:t>
            </a:r>
          </a:p>
          <a:p>
            <a:pPr marL="0" indent="0">
              <a:buNone/>
            </a:pPr>
            <a:r>
              <a:rPr lang="de-DE" sz="1600" b="1">
                <a:latin typeface="Courier New" panose="02070309020205020404" pitchFamily="49" charset="0"/>
                <a:cs typeface="Courier New" panose="02070309020205020404" pitchFamily="49" charset="0"/>
              </a:rPr>
              <a:t>bescherung = datetime.datetime(2023,12,24,20,15) </a:t>
            </a:r>
            <a:r>
              <a:rPr lang="de-DE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Erzeugtes datetime</a:t>
            </a:r>
          </a:p>
          <a:p>
            <a:pPr marL="0" indent="0">
              <a:buNone/>
            </a:pPr>
            <a:r>
              <a:rPr lang="de-DE" sz="1600" b="1">
                <a:latin typeface="Courier New" panose="02070309020205020404" pitchFamily="49" charset="0"/>
                <a:cs typeface="Courier New" panose="02070309020205020404" pitchFamily="49" charset="0"/>
              </a:rPr>
              <a:t>d = bescherung - jetzt  </a:t>
            </a:r>
            <a:r>
              <a:rPr lang="de-DE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Subtraktion erzeugt timedelta-Objekt</a:t>
            </a:r>
          </a:p>
          <a:p>
            <a:pPr marL="0" indent="0">
              <a:buNone/>
            </a:pPr>
            <a:r>
              <a:rPr lang="de-DE" sz="1600" b="1">
                <a:latin typeface="Courier New" panose="02070309020205020404" pitchFamily="49" charset="0"/>
                <a:cs typeface="Courier New" panose="02070309020205020404" pitchFamily="49" charset="0"/>
              </a:rPr>
              <a:t>print("</a:t>
            </a:r>
            <a:r>
              <a:rPr lang="de-DE" sz="16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Zeit bis Bescherung</a:t>
            </a:r>
            <a:r>
              <a:rPr lang="de-DE" sz="1600" b="1">
                <a:latin typeface="Courier New" panose="02070309020205020404" pitchFamily="49" charset="0"/>
                <a:cs typeface="Courier New" panose="02070309020205020404" pitchFamily="49" charset="0"/>
              </a:rPr>
              <a:t>:",d)</a:t>
            </a:r>
          </a:p>
        </p:txBody>
      </p:sp>
    </p:spTree>
    <p:extLst>
      <p:ext uri="{BB962C8B-B14F-4D97-AF65-F5344CB8AC3E}">
        <p14:creationId xmlns:p14="http://schemas.microsoft.com/office/powerpoint/2010/main" val="142843495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0CAFBB-0803-A038-A273-A36C55F3D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de-DE"/>
              <a:t> – Objekte aus Eingaben erzeugen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D64A15-45D4-D3F2-0C03-9FE294725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837" y="1556791"/>
            <a:ext cx="8579296" cy="5301209"/>
          </a:xfrm>
        </p:spPr>
        <p:txBody>
          <a:bodyPr>
            <a:normAutofit fontScale="70000" lnSpcReduction="20000"/>
          </a:bodyPr>
          <a:lstStyle/>
          <a:p>
            <a:r>
              <a:rPr lang="de-DE" dirty="0"/>
              <a:t>Im Prinzip kann man Datumseingaben in Python auch als Strings behandeln, dann sind aber Fehleingaben möglich (z.B. "32.12.2023")</a:t>
            </a:r>
          </a:p>
          <a:p>
            <a:r>
              <a:rPr lang="de-DE" dirty="0"/>
              <a:t>Besser ist, Datumeingaben durch Umwandlung in </a:t>
            </a:r>
            <a:r>
              <a:rPr lang="de-DE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datetime</a:t>
            </a:r>
            <a:r>
              <a:rPr lang="de-DE" dirty="0"/>
              <a:t>-Objekte einfach auf Gültigkeit zu prüfen.</a:t>
            </a:r>
          </a:p>
          <a:p>
            <a:r>
              <a:rPr lang="de-DE" dirty="0"/>
              <a:t>Vor der Umwandlung sollte man die Eingabe mit Hilfe der </a:t>
            </a:r>
            <a:r>
              <a:rPr lang="de-DE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split</a:t>
            </a:r>
            <a:r>
              <a:rPr lang="de-DE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()</a:t>
            </a:r>
            <a:r>
              <a:rPr lang="de-DE" dirty="0"/>
              <a:t>-Methode in eine Liste umwandeln, z.B. "31.12.2023" </a:t>
            </a:r>
            <a:r>
              <a:rPr lang="de-DE" dirty="0">
                <a:sym typeface="Wingdings" panose="05000000000000000000" pitchFamily="2" charset="2"/>
              </a:rPr>
              <a:t>in</a:t>
            </a:r>
            <a:r>
              <a:rPr lang="de-DE" dirty="0"/>
              <a:t>  ["31","12",2023"]</a:t>
            </a:r>
          </a:p>
          <a:p>
            <a:r>
              <a:rPr lang="de-DE" dirty="0"/>
              <a:t>Dann lässt sich ein </a:t>
            </a:r>
            <a:r>
              <a:rPr lang="de-DE" sz="31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datetime</a:t>
            </a:r>
            <a:r>
              <a:rPr lang="de-DE" sz="3100" dirty="0"/>
              <a:t>-Objekt</a:t>
            </a:r>
            <a:r>
              <a:rPr lang="de-DE" dirty="0"/>
              <a:t> einfach mit </a:t>
            </a:r>
            <a:r>
              <a:rPr lang="de-DE" sz="26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datetime.datetime</a:t>
            </a:r>
            <a:r>
              <a:rPr lang="de-DE" sz="26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</a:t>
            </a:r>
            <a:r>
              <a:rPr lang="de-DE" sz="26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jahr</a:t>
            </a:r>
            <a:r>
              <a:rPr lang="de-DE" sz="26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, </a:t>
            </a:r>
            <a:r>
              <a:rPr lang="de-DE" sz="26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monat</a:t>
            </a:r>
            <a:r>
              <a:rPr lang="de-DE" sz="26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, tag) </a:t>
            </a:r>
            <a:r>
              <a:rPr lang="de-DE" dirty="0"/>
              <a:t>erzeugen:</a:t>
            </a:r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r>
              <a:rPr lang="de-DE" dirty="0"/>
              <a:t>Tipp: Eine String zu </a:t>
            </a:r>
            <a:r>
              <a:rPr lang="de-DE" sz="31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datetime</a:t>
            </a:r>
            <a:r>
              <a:rPr lang="de-DE" dirty="0"/>
              <a:t> - Konvertierung kann man auch mit der </a:t>
            </a:r>
            <a:r>
              <a:rPr lang="de-DE" sz="31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strptime</a:t>
            </a:r>
            <a:r>
              <a:rPr lang="de-DE" sz="31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(…) </a:t>
            </a:r>
            <a:r>
              <a:rPr lang="de-DE" dirty="0"/>
              <a:t>Funktion durchführen. Siehe auch </a:t>
            </a:r>
            <a:r>
              <a:rPr lang="de-DE" dirty="0">
                <a:hlinkClick r:id="rId2"/>
              </a:rPr>
              <a:t>https://www.programiz.com/python-programming/datetime/strptime</a:t>
            </a:r>
            <a:r>
              <a:rPr lang="de-DE" dirty="0"/>
              <a:t> 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6C71408-F581-DC8F-8D05-81764B427D6E}"/>
              </a:ext>
            </a:extLst>
          </p:cNvPr>
          <p:cNvSpPr txBox="1"/>
          <p:nvPr/>
        </p:nvSpPr>
        <p:spPr>
          <a:xfrm>
            <a:off x="397837" y="4365104"/>
            <a:ext cx="8579296" cy="132343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de-DE" sz="1600" b="1">
                <a:latin typeface="Courier New" panose="02070309020205020404" pitchFamily="49" charset="0"/>
                <a:cs typeface="Courier New" panose="02070309020205020404" pitchFamily="49" charset="0"/>
              </a:rPr>
              <a:t>import datetime</a:t>
            </a:r>
          </a:p>
          <a:p>
            <a:pPr marL="0" indent="0">
              <a:buNone/>
            </a:pPr>
            <a:r>
              <a:rPr lang="de-DE" sz="1600" b="1">
                <a:latin typeface="Courier New" panose="02070309020205020404" pitchFamily="49" charset="0"/>
                <a:cs typeface="Courier New" panose="02070309020205020404" pitchFamily="49" charset="0"/>
              </a:rPr>
              <a:t>e = input("Datum eingeben&gt;") </a:t>
            </a:r>
            <a:r>
              <a:rPr lang="de-DE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Datum als String</a:t>
            </a:r>
          </a:p>
          <a:p>
            <a:pPr marL="0" indent="0">
              <a:buNone/>
            </a:pPr>
            <a:r>
              <a:rPr lang="de-DE" sz="1600" b="1">
                <a:latin typeface="Courier New" panose="02070309020205020404" pitchFamily="49" charset="0"/>
                <a:cs typeface="Courier New" panose="02070309020205020404" pitchFamily="49" charset="0"/>
              </a:rPr>
              <a:t>d = e.split(".")  </a:t>
            </a:r>
            <a:r>
              <a:rPr lang="de-DE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String an den "." aufsplitten</a:t>
            </a:r>
          </a:p>
          <a:p>
            <a:pPr marL="0" indent="0">
              <a:buNone/>
            </a:pPr>
            <a:r>
              <a:rPr lang="de-DE" sz="1600" b="1">
                <a:latin typeface="Courier New" panose="02070309020205020404" pitchFamily="49" charset="0"/>
                <a:cs typeface="Courier New" panose="02070309020205020404" pitchFamily="49" charset="0"/>
              </a:rPr>
              <a:t>dt= datetime.datetime(d[2], d[1], d[0]) </a:t>
            </a:r>
            <a:r>
              <a:rPr lang="de-DE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Erzeugtes datetime</a:t>
            </a:r>
          </a:p>
          <a:p>
            <a:pPr marL="0" indent="0">
              <a:buNone/>
            </a:pPr>
            <a:r>
              <a:rPr lang="de-DE" sz="1600" b="1">
                <a:latin typeface="Courier New" panose="02070309020205020404" pitchFamily="49" charset="0"/>
                <a:cs typeface="Courier New" panose="02070309020205020404" pitchFamily="49" charset="0"/>
              </a:rPr>
              <a:t>print("</a:t>
            </a:r>
            <a:r>
              <a:rPr lang="de-DE" sz="16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Datetime-Objekt</a:t>
            </a:r>
            <a:r>
              <a:rPr lang="de-DE" sz="1600" b="1">
                <a:latin typeface="Courier New" panose="02070309020205020404" pitchFamily="49" charset="0"/>
                <a:cs typeface="Courier New" panose="02070309020205020404" pitchFamily="49" charset="0"/>
              </a:rPr>
              <a:t>:",dt)</a:t>
            </a:r>
          </a:p>
        </p:txBody>
      </p:sp>
    </p:spTree>
    <p:extLst>
      <p:ext uri="{BB962C8B-B14F-4D97-AF65-F5344CB8AC3E}">
        <p14:creationId xmlns:p14="http://schemas.microsoft.com/office/powerpoint/2010/main" val="183694046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4E9D01-CF53-31E1-1A8F-CB4BC930E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strftime()</a:t>
            </a:r>
            <a:r>
              <a:rPr lang="de-DE"/>
              <a:t>- Funktion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3462C3-D838-FEF4-5C34-84EFBF248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291" y="1196752"/>
            <a:ext cx="8712968" cy="5251721"/>
          </a:xfrm>
        </p:spPr>
        <p:txBody>
          <a:bodyPr>
            <a:normAutofit fontScale="70000" lnSpcReduction="20000"/>
          </a:bodyPr>
          <a:lstStyle/>
          <a:p>
            <a:r>
              <a:rPr lang="de-DE" dirty="0"/>
              <a:t>Man kann </a:t>
            </a:r>
            <a:r>
              <a:rPr lang="de-DE" dirty="0" err="1"/>
              <a:t>datetime</a:t>
            </a:r>
            <a:r>
              <a:rPr lang="de-DE" dirty="0"/>
              <a:t>-Objekte zwar behelfsweise mit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dirty="0"/>
              <a:t> ausgeben, aber in einem </a:t>
            </a:r>
            <a:r>
              <a:rPr lang="de-DE" dirty="0" err="1"/>
              <a:t>fString</a:t>
            </a:r>
            <a:r>
              <a:rPr lang="de-DE" dirty="0"/>
              <a:t> funktionieren sie nur bedingt – auch kann man sie nicht direkt in eine Datenbank einfügen (SQL-Insert ist ein String).</a:t>
            </a:r>
          </a:p>
          <a:p>
            <a:r>
              <a:rPr lang="de-DE" dirty="0"/>
              <a:t>Die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strftime</a:t>
            </a:r>
            <a:r>
              <a:rPr lang="de-DE" dirty="0"/>
              <a:t> – Methode ermöglicht ein mit Formatcodes frei definierbares Umwandeln des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de-DE" dirty="0"/>
              <a:t> - Objekts in einen String, der sich vielseitig verwenden lässt und funktioniert bei 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de-DE" dirty="0"/>
              <a:t>, 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de-DE" dirty="0"/>
              <a:t> und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-Objekten</a:t>
            </a:r>
            <a:r>
              <a:rPr lang="de-DE" dirty="0"/>
              <a:t>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Überblick mit allen Formatierungs-Codes </a:t>
            </a:r>
            <a:r>
              <a:rPr lang="de-DE" dirty="0">
                <a:hlinkClick r:id="rId2"/>
              </a:rPr>
              <a:t>https://www.programiz.com/python-programming/datetime/strftime</a:t>
            </a:r>
            <a:r>
              <a:rPr lang="de-DE" dirty="0"/>
              <a:t> 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091588C-E924-44C0-0B7C-36867D04FE08}"/>
              </a:ext>
            </a:extLst>
          </p:cNvPr>
          <p:cNvSpPr txBox="1"/>
          <p:nvPr/>
        </p:nvSpPr>
        <p:spPr>
          <a:xfrm>
            <a:off x="355757" y="3212976"/>
            <a:ext cx="8568952" cy="230832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endParaRPr lang="de-DE" sz="1200" b="1" dirty="0">
              <a:solidFill>
                <a:schemeClr val="accent4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locale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Modul für internationale Regionaleinstellungen</a:t>
            </a:r>
          </a:p>
          <a:p>
            <a:endParaRPr lang="de-D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locale.setlocale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locale.LC_ALL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'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de_de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  <a:r>
              <a:rPr lang="de-DE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Umstellen auf Deutsch, z.B. für Wochentage</a:t>
            </a:r>
          </a:p>
          <a:p>
            <a:endParaRPr lang="de-D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jetzt =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datetime.datetime.now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# Aktuelles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-Objekt</a:t>
            </a:r>
          </a:p>
          <a:p>
            <a:endParaRPr lang="de-D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db_jetzt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jetzt.</a:t>
            </a:r>
            <a:r>
              <a:rPr lang="de-DE" sz="12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strftime</a:t>
            </a:r>
            <a:r>
              <a:rPr lang="de-DE" sz="1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de-DE" sz="12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%Y-%m-%d %H:%M:%S</a:t>
            </a:r>
            <a:r>
              <a:rPr lang="de-DE" sz="1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')       </a:t>
            </a:r>
            <a:r>
              <a:rPr lang="de-DE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MySQL-kompatibles DATETIME</a:t>
            </a:r>
          </a:p>
          <a:p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zs_jetzt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jetzt.</a:t>
            </a:r>
            <a:r>
              <a:rPr lang="de-DE" sz="12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strftime</a:t>
            </a:r>
            <a:r>
              <a:rPr lang="de-DE" sz="1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de-DE" sz="12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%A, %</a:t>
            </a:r>
            <a:r>
              <a:rPr lang="de-DE" sz="1200" b="1" i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d.%m.%Y</a:t>
            </a:r>
            <a:r>
              <a:rPr lang="de-DE" sz="12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| %H:%M:%S</a:t>
            </a:r>
            <a:r>
              <a:rPr lang="de-DE" sz="1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") </a:t>
            </a:r>
            <a:r>
              <a:rPr lang="de-DE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Selbst ausgedachter Zeitstempel</a:t>
            </a:r>
          </a:p>
          <a:p>
            <a:endParaRPr lang="de-D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200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2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de-D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{'ISO-Zeit (MySQL-INSERT-kompatibel)&gt;':40} {db_jetzt:30}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de-DE" sz="1200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2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de-D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{'Selbstdefinierter Zeitstempel&gt;':40}{zs_jetzt:30}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3696213-276C-7785-BC64-7101EA70DD7A}"/>
              </a:ext>
            </a:extLst>
          </p:cNvPr>
          <p:cNvSpPr txBox="1"/>
          <p:nvPr/>
        </p:nvSpPr>
        <p:spPr>
          <a:xfrm>
            <a:off x="948796" y="6165304"/>
            <a:ext cx="7246407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400" b="0" i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"MySQL retrieves and displays DATETIME values in ' </a:t>
            </a:r>
            <a:r>
              <a:rPr lang="en-US" sz="1400" b="1" i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YYYY-MM-DD hh:mm:ss</a:t>
            </a:r>
            <a:r>
              <a:rPr lang="en-US" sz="1400" b="0" i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' format. </a:t>
            </a:r>
            <a:br>
              <a:rPr lang="en-US" sz="1400" b="0" i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</a:br>
            <a:r>
              <a:rPr lang="en-US" sz="1400" b="0" i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 supported range is '1000-01-01 00:00:00' to '9999-12-31 23:59:59' ."</a:t>
            </a:r>
            <a:endParaRPr lang="de-DE" sz="1400" i="1"/>
          </a:p>
        </p:txBody>
      </p:sp>
    </p:spTree>
    <p:extLst>
      <p:ext uri="{BB962C8B-B14F-4D97-AF65-F5344CB8AC3E}">
        <p14:creationId xmlns:p14="http://schemas.microsoft.com/office/powerpoint/2010/main" val="101045395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400ED7-D97F-EA4C-0EB0-3A3D336A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timedelta</a:t>
            </a:r>
            <a:r>
              <a:rPr lang="de-DE"/>
              <a:t> - Objekte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409B1B-711C-B912-874B-2E9469E51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08324"/>
          </a:xfrm>
        </p:spPr>
        <p:txBody>
          <a:bodyPr>
            <a:normAutofit fontScale="92500" lnSpcReduction="10000"/>
          </a:bodyPr>
          <a:lstStyle/>
          <a:p>
            <a:r>
              <a:rPr lang="de-DE"/>
              <a:t>Beim Subtrahieren von </a:t>
            </a:r>
            <a:r>
              <a:rPr lang="de-DE" sz="2800" b="1">
                <a:latin typeface="Courier New" panose="02070309020205020404" pitchFamily="49" charset="0"/>
                <a:cs typeface="Courier New" panose="02070309020205020404" pitchFamily="49" charset="0"/>
              </a:rPr>
              <a:t>datetime</a:t>
            </a:r>
            <a:r>
              <a:rPr lang="de-DE"/>
              <a:t> – Objekten erhält man automatisch ein </a:t>
            </a:r>
            <a:r>
              <a:rPr lang="de-DE" sz="2800" b="1">
                <a:latin typeface="Courier New" panose="02070309020205020404" pitchFamily="49" charset="0"/>
                <a:cs typeface="Courier New" panose="02070309020205020404" pitchFamily="49" charset="0"/>
              </a:rPr>
              <a:t>timedelta</a:t>
            </a:r>
            <a:r>
              <a:rPr lang="de-DE"/>
              <a:t> – Objekt.</a:t>
            </a:r>
          </a:p>
          <a:p>
            <a:r>
              <a:rPr lang="de-DE"/>
              <a:t>Aus dem </a:t>
            </a:r>
            <a:r>
              <a:rPr lang="de-DE" sz="2800" b="1">
                <a:latin typeface="Courier New" panose="02070309020205020404" pitchFamily="49" charset="0"/>
                <a:cs typeface="Courier New" panose="02070309020205020404" pitchFamily="49" charset="0"/>
              </a:rPr>
              <a:t>timedelta</a:t>
            </a:r>
            <a:r>
              <a:rPr lang="de-DE"/>
              <a:t> – Objekt kann man mit der Methode </a:t>
            </a:r>
            <a:r>
              <a:rPr lang="de-DE" sz="2800" b="1">
                <a:latin typeface="Courier New" panose="02070309020205020404" pitchFamily="49" charset="0"/>
                <a:cs typeface="Courier New" panose="02070309020205020404" pitchFamily="49" charset="0"/>
              </a:rPr>
              <a:t>.days </a:t>
            </a:r>
            <a:r>
              <a:rPr lang="de-DE"/>
              <a:t>in Tage umrechnen, mit </a:t>
            </a:r>
            <a:r>
              <a:rPr lang="de-DE" sz="2800" b="1">
                <a:latin typeface="Courier New" panose="02070309020205020404" pitchFamily="49" charset="0"/>
                <a:cs typeface="Courier New" panose="02070309020205020404" pitchFamily="49" charset="0"/>
              </a:rPr>
              <a:t>.total_seconds() </a:t>
            </a:r>
            <a:r>
              <a:rPr lang="de-DE"/>
              <a:t>in Sekunden: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81C5517-7505-00E3-1F38-205B96101A60}"/>
              </a:ext>
            </a:extLst>
          </p:cNvPr>
          <p:cNvSpPr txBox="1"/>
          <p:nvPr/>
        </p:nvSpPr>
        <p:spPr>
          <a:xfrm>
            <a:off x="179512" y="4091088"/>
            <a:ext cx="8856984" cy="230832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import datetime</a:t>
            </a:r>
          </a:p>
          <a:p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jetzt=datetime.datetime.now()   </a:t>
            </a:r>
            <a:r>
              <a:rPr lang="de-DE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Jetziger Zeitstempel</a:t>
            </a:r>
          </a:p>
          <a:p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dt=datetime.datetime(2005,12,24)</a:t>
            </a:r>
            <a:r>
              <a:rPr lang="de-DE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Zeitstempel 24.12.2005</a:t>
            </a:r>
          </a:p>
          <a:p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diff = jetzt - dt </a:t>
            </a:r>
            <a:r>
              <a:rPr lang="de-DE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Differenz --&gt; timedelta Objekt wird erzeugt</a:t>
            </a:r>
          </a:p>
          <a:p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print(diff,"(timedelta-Objekt)")</a:t>
            </a:r>
          </a:p>
          <a:p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print(diff.</a:t>
            </a:r>
            <a:r>
              <a:rPr lang="de-DE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days</a:t>
            </a:r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,"Tage")</a:t>
            </a:r>
          </a:p>
          <a:p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print(diff.</a:t>
            </a:r>
            <a:r>
              <a:rPr lang="de-DE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days</a:t>
            </a:r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*24,"Stunden")</a:t>
            </a:r>
          </a:p>
          <a:p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print(diff.</a:t>
            </a:r>
            <a:r>
              <a:rPr lang="de-DE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total_seconds()</a:t>
            </a:r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,"Sekunden")</a:t>
            </a:r>
          </a:p>
        </p:txBody>
      </p:sp>
    </p:spTree>
    <p:extLst>
      <p:ext uri="{BB962C8B-B14F-4D97-AF65-F5344CB8AC3E}">
        <p14:creationId xmlns:p14="http://schemas.microsoft.com/office/powerpoint/2010/main" val="144430506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B96CB4-05FA-3017-D112-4EF4F0CE6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strptime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dirty="0"/>
              <a:t>- Funktion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FD6F52-73E2-161E-3553-AC4F9497D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701008"/>
          </a:xfrm>
        </p:spPr>
        <p:txBody>
          <a:bodyPr>
            <a:normAutofit fontScale="92500" lnSpcReduction="10000"/>
          </a:bodyPr>
          <a:lstStyle/>
          <a:p>
            <a:r>
              <a:rPr lang="de-DE"/>
              <a:t>Will man einen String (z.B. eine Eingabe) in ein datetime – Objekt umwanden, so kann man statt der Zerlegung des Strings mit </a:t>
            </a:r>
            <a:r>
              <a:rPr lang="de-DE" sz="2800" b="1">
                <a:latin typeface="Courier New" panose="02070309020205020404" pitchFamily="49" charset="0"/>
                <a:cs typeface="Courier New" panose="02070309020205020404" pitchFamily="49" charset="0"/>
              </a:rPr>
              <a:t>.split(…) </a:t>
            </a:r>
            <a:r>
              <a:rPr lang="de-DE"/>
              <a:t>auch die </a:t>
            </a:r>
            <a:r>
              <a:rPr lang="de-DE" sz="2800" b="1">
                <a:latin typeface="Courier New" panose="02070309020205020404" pitchFamily="49" charset="0"/>
                <a:cs typeface="Courier New" panose="02070309020205020404" pitchFamily="49" charset="0"/>
              </a:rPr>
              <a:t>strptime() </a:t>
            </a:r>
            <a:r>
              <a:rPr lang="de-DE"/>
              <a:t>– Funktion verwenden.</a:t>
            </a:r>
          </a:p>
          <a:p>
            <a:r>
              <a:rPr lang="de-DE"/>
              <a:t>Argumente der Funktion sind der String und ein Formatierungsstring. Dabei werden die gleichen Formatierungscodes wie bei </a:t>
            </a:r>
            <a:r>
              <a:rPr lang="de-DE" sz="2800" b="1">
                <a:latin typeface="Courier New" panose="02070309020205020404" pitchFamily="49" charset="0"/>
                <a:cs typeface="Courier New" panose="02070309020205020404" pitchFamily="49" charset="0"/>
              </a:rPr>
              <a:t>strftime()</a:t>
            </a:r>
            <a:r>
              <a:rPr lang="de-DE"/>
              <a:t> verwendet.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0304EC4-4CD5-2009-7B14-CA0D0C845605}"/>
              </a:ext>
            </a:extLst>
          </p:cNvPr>
          <p:cNvSpPr txBox="1"/>
          <p:nvPr/>
        </p:nvSpPr>
        <p:spPr>
          <a:xfrm>
            <a:off x="251520" y="5198367"/>
            <a:ext cx="8669361" cy="138499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DE" sz="14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400" b="1">
                <a:latin typeface="Courier New" panose="02070309020205020404" pitchFamily="49" charset="0"/>
                <a:cs typeface="Courier New" panose="02070309020205020404" pitchFamily="49" charset="0"/>
              </a:rPr>
              <a:t> datetime as </a:t>
            </a:r>
            <a:r>
              <a:rPr lang="de-DE" sz="14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</a:p>
          <a:p>
            <a:endParaRPr lang="de-DE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400" b="1">
                <a:latin typeface="Courier New" panose="02070309020205020404" pitchFamily="49" charset="0"/>
                <a:cs typeface="Courier New" panose="02070309020205020404" pitchFamily="49" charset="0"/>
              </a:rPr>
              <a:t>dstring = </a:t>
            </a:r>
            <a:r>
              <a:rPr lang="de-DE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"08.11.1895"</a:t>
            </a:r>
            <a:r>
              <a:rPr lang="de-DE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Datum der Entdeckung Roentgenstrahlung als String</a:t>
            </a:r>
          </a:p>
          <a:p>
            <a:r>
              <a:rPr lang="de-DE" sz="1400" b="1">
                <a:latin typeface="Courier New" panose="02070309020205020404" pitchFamily="49" charset="0"/>
                <a:cs typeface="Courier New" panose="02070309020205020404" pitchFamily="49" charset="0"/>
              </a:rPr>
              <a:t>dto = dt.datetime.strptime(dstring, </a:t>
            </a:r>
            <a:r>
              <a:rPr lang="de-DE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"%d.%m.%Y"</a:t>
            </a:r>
            <a:r>
              <a:rPr lang="de-DE" sz="14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de-DE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Umwandlung in datetime-Objekt</a:t>
            </a:r>
          </a:p>
          <a:p>
            <a:r>
              <a:rPr lang="de-DE" sz="1400" b="1">
                <a:latin typeface="Courier New" panose="02070309020205020404" pitchFamily="49" charset="0"/>
                <a:cs typeface="Courier New" panose="02070309020205020404" pitchFamily="49" charset="0"/>
              </a:rPr>
              <a:t>differenz = dt.datetime.now() - dto  </a:t>
            </a:r>
            <a:r>
              <a:rPr lang="de-DE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timedelta-Berechnung zu heute bzw. jetzt</a:t>
            </a:r>
          </a:p>
          <a:p>
            <a:r>
              <a:rPr lang="de-DE" sz="1400" b="1">
                <a:latin typeface="Courier New" panose="02070309020205020404" pitchFamily="49" charset="0"/>
                <a:cs typeface="Courier New" panose="02070309020205020404" pitchFamily="49" charset="0"/>
              </a:rPr>
              <a:t>print(differenz.days, </a:t>
            </a:r>
            <a:r>
              <a:rPr lang="de-DE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"Tage seit Entdeckung Roentgens"</a:t>
            </a:r>
            <a:r>
              <a:rPr lang="de-DE" sz="1400" b="1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de-DE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Ausgabe in Tagen</a:t>
            </a:r>
          </a:p>
        </p:txBody>
      </p:sp>
    </p:spTree>
    <p:extLst>
      <p:ext uri="{BB962C8B-B14F-4D97-AF65-F5344CB8AC3E}">
        <p14:creationId xmlns:p14="http://schemas.microsoft.com/office/powerpoint/2010/main" val="360617851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F714B9-012A-6EEC-CBC2-AAE2F7C2D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7560840" cy="1143000"/>
          </a:xfrm>
        </p:spPr>
        <p:txBody>
          <a:bodyPr>
            <a:normAutofit fontScale="90000"/>
          </a:bodyPr>
          <a:lstStyle/>
          <a:p>
            <a:r>
              <a:rPr lang="de-DE" dirty="0"/>
              <a:t>Modul </a:t>
            </a:r>
            <a:r>
              <a:rPr lang="de-DE" sz="4900" b="1" dirty="0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br>
              <a:rPr lang="de-DE" dirty="0"/>
            </a:br>
            <a:r>
              <a:rPr lang="de-DE" sz="2700" dirty="0"/>
              <a:t>(Spezielle Funktionen für Systemzeit, </a:t>
            </a:r>
            <a:r>
              <a:rPr lang="de-DE" sz="2700" dirty="0" err="1"/>
              <a:t>Epoch</a:t>
            </a:r>
            <a:r>
              <a:rPr lang="de-DE" sz="2700" dirty="0"/>
              <a:t> und Zeitzonen)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310F93-19A1-6977-D3AA-863932916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500808"/>
            <a:ext cx="9036496" cy="5357192"/>
          </a:xfrm>
        </p:spPr>
        <p:txBody>
          <a:bodyPr>
            <a:normAutofit fontScale="62500" lnSpcReduction="20000"/>
          </a:bodyPr>
          <a:lstStyle/>
          <a:p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=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time.localtime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dirty="0">
                <a:sym typeface="Wingdings" panose="05000000000000000000" pitchFamily="2" charset="2"/>
              </a:rPr>
              <a:t> Erzeugt ein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struct_time</a:t>
            </a:r>
            <a:r>
              <a:rPr lang="de-DE" dirty="0">
                <a:sym typeface="Wingdings" panose="05000000000000000000" pitchFamily="2" charset="2"/>
              </a:rPr>
              <a:t>-Objekt mit der aktuellen Zeit</a:t>
            </a:r>
          </a:p>
          <a:p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 =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time.gmtime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Ereugt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struct_time</a:t>
            </a:r>
            <a:r>
              <a:rPr lang="de-DE" dirty="0">
                <a:sym typeface="Wingdings" panose="05000000000000000000" pitchFamily="2" charset="2"/>
              </a:rPr>
              <a:t>-Objekt in GMT/UTC</a:t>
            </a:r>
          </a:p>
          <a:p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ts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time.ctime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 </a:t>
            </a:r>
            <a:r>
              <a:rPr lang="de-DE" dirty="0">
                <a:sym typeface="Wingdings" panose="05000000000000000000" pitchFamily="2" charset="2"/>
              </a:rPr>
              <a:t> Erzeugt einen Standardstring mit der aktuellen Zeit</a:t>
            </a:r>
          </a:p>
          <a:p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ep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time.mktime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struct_t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 </a:t>
            </a:r>
            <a:r>
              <a:rPr lang="de-DE" dirty="0">
                <a:sym typeface="Wingdings" panose="05000000000000000000" pitchFamily="2" charset="2"/>
              </a:rPr>
              <a:t> Erzeugt aus einem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struct_time</a:t>
            </a:r>
            <a:r>
              <a:rPr lang="de-DE" dirty="0">
                <a:sym typeface="Wingdings" panose="05000000000000000000" pitchFamily="2" charset="2"/>
              </a:rPr>
              <a:t>-Objekt ein </a:t>
            </a:r>
            <a:r>
              <a:rPr lang="de-DE" dirty="0" err="1">
                <a:sym typeface="Wingdings" panose="05000000000000000000" pitchFamily="2" charset="2"/>
              </a:rPr>
              <a:t>Epoch</a:t>
            </a:r>
            <a:r>
              <a:rPr lang="de-DE" dirty="0">
                <a:sym typeface="Wingdings" panose="05000000000000000000" pitchFamily="2" charset="2"/>
              </a:rPr>
              <a:t> (</a:t>
            </a:r>
            <a:r>
              <a:rPr lang="de-DE" dirty="0" err="1">
                <a:sym typeface="Wingdings" panose="05000000000000000000" pitchFamily="2" charset="2"/>
              </a:rPr>
              <a:t>Float</a:t>
            </a:r>
            <a:r>
              <a:rPr lang="de-DE" dirty="0">
                <a:sym typeface="Wingdings" panose="05000000000000000000" pitchFamily="2" charset="2"/>
              </a:rPr>
              <a:t>-Zahl mit der Anzahl d. Sekunden seit dem 1.1.1970 00:00)</a:t>
            </a:r>
          </a:p>
          <a:p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ep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time.time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 </a:t>
            </a:r>
            <a:r>
              <a:rPr lang="de-DE" dirty="0">
                <a:sym typeface="Wingdings" panose="05000000000000000000" pitchFamily="2" charset="2"/>
              </a:rPr>
              <a:t> Erzeugt aus der aktuellen Zeit ein </a:t>
            </a:r>
            <a:r>
              <a:rPr lang="de-DE" dirty="0" err="1">
                <a:sym typeface="Wingdings" panose="05000000000000000000" pitchFamily="2" charset="2"/>
              </a:rPr>
              <a:t>Epoch</a:t>
            </a:r>
            <a:r>
              <a:rPr lang="de-DE" dirty="0">
                <a:sym typeface="Wingdings" panose="05000000000000000000" pitchFamily="2" charset="2"/>
              </a:rPr>
              <a:t> (Sekunden seit 1.1.1970)</a:t>
            </a:r>
          </a:p>
          <a:p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time.sleep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(3.78) </a:t>
            </a:r>
            <a:r>
              <a:rPr lang="de-DE" dirty="0">
                <a:sym typeface="Wingdings" panose="05000000000000000000" pitchFamily="2" charset="2"/>
              </a:rPr>
              <a:t> Pausiert das Python-Programm für 3.78s</a:t>
            </a:r>
          </a:p>
          <a:p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sec =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time.monotonic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 </a:t>
            </a:r>
            <a:r>
              <a:rPr lang="de-DE" dirty="0">
                <a:sym typeface="Wingdings" panose="05000000000000000000" pitchFamily="2" charset="2"/>
              </a:rPr>
              <a:t> Zeigt die Anzahl der Sekunden seit dem Systemstart an, nicht abhängig von der Zeiteinstellung des OS</a:t>
            </a:r>
          </a:p>
          <a:p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ct =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time.process_time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sz="3100" dirty="0">
                <a:sym typeface="Wingdings" panose="05000000000000000000" pitchFamily="2" charset="2"/>
              </a:rPr>
              <a:t> Erzeugt die vom aktuellen Prozess verbrauchte CPU-Zeit in Sekunden</a:t>
            </a:r>
          </a:p>
          <a:p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zs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t.strftime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("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format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") </a:t>
            </a:r>
            <a:r>
              <a:rPr lang="de-DE" sz="3100" dirty="0">
                <a:sym typeface="Wingdings" panose="05000000000000000000" pitchFamily="2" charset="2"/>
              </a:rPr>
              <a:t> Erzeugt aus einem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struct_time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sz="2800" dirty="0">
                <a:sym typeface="Wingdings" panose="05000000000000000000" pitchFamily="2" charset="2"/>
              </a:rPr>
              <a:t>/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datetime</a:t>
            </a:r>
            <a:r>
              <a:rPr lang="de-DE" sz="3100" dirty="0">
                <a:sym typeface="Wingdings" panose="05000000000000000000" pitchFamily="2" charset="2"/>
              </a:rPr>
              <a:t>-Objekt einen String, siehe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datetime</a:t>
            </a:r>
            <a:r>
              <a:rPr lang="de-DE" sz="3000" dirty="0">
                <a:sym typeface="Wingdings" panose="05000000000000000000" pitchFamily="2" charset="2"/>
              </a:rPr>
              <a:t>-Folie</a:t>
            </a:r>
          </a:p>
          <a:p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 =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strptime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zs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"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format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") </a:t>
            </a:r>
            <a:r>
              <a:rPr lang="de-DE" sz="3100" dirty="0">
                <a:sym typeface="Wingdings" panose="05000000000000000000" pitchFamily="2" charset="2"/>
              </a:rPr>
              <a:t> Erzeugt aus einem String mit der Zeit ein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struct_time</a:t>
            </a:r>
            <a:r>
              <a:rPr lang="de-DE" sz="3100" dirty="0">
                <a:sym typeface="Wingdings" panose="05000000000000000000" pitchFamily="2" charset="2"/>
              </a:rPr>
              <a:t>-Objekt</a:t>
            </a:r>
          </a:p>
          <a:p>
            <a:r>
              <a:rPr lang="de-DE" sz="27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time.timezone</a:t>
            </a:r>
            <a:r>
              <a:rPr lang="de-DE" sz="27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sz="3100" dirty="0">
                <a:sym typeface="Wingdings" panose="05000000000000000000" pitchFamily="2" charset="2"/>
              </a:rPr>
              <a:t> Zeigt den Unterschied zwischen UTC und lokaler Zeit aus Sicht von UTC in Sekunden an (In Deutschland also eine negative Zahl)</a:t>
            </a:r>
          </a:p>
          <a:p>
            <a:endParaRPr lang="de-DE" sz="3100" dirty="0"/>
          </a:p>
        </p:txBody>
      </p:sp>
    </p:spTree>
    <p:extLst>
      <p:ext uri="{BB962C8B-B14F-4D97-AF65-F5344CB8AC3E}">
        <p14:creationId xmlns:p14="http://schemas.microsoft.com/office/powerpoint/2010/main" val="420412224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815CA2-51CC-1FA6-E04B-BC5781A8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6048672" cy="994122"/>
          </a:xfrm>
        </p:spPr>
        <p:txBody>
          <a:bodyPr>
            <a:noAutofit/>
          </a:bodyPr>
          <a:lstStyle/>
          <a:p>
            <a:r>
              <a:rPr lang="de-DE" sz="3600" dirty="0"/>
              <a:t> Modul </a:t>
            </a:r>
            <a:r>
              <a:rPr lang="de-DE" sz="3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yfinance</a:t>
            </a:r>
            <a:r>
              <a:rPr lang="de-DE" sz="3600" dirty="0"/>
              <a:t> </a:t>
            </a:r>
            <a:br>
              <a:rPr lang="de-DE" sz="3600" dirty="0"/>
            </a:br>
            <a:r>
              <a:rPr lang="de-DE" sz="3600" dirty="0"/>
              <a:t>Datenabruf von Yahoo Finance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44B46B-94F3-2670-110B-741E96DA7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638"/>
            <a:ext cx="9144000" cy="5440362"/>
          </a:xfrm>
        </p:spPr>
        <p:txBody>
          <a:bodyPr>
            <a:normAutofit fontScale="70000" lnSpcReduction="20000"/>
          </a:bodyPr>
          <a:lstStyle/>
          <a:p>
            <a:r>
              <a:rPr lang="de-DE" b="1" dirty="0" err="1"/>
              <a:t>yfinance</a:t>
            </a:r>
            <a:r>
              <a:rPr lang="de-DE" dirty="0"/>
              <a:t> ist eine Python-Bibliothek, die es Benutzern ermöglicht, historische und aktuelle Marktdaten von </a:t>
            </a:r>
            <a:r>
              <a:rPr lang="de-DE" b="1" dirty="0">
                <a:solidFill>
                  <a:srgbClr val="002060"/>
                </a:solidFill>
              </a:rPr>
              <a:t>Yahoo Finance </a:t>
            </a:r>
            <a:r>
              <a:rPr lang="de-DE" dirty="0"/>
              <a:t>herunterzuladen. </a:t>
            </a:r>
          </a:p>
          <a:p>
            <a:r>
              <a:rPr lang="de-DE" dirty="0"/>
              <a:t>Ideal für Finanzdatenanalyse, Börsenforschung, Firmendaten und Daten für algorithmischen Handel.</a:t>
            </a:r>
          </a:p>
          <a:p>
            <a:r>
              <a:rPr lang="de-DE" dirty="0"/>
              <a:t>Das Modul  nutzt keine Web-API, sondern </a:t>
            </a:r>
            <a:r>
              <a:rPr lang="de-DE" dirty="0" err="1"/>
              <a:t>Scraping</a:t>
            </a:r>
            <a:r>
              <a:rPr lang="de-DE" dirty="0"/>
              <a:t> (Maschinelles Ablesen der Webseiten) – Ist kostenlos, ohne Key und unbegrenzt nutzbar!</a:t>
            </a:r>
          </a:p>
          <a:p>
            <a:r>
              <a:rPr lang="de-DE" dirty="0"/>
              <a:t>Was geht?</a:t>
            </a:r>
          </a:p>
          <a:p>
            <a:pPr lvl="1"/>
            <a:r>
              <a:rPr lang="de-DE" dirty="0"/>
              <a:t>Abrufen historischer Daten für Aktien, ETFs, Investmentfonds und Kryptowährungen. Daten umfassen Eröffnungs-, Höchst-, Tiefst- und Schlusskurse, Handelsvolumen und Dividenden.</a:t>
            </a:r>
          </a:p>
          <a:p>
            <a:pPr lvl="1"/>
            <a:r>
              <a:rPr lang="de-DE" dirty="0"/>
              <a:t>Zugriff auf Echtzeit-Aktienkurse und andere Finanzkennzahlen. Abrufen der neuesten Handelsdaten für verschiedene Wertpapiere.</a:t>
            </a:r>
          </a:p>
          <a:p>
            <a:pPr lvl="1"/>
            <a:r>
              <a:rPr lang="de-DE" dirty="0"/>
              <a:t>Zugriff auf Finanzberichte wie Bilanzen, Gewinn- und Verlustrechnungen und Kapitalflussrechnungen. Abrufen von </a:t>
            </a:r>
            <a:r>
              <a:rPr lang="de-DE" dirty="0" err="1"/>
              <a:t>Unternehmeninformationen</a:t>
            </a:r>
            <a:r>
              <a:rPr lang="de-DE" dirty="0"/>
              <a:t> wie Branche, Sektor und Geschäftsbeschreibung.</a:t>
            </a:r>
          </a:p>
          <a:p>
            <a:pPr lvl="1"/>
            <a:r>
              <a:rPr lang="de-DE" dirty="0"/>
              <a:t>Infos zu Dividenden und Aktiensplits</a:t>
            </a:r>
          </a:p>
          <a:p>
            <a:pPr lvl="1"/>
            <a:r>
              <a:rPr lang="de-DE" dirty="0"/>
              <a:t>Möglichkeit, mehrere Wertpapiere in einer Abfrage zu erfassen</a:t>
            </a:r>
          </a:p>
          <a:p>
            <a:pPr lvl="1"/>
            <a:r>
              <a:rPr lang="de-DE" dirty="0"/>
              <a:t>Unterschiedlichste Intervalle (täglich, wöchentlich, monatlich, minütlich)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4BF8896-0EB6-75A4-7A4F-BEEB6A83BA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041" b="17474"/>
          <a:stretch/>
        </p:blipFill>
        <p:spPr>
          <a:xfrm>
            <a:off x="7812360" y="274638"/>
            <a:ext cx="1103040" cy="63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67177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815CA2-51CC-1FA6-E04B-BC5781A8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74638"/>
            <a:ext cx="6480720" cy="994122"/>
          </a:xfrm>
        </p:spPr>
        <p:txBody>
          <a:bodyPr>
            <a:noAutofit/>
          </a:bodyPr>
          <a:lstStyle/>
          <a:p>
            <a:r>
              <a:rPr lang="de-DE" sz="3600" dirty="0"/>
              <a:t> Modul </a:t>
            </a:r>
            <a:r>
              <a:rPr lang="de-DE" sz="3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yfinance</a:t>
            </a:r>
            <a:r>
              <a:rPr lang="de-DE" sz="3600" dirty="0"/>
              <a:t> </a:t>
            </a:r>
            <a:br>
              <a:rPr lang="de-DE" sz="3600" dirty="0"/>
            </a:br>
            <a:r>
              <a:rPr lang="de-DE" sz="3600" dirty="0"/>
              <a:t>Installation und Nutzung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44B46B-94F3-2670-110B-741E96DA7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638"/>
            <a:ext cx="9144000" cy="5440362"/>
          </a:xfrm>
        </p:spPr>
        <p:txBody>
          <a:bodyPr>
            <a:normAutofit fontScale="85000" lnSpcReduction="20000"/>
          </a:bodyPr>
          <a:lstStyle/>
          <a:p>
            <a:r>
              <a:rPr lang="de-DE" dirty="0"/>
              <a:t>Installation mit 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pip3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yfinance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>
                <a:sym typeface="Wingdings" panose="05000000000000000000" pitchFamily="2" charset="2"/>
              </a:rPr>
              <a:t> Installiert, soweit noch nicht vorhanden,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pandas</a:t>
            </a:r>
            <a:r>
              <a:rPr lang="de-DE" dirty="0">
                <a:sym typeface="Wingdings" panose="05000000000000000000" pitchFamily="2" charset="2"/>
              </a:rPr>
              <a:t> und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numpy</a:t>
            </a:r>
            <a:r>
              <a:rPr lang="de-DE" dirty="0">
                <a:sym typeface="Wingdings" panose="05000000000000000000" pitchFamily="2" charset="2"/>
              </a:rPr>
              <a:t> gleich mit.</a:t>
            </a:r>
          </a:p>
          <a:p>
            <a:r>
              <a:rPr lang="de-DE" dirty="0">
                <a:sym typeface="Wingdings" panose="05000000000000000000" pitchFamily="2" charset="2"/>
              </a:rPr>
              <a:t>Üblich ist die Einbindung mit </a:t>
            </a:r>
            <a:r>
              <a:rPr lang="de-DE" dirty="0" err="1">
                <a:sym typeface="Wingdings" panose="05000000000000000000" pitchFamily="2" charset="2"/>
              </a:rPr>
              <a:t>import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yfinance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as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yf</a:t>
            </a:r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Download-Abfrage von historischen Kursdaten mit:</a:t>
            </a:r>
          </a:p>
          <a:p>
            <a:br>
              <a:rPr lang="de-DE" dirty="0">
                <a:sym typeface="Wingdings" panose="05000000000000000000" pitchFamily="2" charset="2"/>
              </a:rPr>
            </a:br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Daten werden bei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yfinance</a:t>
            </a:r>
            <a:r>
              <a:rPr lang="de-DE" dirty="0">
                <a:sym typeface="Wingdings" panose="05000000000000000000" pitchFamily="2" charset="2"/>
              </a:rPr>
              <a:t> als </a:t>
            </a:r>
            <a:r>
              <a:rPr lang="de-DE" b="1" dirty="0">
                <a:sym typeface="Wingdings" panose="05000000000000000000" pitchFamily="2" charset="2"/>
              </a:rPr>
              <a:t>Dataframe</a:t>
            </a:r>
            <a:r>
              <a:rPr lang="de-DE" dirty="0">
                <a:sym typeface="Wingdings" panose="05000000000000000000" pitchFamily="2" charset="2"/>
              </a:rPr>
              <a:t> geliefert, diese kann man sich wie eine 2-Dimensionale Liste (Tabelle) mit Spaltenüberschriften und Zeilenbeschriftung vorstellen, Dataframes sind eine Spezialität des Moduls </a:t>
            </a:r>
            <a:r>
              <a:rPr lang="de-DE" sz="33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pandas</a:t>
            </a:r>
            <a:r>
              <a:rPr lang="de-DE" dirty="0">
                <a:sym typeface="Wingdings" panose="05000000000000000000" pitchFamily="2" charset="2"/>
              </a:rPr>
              <a:t>. </a:t>
            </a:r>
          </a:p>
          <a:p>
            <a:r>
              <a:rPr lang="de-DE" dirty="0">
                <a:sym typeface="Wingdings" panose="05000000000000000000" pitchFamily="2" charset="2"/>
              </a:rPr>
              <a:t>Erzeugen eines Tickerobjektes für eine Aktie und Abruf von Detailinfos und letztem Kurs:</a:t>
            </a:r>
            <a:br>
              <a:rPr lang="de-DE" dirty="0">
                <a:sym typeface="Wingdings" panose="05000000000000000000" pitchFamily="2" charset="2"/>
              </a:rPr>
            </a:br>
            <a:br>
              <a:rPr lang="de-DE" dirty="0">
                <a:sym typeface="Wingdings" panose="05000000000000000000" pitchFamily="2" charset="2"/>
              </a:rPr>
            </a:br>
            <a:endParaRPr lang="de-DE" dirty="0">
              <a:sym typeface="Wingdings" panose="05000000000000000000" pitchFamily="2" charset="2"/>
            </a:endParaRP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4BF8896-0EB6-75A4-7A4F-BEEB6A83BA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041" b="17474"/>
          <a:stretch/>
        </p:blipFill>
        <p:spPr>
          <a:xfrm>
            <a:off x="7812360" y="274638"/>
            <a:ext cx="1103040" cy="63408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00EC595-90F8-2351-D5EE-D7A7DE8A6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26867"/>
            <a:ext cx="9144000" cy="66289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9213EF7-3A8C-CC3D-2370-ECA6EEAF0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64" y="5961879"/>
            <a:ext cx="9107488" cy="87269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2357840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AFEEC1-1D9E-C3F3-AC2D-0720A30BB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MicroPython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74205B-D708-584D-49BF-D4C5ABD24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389470"/>
            <a:ext cx="8229600" cy="2532544"/>
          </a:xfrm>
        </p:spPr>
        <p:txBody>
          <a:bodyPr>
            <a:normAutofit fontScale="70000" lnSpcReduction="20000"/>
          </a:bodyPr>
          <a:lstStyle/>
          <a:p>
            <a:r>
              <a:rPr lang="de-DE" dirty="0" err="1"/>
              <a:t>MicroPython</a:t>
            </a:r>
            <a:r>
              <a:rPr lang="de-DE" dirty="0"/>
              <a:t> ist eine spezielle Version von Python, mit nahezu identischer Syntax, optimiert für Microcontroller (Arduino </a:t>
            </a:r>
            <a:r>
              <a:rPr lang="de-DE" dirty="0" err="1"/>
              <a:t>Giga</a:t>
            </a:r>
            <a:r>
              <a:rPr lang="de-DE" dirty="0"/>
              <a:t>, Nano und Primo, ESP32, ESP8266 und andere)</a:t>
            </a:r>
          </a:p>
          <a:p>
            <a:r>
              <a:rPr lang="de-DE" dirty="0"/>
              <a:t>Es benötigt weniger Speicher und Rechenzeit, verlangt vom Programmierer aber teilweise etwas mehr Beachtung der Ressourcen (z.B. Speicher freigeben)</a:t>
            </a:r>
          </a:p>
          <a:p>
            <a:r>
              <a:rPr lang="de-DE" dirty="0" err="1"/>
              <a:t>MicroPython</a:t>
            </a:r>
            <a:r>
              <a:rPr lang="de-DE" dirty="0"/>
              <a:t> unterstützt auch nur einen Teil der Module, die Bestandteil der Python-Standardbibliothek sind.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69B4537-07E8-D1FC-73B3-6331A6A51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3" y="3933057"/>
            <a:ext cx="3528392" cy="2532544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ACFFAE2-1C7F-B712-B649-0B2A757AD15C}"/>
              </a:ext>
            </a:extLst>
          </p:cNvPr>
          <p:cNvSpPr txBox="1"/>
          <p:nvPr/>
        </p:nvSpPr>
        <p:spPr>
          <a:xfrm>
            <a:off x="1246991" y="6429473"/>
            <a:ext cx="2833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Beispielcode: Blinkende LED an PIN2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03E00BF-524A-2B80-21B7-9FC5F4FF33E8}"/>
              </a:ext>
            </a:extLst>
          </p:cNvPr>
          <p:cNvSpPr txBox="1"/>
          <p:nvPr/>
        </p:nvSpPr>
        <p:spPr>
          <a:xfrm>
            <a:off x="4716017" y="4298182"/>
            <a:ext cx="38164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Links:</a:t>
            </a:r>
          </a:p>
          <a:p>
            <a:pPr algn="ctr"/>
            <a:r>
              <a:rPr lang="de-DE" dirty="0">
                <a:hlinkClick r:id="rId3"/>
              </a:rPr>
              <a:t>https://docs.arduino.cc/micropython/</a:t>
            </a:r>
            <a:r>
              <a:rPr lang="de-DE" dirty="0"/>
              <a:t> </a:t>
            </a:r>
          </a:p>
          <a:p>
            <a:pPr algn="ctr"/>
            <a:r>
              <a:rPr lang="de-DE" dirty="0">
                <a:hlinkClick r:id="rId4"/>
              </a:rPr>
              <a:t>https://micropython.org/</a:t>
            </a:r>
            <a:r>
              <a:rPr lang="de-DE" dirty="0"/>
              <a:t> </a:t>
            </a:r>
          </a:p>
          <a:p>
            <a:pPr algn="ctr"/>
            <a:r>
              <a:rPr lang="de-DE" dirty="0">
                <a:hlinkClick r:id="rId5"/>
              </a:rPr>
              <a:t>https://github.com/hobbyelektroniker/Micropython-Grundlagen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203978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B33A13-A2B1-5279-E06B-86067261B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Entwicklungsplattform XAMPP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470087-5D69-44D8-D9BF-3B82AE224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176" y="1350620"/>
            <a:ext cx="8579296" cy="2764904"/>
          </a:xfrm>
        </p:spPr>
        <p:txBody>
          <a:bodyPr>
            <a:normAutofit fontScale="85000" lnSpcReduction="10000"/>
          </a:bodyPr>
          <a:lstStyle/>
          <a:p>
            <a:r>
              <a:rPr lang="de-DE"/>
              <a:t>Entwickler-Komplettpaket mit Apache-Webserver, MariaDB, PHP und Perl (Skriptsprache)</a:t>
            </a:r>
          </a:p>
          <a:p>
            <a:r>
              <a:rPr lang="de-DE"/>
              <a:t>Außerdem dabei: phpMyAdmin, Filezilla (FTP-Server), Mercury (Mailserver), Tomcat (Java-Webserver)</a:t>
            </a:r>
          </a:p>
          <a:p>
            <a:r>
              <a:rPr lang="de-DE"/>
              <a:t>Multiplattform (Win, macOS, Linux)</a:t>
            </a:r>
          </a:p>
          <a:p>
            <a:r>
              <a:rPr lang="de-DE"/>
              <a:t>Download von </a:t>
            </a:r>
            <a:r>
              <a:rPr lang="de-DE">
                <a:hlinkClick r:id="rId2"/>
              </a:rPr>
              <a:t>www.apachefriends.org</a:t>
            </a:r>
            <a:r>
              <a:rPr lang="de-DE"/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543366E-EBF4-DD7A-D7E5-C3D64A3B6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4115524"/>
            <a:ext cx="4252667" cy="270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81397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Links Python lernen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340768"/>
            <a:ext cx="8686800" cy="5386610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de-DE" dirty="0">
                <a:hlinkClick r:id="rId2"/>
              </a:rPr>
              <a:t>https://www.python.org/</a:t>
            </a:r>
            <a:r>
              <a:rPr lang="de-DE" dirty="0"/>
              <a:t> Offizielle </a:t>
            </a:r>
            <a:r>
              <a:rPr lang="de-DE" dirty="0" err="1"/>
              <a:t>cPython</a:t>
            </a:r>
            <a:r>
              <a:rPr lang="de-DE" dirty="0"/>
              <a:t>-Website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de-DE" dirty="0">
                <a:hlinkClick r:id="rId3"/>
              </a:rPr>
              <a:t>https://pypi.org</a:t>
            </a:r>
            <a:r>
              <a:rPr lang="de-DE" dirty="0"/>
              <a:t>/     (Zigtausende Python-Erweiterungen)</a:t>
            </a:r>
            <a:endParaRPr lang="de-DE" dirty="0">
              <a:hlinkClick r:id="rId3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de-DE" dirty="0">
                <a:hlinkClick r:id="rId3"/>
              </a:rPr>
              <a:t>https://docs.python.org/3/</a:t>
            </a:r>
            <a:br>
              <a:rPr lang="de-DE" dirty="0"/>
            </a:br>
            <a:r>
              <a:rPr lang="de-DE" dirty="0"/>
              <a:t>(Offizielle Dokumentation in Englisch)</a:t>
            </a:r>
            <a:endParaRPr lang="de-DE" dirty="0">
              <a:hlinkClick r:id="rId4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de-DE" dirty="0">
                <a:hlinkClick r:id="rId5"/>
              </a:rPr>
              <a:t>https://www.python-lernen.de/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>
                <a:hlinkClick r:id="rId6"/>
              </a:rPr>
              <a:t>https://www.python-kurs.eu/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(Deutsche Tutorials)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de-DE" dirty="0">
                <a:hlinkClick r:id="rId7"/>
              </a:rPr>
              <a:t>https://cs50.harvard.edu/x/2025/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(Kostenlose Kurse an der Harvard University)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de-DE" dirty="0">
                <a:hlinkClick r:id="rId8"/>
              </a:rPr>
              <a:t>https://cs50.harvard.edu/python/2022/</a:t>
            </a:r>
            <a:r>
              <a:rPr lang="de-DE" dirty="0"/>
              <a:t>   </a:t>
            </a:r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/>
              <a:t> Python</a:t>
            </a:r>
            <a:endParaRPr lang="de-DE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de-DE" dirty="0">
                <a:hlinkClick r:id="rId7"/>
              </a:rPr>
              <a:t>https://cs50.harvard.edu/x/2025/</a:t>
            </a:r>
            <a:r>
              <a:rPr lang="de-DE" dirty="0"/>
              <a:t>  </a:t>
            </a:r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Computer Science</a:t>
            </a:r>
            <a:endParaRPr lang="de-DE" dirty="0">
              <a:hlinkClick r:id="rId9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de-DE" dirty="0">
                <a:hlinkClick r:id="rId9"/>
              </a:rPr>
              <a:t>https://www.w3schools.com/python/</a:t>
            </a:r>
            <a:r>
              <a:rPr lang="de-DE" dirty="0"/>
              <a:t> Sehr gutes Python-Tutorial (englisch)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de-DE" dirty="0">
                <a:hlinkClick r:id="rId10"/>
              </a:rPr>
              <a:t>https://projecteuler.net/</a:t>
            </a:r>
            <a:r>
              <a:rPr lang="de-DE" dirty="0"/>
              <a:t> Programmieraufgaben (Englisch)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de-DE" dirty="0">
                <a:hlinkClick r:id="rId11"/>
              </a:rPr>
              <a:t>https://www.codingame.com/home</a:t>
            </a:r>
            <a:br>
              <a:rPr lang="de-DE" dirty="0"/>
            </a:br>
            <a:r>
              <a:rPr lang="de-DE" dirty="0">
                <a:hlinkClick r:id="rId12"/>
              </a:rPr>
              <a:t>https://codecombat.com/play</a:t>
            </a:r>
            <a:br>
              <a:rPr lang="de-DE" dirty="0"/>
            </a:br>
            <a:r>
              <a:rPr lang="de-DE" dirty="0"/>
              <a:t>(Kostenloses Programmierspiele um u.a. Python zu lernen)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71096A1-5815-ADBD-4067-216EDCA5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212976"/>
            <a:ext cx="2643634" cy="692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AB48F03-3CB4-3000-C767-75B10CCF4BD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52320" y="5170970"/>
            <a:ext cx="769293" cy="69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669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C3A8A-D071-96FB-470D-28CFB4035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Links Entwicklungsumgebungen für Python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7DF85F-7F40-89C9-A114-6A206B294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069160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de-DE" dirty="0">
                <a:hlinkClick r:id="rId2"/>
              </a:rPr>
              <a:t>https://code.visualstudio.com/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Der beliebteste Code Editor, Multiplattform, endlos viele </a:t>
            </a:r>
            <a:r>
              <a:rPr lang="de-DE" dirty="0" err="1"/>
              <a:t>Extensions</a:t>
            </a:r>
            <a:r>
              <a:rPr lang="de-DE" dirty="0"/>
              <a:t> (inkl. AI Coding Support), </a:t>
            </a:r>
            <a:r>
              <a:rPr lang="de-DE" dirty="0" err="1"/>
              <a:t>Git</a:t>
            </a:r>
            <a:r>
              <a:rPr lang="de-DE" dirty="0"/>
              <a:t>-Support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de-DE" dirty="0">
                <a:hlinkClick r:id="rId3"/>
              </a:rPr>
              <a:t>https://visualstudio.microsoft.com/de/vs/community/</a:t>
            </a:r>
            <a:r>
              <a:rPr lang="de-DE" dirty="0"/>
              <a:t>  </a:t>
            </a:r>
            <a:br>
              <a:rPr lang="de-DE" dirty="0"/>
            </a:br>
            <a:r>
              <a:rPr lang="de-DE" dirty="0"/>
              <a:t>(Die große Entwicklungsumgebung von Microsoft, Multiplattform, hauptsächlich für Windows-Softwareentwicklung)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de-DE" dirty="0">
                <a:hlinkClick r:id="rId4"/>
              </a:rPr>
              <a:t>https://jupyterlab.readthedocs.io/</a:t>
            </a:r>
            <a:r>
              <a:rPr lang="de-DE" dirty="0"/>
              <a:t>  (Webbasierte IDE)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de-DE" dirty="0">
                <a:hlinkClick r:id="rId5"/>
              </a:rPr>
              <a:t>https://www.jetbrains.com/de-de/pycharm/ </a:t>
            </a:r>
            <a:br>
              <a:rPr lang="de-DE" dirty="0">
                <a:hlinkClick r:id="rId5"/>
              </a:rPr>
            </a:br>
            <a:r>
              <a:rPr lang="de-DE" dirty="0"/>
              <a:t>(</a:t>
            </a:r>
            <a:r>
              <a:rPr lang="de-DE" dirty="0" err="1"/>
              <a:t>PyCharm</a:t>
            </a:r>
            <a:r>
              <a:rPr lang="de-DE" dirty="0"/>
              <a:t> IDE, wird im Buch verwendet, Community Edition kostenlos)</a:t>
            </a:r>
            <a:endParaRPr lang="de-DE" dirty="0">
              <a:hlinkClick r:id="rId5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de-DE" dirty="0">
                <a:hlinkClick r:id="rId5"/>
              </a:rPr>
              <a:t>https://pypi.org/project/spyder/</a:t>
            </a:r>
            <a:r>
              <a:rPr lang="de-DE" dirty="0"/>
              <a:t>   </a:t>
            </a:r>
            <a:br>
              <a:rPr lang="de-DE" dirty="0"/>
            </a:br>
            <a:r>
              <a:rPr lang="de-DE" dirty="0"/>
              <a:t>(Weitere, sehr populäre IDE)</a:t>
            </a:r>
          </a:p>
        </p:txBody>
      </p:sp>
    </p:spTree>
    <p:extLst>
      <p:ext uri="{BB962C8B-B14F-4D97-AF65-F5344CB8AC3E}">
        <p14:creationId xmlns:p14="http://schemas.microsoft.com/office/powerpoint/2010/main" val="357034226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A227D7-570F-47DD-9143-C4CDF7916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Links weitere Tools und Tutorials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EEFF7F-1EC4-4A00-96EB-E8EFB10DD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de-DE" dirty="0">
                <a:hlinkClick r:id="rId2"/>
              </a:rPr>
              <a:t>https://structorizer.fisch.lu/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(Struktogramme am PC erstellen)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de-DE" dirty="0">
                <a:hlinkClick r:id="rId3"/>
              </a:rPr>
              <a:t>http://friedrich-folkmann.de/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(PAP-Designer zum Erstellen von Programmablaufplänen)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de-DE" dirty="0">
                <a:hlinkClick r:id="rId4"/>
              </a:rPr>
              <a:t>https://www.youtube.com/playlist?list=PL_pqkvxZ6ho3u8PJAsUU-rOAQ74D0TqZB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(Video Crashkurs Python)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de-DE" dirty="0">
                <a:hlinkClick r:id="rId5"/>
              </a:rPr>
              <a:t>https://www.youtube.com/watch?v=bY6m6_IIN94&amp;list=PLi01XoE8jYohWFPpC17Z-wWhPOSuh8Er-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(Coole / nerdige englischsprachige Tutorial-Serie über ausgewählte Python-Themen von </a:t>
            </a:r>
            <a:r>
              <a:rPr lang="de-DE" dirty="0" err="1"/>
              <a:t>Socratica</a:t>
            </a:r>
            <a:r>
              <a:rPr 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743965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A227D7-570F-47DD-9143-C4CDF7916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Links Datenbanken mit Python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EEFF7F-1EC4-4A00-96EB-E8EFB10DD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417638"/>
            <a:ext cx="8784976" cy="5440362"/>
          </a:xfrm>
        </p:spPr>
        <p:txBody>
          <a:bodyPr>
            <a:normAutofit fontScale="62500" lnSpcReduction="200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de-DE" sz="2800" dirty="0">
                <a:hlinkClick r:id="rId2"/>
              </a:rPr>
              <a:t>https://www.python-lernen.de/sqlite-vorgehensweise.htm</a:t>
            </a:r>
            <a:r>
              <a:rPr lang="de-DE" sz="2800" dirty="0"/>
              <a:t> </a:t>
            </a:r>
            <a:br>
              <a:rPr lang="de-DE" sz="2800" dirty="0"/>
            </a:br>
            <a:r>
              <a:rPr lang="de-DE" sz="2800" dirty="0"/>
              <a:t>(Crashkurs Python/SQLite3)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de-DE" sz="2800" dirty="0">
                <a:hlinkClick r:id="rId3"/>
              </a:rPr>
              <a:t>https://www.sqlitetutorial.net/</a:t>
            </a:r>
            <a:r>
              <a:rPr lang="de-DE" sz="2800" dirty="0"/>
              <a:t> </a:t>
            </a:r>
            <a:br>
              <a:rPr lang="de-DE" sz="2800" dirty="0"/>
            </a:br>
            <a:r>
              <a:rPr lang="de-DE" sz="2800" dirty="0"/>
              <a:t>(Tutorial der SQL-Befehle von SQLite3)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de-DE" sz="2800" dirty="0">
                <a:hlinkClick r:id="rId4"/>
              </a:rPr>
              <a:t>https://www.apachefriends.org/de/index.html</a:t>
            </a:r>
            <a:r>
              <a:rPr lang="de-DE" sz="2800" dirty="0"/>
              <a:t> </a:t>
            </a:r>
            <a:br>
              <a:rPr lang="de-DE" sz="2800" dirty="0"/>
            </a:br>
            <a:r>
              <a:rPr lang="de-DE" sz="2800" dirty="0"/>
              <a:t>(XAMPP - Komplettpaket </a:t>
            </a:r>
            <a:r>
              <a:rPr lang="de-DE" sz="2800" dirty="0" err="1"/>
              <a:t>MariaDB</a:t>
            </a:r>
            <a:r>
              <a:rPr lang="de-DE" sz="2800" dirty="0"/>
              <a:t>, PHP, Apache)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de-DE" sz="2800" dirty="0">
                <a:hlinkClick r:id="rId5"/>
              </a:rPr>
              <a:t>https://dbeaver.io/</a:t>
            </a:r>
            <a:r>
              <a:rPr lang="de-DE" sz="2800" dirty="0"/>
              <a:t> </a:t>
            </a:r>
            <a:br>
              <a:rPr lang="de-DE" sz="2800" dirty="0"/>
            </a:br>
            <a:r>
              <a:rPr lang="de-DE" sz="2800" dirty="0"/>
              <a:t>(DB-Editor für </a:t>
            </a:r>
            <a:r>
              <a:rPr lang="de-DE" sz="2800" dirty="0" err="1"/>
              <a:t>mySQL</a:t>
            </a:r>
            <a:r>
              <a:rPr lang="de-DE" sz="2800" dirty="0"/>
              <a:t> / </a:t>
            </a:r>
            <a:r>
              <a:rPr lang="de-DE" sz="2800" dirty="0" err="1"/>
              <a:t>MariaDB</a:t>
            </a:r>
            <a:r>
              <a:rPr lang="de-DE" sz="2800" dirty="0"/>
              <a:t> / SQLite / MSSQL / </a:t>
            </a:r>
            <a:r>
              <a:rPr lang="de-DE" sz="2800" dirty="0" err="1"/>
              <a:t>PostgresDB</a:t>
            </a:r>
            <a:r>
              <a:rPr lang="de-DE" sz="2800" dirty="0"/>
              <a:t> </a:t>
            </a:r>
            <a:r>
              <a:rPr lang="de-DE" sz="2800" dirty="0" err="1"/>
              <a:t>u.a</a:t>
            </a:r>
            <a:r>
              <a:rPr lang="de-DE" sz="2800" dirty="0"/>
              <a:t>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de-DE" sz="2800" dirty="0">
                <a:hlinkClick r:id="rId6"/>
              </a:rPr>
              <a:t>https://sqlite.org/2022/sqlite-tools-win32-x86-3370200.zip</a:t>
            </a:r>
            <a:r>
              <a:rPr lang="de-DE" sz="2800" dirty="0"/>
              <a:t> SQLite Kommandozeilen-Tool, Kurzanleitung unter </a:t>
            </a:r>
            <a:r>
              <a:rPr lang="de-DE" sz="2800" dirty="0">
                <a:hlinkClick r:id="rId7"/>
              </a:rPr>
              <a:t>https://sqlite.org/cli.html</a:t>
            </a:r>
            <a:r>
              <a:rPr lang="de-DE" sz="2800" dirty="0"/>
              <a:t> 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de-DE" sz="2800" dirty="0">
                <a:hlinkClick r:id="rId8"/>
              </a:rPr>
              <a:t>https://sqlitebrowser.org/</a:t>
            </a:r>
            <a:r>
              <a:rPr lang="de-DE" sz="2800" dirty="0"/>
              <a:t> (Weiterer SQLite Editor, multiplattform)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de-DE" sz="2800" dirty="0">
                <a:hlinkClick r:id="rId9"/>
              </a:rPr>
              <a:t>https://www.mockaroo.com/</a:t>
            </a:r>
            <a:r>
              <a:rPr lang="de-DE" sz="2800" dirty="0"/>
              <a:t> </a:t>
            </a:r>
            <a:br>
              <a:rPr lang="de-DE" sz="2800" dirty="0"/>
            </a:br>
            <a:r>
              <a:rPr lang="de-DE" sz="2800" dirty="0"/>
              <a:t>(Englischsprachiger Testdatengenerator für viele Formate: SQL, CSV, JSON, XLS u.v.a.)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de-DE" sz="2800" dirty="0">
                <a:hlinkClick r:id="rId10"/>
              </a:rPr>
              <a:t>https://www.foxpoint.de/randomAdresses/</a:t>
            </a:r>
            <a:r>
              <a:rPr lang="de-DE" sz="2800" dirty="0"/>
              <a:t> </a:t>
            </a:r>
            <a:br>
              <a:rPr lang="de-DE" sz="2800" dirty="0"/>
            </a:br>
            <a:r>
              <a:rPr lang="de-DE" sz="2800" dirty="0">
                <a:hlinkClick r:id="rId11"/>
              </a:rPr>
              <a:t>https://migano.de/testdaten.php</a:t>
            </a:r>
            <a:br>
              <a:rPr lang="de-DE" sz="2800" dirty="0"/>
            </a:br>
            <a:r>
              <a:rPr lang="de-DE" sz="2800" dirty="0">
                <a:hlinkClick r:id="rId12"/>
              </a:rPr>
              <a:t>https://databasedata.blue-l.de/</a:t>
            </a:r>
            <a:br>
              <a:rPr lang="de-DE" sz="2800" dirty="0"/>
            </a:br>
            <a:r>
              <a:rPr lang="de-DE" sz="2800" dirty="0"/>
              <a:t>(Generatoren f. deutsche Testdaten für CSV, XLS, SQL….)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8759041-AA31-27A8-9423-F95528E88E1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08304" y="3078407"/>
            <a:ext cx="778914" cy="70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84344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27415D-2BCE-493F-B4CD-086C2ED3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Links Web-APIs / </a:t>
            </a:r>
            <a:r>
              <a:rPr lang="de-DE"/>
              <a:t>requests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5C0DED-612B-4C77-BF63-019248EDA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400600"/>
          </a:xfrm>
        </p:spPr>
        <p:txBody>
          <a:bodyPr>
            <a:normAutofit lnSpcReduction="10000"/>
          </a:bodyPr>
          <a:lstStyle/>
          <a:p>
            <a:r>
              <a:rPr lang="de-DE" sz="2800" dirty="0">
                <a:hlinkClick r:id="rId2"/>
              </a:rPr>
              <a:t>https://www.digitalocean.com/community/tutorials/how-to-get-started-with-the-requests-library-in-python-de</a:t>
            </a:r>
            <a:r>
              <a:rPr lang="de-DE" sz="2800" dirty="0"/>
              <a:t> </a:t>
            </a:r>
            <a:br>
              <a:rPr lang="de-DE" sz="2800" dirty="0"/>
            </a:br>
            <a:r>
              <a:rPr lang="de-DE" sz="2800" dirty="0"/>
              <a:t>(Deutsches Tutorial zu </a:t>
            </a:r>
            <a:r>
              <a:rPr lang="de-DE" sz="2800" dirty="0" err="1"/>
              <a:t>Requests</a:t>
            </a:r>
            <a:r>
              <a:rPr lang="de-DE" sz="2800" dirty="0"/>
              <a:t> in Textform)</a:t>
            </a:r>
          </a:p>
          <a:p>
            <a:r>
              <a:rPr lang="de-DE" sz="2800" dirty="0">
                <a:hlinkClick r:id="rId3"/>
              </a:rPr>
              <a:t>https://docs.python-requests.org/en/latest/</a:t>
            </a:r>
            <a:r>
              <a:rPr lang="de-DE" sz="2800" dirty="0"/>
              <a:t> </a:t>
            </a:r>
            <a:br>
              <a:rPr lang="de-DE" sz="2800" dirty="0"/>
            </a:br>
            <a:r>
              <a:rPr lang="de-DE" sz="2800" dirty="0"/>
              <a:t>(Offizielle Dokumentation des Moduls </a:t>
            </a:r>
            <a:r>
              <a:rPr lang="de-DE" sz="2800" b="1" dirty="0" err="1"/>
              <a:t>requests</a:t>
            </a:r>
            <a:r>
              <a:rPr lang="de-DE" sz="2800" dirty="0"/>
              <a:t>)</a:t>
            </a:r>
          </a:p>
          <a:p>
            <a:r>
              <a:rPr lang="de-DE" sz="2800" dirty="0">
                <a:hlinkClick r:id="rId4"/>
              </a:rPr>
              <a:t>https://www.youtube.com/watch?v=IpJyyY5Zp6Q</a:t>
            </a:r>
            <a:br>
              <a:rPr lang="de-DE" sz="2800" dirty="0"/>
            </a:br>
            <a:r>
              <a:rPr lang="de-DE" sz="2800" dirty="0">
                <a:hlinkClick r:id="rId5"/>
              </a:rPr>
              <a:t>https://www.youtube.com/watch?v=fOPWZytYsFM</a:t>
            </a:r>
            <a:br>
              <a:rPr lang="de-DE" sz="2800" dirty="0"/>
            </a:br>
            <a:r>
              <a:rPr lang="de-DE" sz="2800" dirty="0"/>
              <a:t>(Deutsche Video Tutorials zum </a:t>
            </a:r>
            <a:r>
              <a:rPr lang="de-DE" sz="2800" dirty="0" err="1"/>
              <a:t>requests</a:t>
            </a:r>
            <a:r>
              <a:rPr lang="de-DE" sz="2800" dirty="0"/>
              <a:t>)</a:t>
            </a:r>
          </a:p>
          <a:p>
            <a:r>
              <a:rPr lang="de-DE" sz="2800" dirty="0">
                <a:hlinkClick r:id="rId6"/>
              </a:rPr>
              <a:t>https://apilist.fun/</a:t>
            </a:r>
            <a:r>
              <a:rPr lang="de-DE" sz="2800" dirty="0"/>
              <a:t> </a:t>
            </a:r>
            <a:br>
              <a:rPr lang="de-DE" sz="2800" dirty="0"/>
            </a:br>
            <a:r>
              <a:rPr lang="de-DE" sz="2800" dirty="0">
                <a:hlinkClick r:id="rId7"/>
              </a:rPr>
              <a:t>https://rapidapi.com/blog/most-popular-api/</a:t>
            </a:r>
            <a:r>
              <a:rPr lang="de-DE" sz="2800" dirty="0"/>
              <a:t> </a:t>
            </a:r>
            <a:br>
              <a:rPr lang="de-DE" sz="2800" dirty="0"/>
            </a:br>
            <a:r>
              <a:rPr lang="de-DE" sz="2800" dirty="0">
                <a:hlinkClick r:id="rId8"/>
              </a:rPr>
              <a:t>https://rapidapi.com/hub</a:t>
            </a:r>
            <a:r>
              <a:rPr lang="de-DE" sz="2800" dirty="0"/>
              <a:t> </a:t>
            </a:r>
            <a:br>
              <a:rPr lang="de-DE" sz="2800" dirty="0"/>
            </a:br>
            <a:r>
              <a:rPr lang="de-DE" sz="2800"/>
              <a:t>(API-Verzeichnisse</a:t>
            </a:r>
            <a:r>
              <a:rPr lang="de-DE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62512274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Lariss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Lariss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17179</Words>
  <Application>Microsoft Office PowerPoint</Application>
  <PresentationFormat>Bildschirmpräsentation (4:3)</PresentationFormat>
  <Paragraphs>1388</Paragraphs>
  <Slides>122</Slides>
  <Notes>6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122</vt:i4>
      </vt:variant>
    </vt:vector>
  </HeadingPairs>
  <TitlesOfParts>
    <vt:vector size="132" baseType="lpstr">
      <vt:lpstr>Courier New</vt:lpstr>
      <vt:lpstr>Source Code Pro</vt:lpstr>
      <vt:lpstr>Wingdings</vt:lpstr>
      <vt:lpstr>aa QWERTZ-Tasten</vt:lpstr>
      <vt:lpstr>Arial</vt:lpstr>
      <vt:lpstr>Calibri</vt:lpstr>
      <vt:lpstr>Arial</vt:lpstr>
      <vt:lpstr>Consolas</vt:lpstr>
      <vt:lpstr>Roboto</vt:lpstr>
      <vt:lpstr>Larissa</vt:lpstr>
      <vt:lpstr>Python 3 Einführung (Fachinformatiker)</vt:lpstr>
      <vt:lpstr>BASIC / Python</vt:lpstr>
      <vt:lpstr>Eigenschaften von Python</vt:lpstr>
      <vt:lpstr>Anwendungsbereiche</vt:lpstr>
      <vt:lpstr>Grundlagen</vt:lpstr>
      <vt:lpstr>Installation</vt:lpstr>
      <vt:lpstr>IDLE</vt:lpstr>
      <vt:lpstr>Einige (!) Variablentypen / Datentypen in Python</vt:lpstr>
      <vt:lpstr>Umwandeln von/in Datentypen ("Casting")</vt:lpstr>
      <vt:lpstr>Ausgabe und Eingabe</vt:lpstr>
      <vt:lpstr>Arithmetische Operatoren</vt:lpstr>
      <vt:lpstr>Boolesche / Binäre Algebra</vt:lpstr>
      <vt:lpstr>Stringoperationen / -funktionen</vt:lpstr>
      <vt:lpstr>Wenn-Verzweigung: if...else..elif</vt:lpstr>
      <vt:lpstr>Vergleichsoperatoren für if</vt:lpstr>
      <vt:lpstr>match…case  (Mehrfache Verzweigung)</vt:lpstr>
      <vt:lpstr>Schleifen Typ I:  for … in range(…) (Zählschleife)</vt:lpstr>
      <vt:lpstr>Schleifen Typ II: while...</vt:lpstr>
      <vt:lpstr>Sonderfall fußgesteuerte Schleife</vt:lpstr>
      <vt:lpstr>Interessante Funktionen  aus dem Modul math</vt:lpstr>
      <vt:lpstr>Listen I (Grundlagen) in anderen Sprachen auch „Arrays“</vt:lpstr>
      <vt:lpstr>Listen II (Nummerierung /  Index der Listenelemente)</vt:lpstr>
      <vt:lpstr>Beispielcode</vt:lpstr>
      <vt:lpstr>Listen III (Listen ändern)</vt:lpstr>
      <vt:lpstr>Listen IV (Schleifen)</vt:lpstr>
      <vt:lpstr>Listen V (Ergänzung) </vt:lpstr>
      <vt:lpstr>Listen VI (Listen in Liste)</vt:lpstr>
      <vt:lpstr>Tuple (deutsch: Tupel)</vt:lpstr>
      <vt:lpstr>Dictionaries I</vt:lpstr>
      <vt:lpstr>Dictionaries II (Keys / Values mit Schleifen durchlaufen)</vt:lpstr>
      <vt:lpstr>Dictionaries III (verschachtelte Dictionaries)</vt:lpstr>
      <vt:lpstr>Zufallszahlen (random)</vt:lpstr>
      <vt:lpstr>Anwendungsbereiche von (Pseudo-) Zufallszahlen</vt:lpstr>
      <vt:lpstr>Zeitmessung mit time.time()</vt:lpstr>
      <vt:lpstr>Weitere Möglichkeiten des Moduls time</vt:lpstr>
      <vt:lpstr>String-Formatierung  mit f-Strings</vt:lpstr>
      <vt:lpstr>Mit import zusätzliche  Python-Module nutzen - Teil 1</vt:lpstr>
      <vt:lpstr>Mit import zusätzliche  Python-Module nutzen - Teil 2</vt:lpstr>
      <vt:lpstr>Python Module</vt:lpstr>
      <vt:lpstr>Die IDLE-Shell</vt:lpstr>
      <vt:lpstr>Unterprogramme  (Prozeduren &amp; Funktionen)</vt:lpstr>
      <vt:lpstr>Unterprogramme  (Prozeduren &amp; Funktionen)</vt:lpstr>
      <vt:lpstr>Eigene Module erstellen</vt:lpstr>
      <vt:lpstr>Debugging in IDLE</vt:lpstr>
      <vt:lpstr>PowerPoint-Präsentation</vt:lpstr>
      <vt:lpstr>PowerPoint-Präsentation</vt:lpstr>
      <vt:lpstr>Debugging in </vt:lpstr>
      <vt:lpstr>Wiederholung/Ergänzung:  Wichtige String-Methoden und Funktionen</vt:lpstr>
      <vt:lpstr>Fehler abfangen mit try…except</vt:lpstr>
      <vt:lpstr>Datenaustausch mit Dateien</vt:lpstr>
      <vt:lpstr>Text in Dateien schreiben</vt:lpstr>
      <vt:lpstr>Text aus Dateien lesen</vt:lpstr>
      <vt:lpstr>Überblick Datei-Funktionen</vt:lpstr>
      <vt:lpstr>CSV-Dateien</vt:lpstr>
      <vt:lpstr>CSV-Dateien einlesen</vt:lpstr>
      <vt:lpstr>Beispiel CSV einlesen (aus Excel exportiert)</vt:lpstr>
      <vt:lpstr>CSV-Datei schreiben</vt:lpstr>
      <vt:lpstr>Ergänzendes Wissen: Dateien Schreiben/Lesen mit with open(..)as…</vt:lpstr>
      <vt:lpstr>JSON (JavaScript Object Notation)</vt:lpstr>
      <vt:lpstr>JSON / Python</vt:lpstr>
      <vt:lpstr>JSON &lt;-&gt; Dict Konvertierungen</vt:lpstr>
      <vt:lpstr>JSON Datei schreiben (dump)</vt:lpstr>
      <vt:lpstr>JSON Datei einlesen (load)</vt:lpstr>
      <vt:lpstr>XML-Dateien</vt:lpstr>
      <vt:lpstr>Die ElementTree-API</vt:lpstr>
      <vt:lpstr>XML lesen / parsen</vt:lpstr>
      <vt:lpstr>XML umwandeln</vt:lpstr>
      <vt:lpstr>Daten mit dem pickle-Modul persistent speichern und laden</vt:lpstr>
      <vt:lpstr>Modul</vt:lpstr>
      <vt:lpstr>Beispiele: pandas DataFrames erzeugen und manipulieren</vt:lpstr>
      <vt:lpstr>Pandas DataFrames ausgeben</vt:lpstr>
      <vt:lpstr>Pandas Datenauswertung</vt:lpstr>
      <vt:lpstr>Mit dem Modul requests  in Python Web-APIs abfragen</vt:lpstr>
      <vt:lpstr>REST-APIs</vt:lpstr>
      <vt:lpstr>Überblick requests</vt:lpstr>
      <vt:lpstr>Web-API-Abfrage Beispiel 1</vt:lpstr>
      <vt:lpstr>Web-API-Abfrage Beispiel 2 </vt:lpstr>
      <vt:lpstr>Web-API-Abfrage Beispiel 3</vt:lpstr>
      <vt:lpstr>Web-API-Abfrage Beispiel 4</vt:lpstr>
      <vt:lpstr>Eigene Web-API programmieren</vt:lpstr>
      <vt:lpstr>Module installieren mit pip3</vt:lpstr>
      <vt:lpstr>pip3 / pypi.org</vt:lpstr>
      <vt:lpstr>Tipp: Grafische Datenauswertungen mit dem Modul matplotlib</vt:lpstr>
      <vt:lpstr>Python lernen und experimentieren  mit Jupyter Notebook</vt:lpstr>
      <vt:lpstr>Statische Datentypen in Python</vt:lpstr>
      <vt:lpstr>Regionsabhängige Zahlendarstellung  mit dem Modul locale</vt:lpstr>
      <vt:lpstr>SQL-Datenbankzugriff  mit Python</vt:lpstr>
      <vt:lpstr>Überblick: Wichtigste SQL-Statements</vt:lpstr>
      <vt:lpstr>SQL-Datenbanken</vt:lpstr>
      <vt:lpstr>Datenbank-Connectoren</vt:lpstr>
      <vt:lpstr>Datenbank Module in Python</vt:lpstr>
      <vt:lpstr>SQLite3 vs. MariaDB / MySQL-Server</vt:lpstr>
      <vt:lpstr>Struktogramme SQLite3-Datenbank-Zugriff</vt:lpstr>
      <vt:lpstr>Vorbereiten des DB-Zugriffs (sqlite3)</vt:lpstr>
      <vt:lpstr>Daten / Befehle in die Datenbank schreiben (sqlite3)</vt:lpstr>
      <vt:lpstr>Daten aus der Datenbank lesen und auf dem Bildschirm ausgeben (sqlite3)</vt:lpstr>
      <vt:lpstr>Was ist der "Datenbank-Cursor"?</vt:lpstr>
      <vt:lpstr>Daten mit cursor.fetchall() in eine eigene Listenvariable einlesen</vt:lpstr>
      <vt:lpstr>Komplexere SQL-Strings mit Parameterbindung definieren</vt:lpstr>
      <vt:lpstr>Weitere Tipps SQLite</vt:lpstr>
      <vt:lpstr>Vorbereiten des DB-Zugriffs  (MySQL / MariaDB)</vt:lpstr>
      <vt:lpstr>Daten / Befehle in die Datenbank schreiben (MySQL / MariaDB)</vt:lpstr>
      <vt:lpstr>Daten aus der Datenbank abfragen und auf dem Bildschirm ausgeben (MySQL)</vt:lpstr>
      <vt:lpstr>Unterschiede Programmierung  SQLite3 vs. MySQL/MariaDB</vt:lpstr>
      <vt:lpstr>NULL Werte in der DB</vt:lpstr>
      <vt:lpstr>Weitere interessante Module und ihre Anwendung</vt:lpstr>
      <vt:lpstr> Modul datetime  Datum und Uhrzeit in Python</vt:lpstr>
      <vt:lpstr>datetime - Objekte</vt:lpstr>
      <vt:lpstr>datetime – Objekte aus Eingaben erzeugen</vt:lpstr>
      <vt:lpstr>strftime()- Funktion</vt:lpstr>
      <vt:lpstr>timedelta - Objekte</vt:lpstr>
      <vt:lpstr>strptime() - Funktion</vt:lpstr>
      <vt:lpstr>Modul time (Spezielle Funktionen für Systemzeit, Epoch und Zeitzonen)</vt:lpstr>
      <vt:lpstr> Modul yfinance  Datenabruf von Yahoo Finance</vt:lpstr>
      <vt:lpstr> Modul yfinance  Installation und Nutzung</vt:lpstr>
      <vt:lpstr>MicroPython</vt:lpstr>
      <vt:lpstr>Entwicklungsplattform XAMPP</vt:lpstr>
      <vt:lpstr>Links Python lernen</vt:lpstr>
      <vt:lpstr>Links Entwicklungsumgebungen für Python</vt:lpstr>
      <vt:lpstr>Links weitere Tools und Tutorials</vt:lpstr>
      <vt:lpstr>Links Datenbanken mit Python</vt:lpstr>
      <vt:lpstr>Links Web-APIs / requests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3</dc:title>
  <dc:creator>Roth</dc:creator>
  <cp:lastModifiedBy>Michael Roth</cp:lastModifiedBy>
  <cp:revision>979</cp:revision>
  <dcterms:created xsi:type="dcterms:W3CDTF">2019-09-11T12:06:55Z</dcterms:created>
  <dcterms:modified xsi:type="dcterms:W3CDTF">2025-06-20T06:07:06Z</dcterms:modified>
</cp:coreProperties>
</file>