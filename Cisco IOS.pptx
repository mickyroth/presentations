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301" r:id="rId13"/>
    <p:sldId id="288" r:id="rId14"/>
    <p:sldId id="287" r:id="rId15"/>
    <p:sldId id="290" r:id="rId16"/>
    <p:sldId id="291" r:id="rId17"/>
    <p:sldId id="286" r:id="rId18"/>
    <p:sldId id="267" r:id="rId19"/>
    <p:sldId id="300" r:id="rId20"/>
    <p:sldId id="271" r:id="rId21"/>
    <p:sldId id="289" r:id="rId22"/>
    <p:sldId id="274" r:id="rId23"/>
    <p:sldId id="268" r:id="rId24"/>
    <p:sldId id="269" r:id="rId25"/>
    <p:sldId id="270" r:id="rId26"/>
    <p:sldId id="272" r:id="rId27"/>
    <p:sldId id="275" r:id="rId28"/>
    <p:sldId id="276" r:id="rId29"/>
    <p:sldId id="277" r:id="rId30"/>
    <p:sldId id="278" r:id="rId31"/>
    <p:sldId id="279" r:id="rId32"/>
    <p:sldId id="280" r:id="rId33"/>
    <p:sldId id="281" r:id="rId34"/>
    <p:sldId id="282" r:id="rId35"/>
    <p:sldId id="283" r:id="rId36"/>
    <p:sldId id="292" r:id="rId37"/>
    <p:sldId id="294" r:id="rId38"/>
    <p:sldId id="295" r:id="rId39"/>
    <p:sldId id="298" r:id="rId40"/>
    <p:sldId id="293" r:id="rId41"/>
    <p:sldId id="296" r:id="rId42"/>
    <p:sldId id="299" r:id="rId43"/>
    <p:sldId id="297" r:id="rId44"/>
    <p:sldId id="284" r:id="rId45"/>
    <p:sldId id="26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98" d="100"/>
          <a:sy n="98" d="100"/>
        </p:scale>
        <p:origin x="960"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5.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alle Interfaces, deren Status (</a:t>
            </a:r>
            <a:r>
              <a:rPr lang="de-DE" dirty="0" err="1">
                <a:sym typeface="Wingdings" panose="05000000000000000000" pitchFamily="2" charset="2"/>
              </a:rPr>
              <a:t>up</a:t>
            </a:r>
            <a:r>
              <a:rPr lang="de-DE" dirty="0">
                <a:sym typeface="Wingdings" panose="05000000000000000000" pitchFamily="2" charset="2"/>
              </a:rPr>
              <a:t>/down) und die ggf.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route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342418"/>
            <a:ext cx="10797746" cy="5379058"/>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err="1">
                <a:sym typeface="Wingdings" panose="05000000000000000000" pitchFamily="2" charset="2"/>
              </a:rPr>
              <a:t>ip</a:t>
            </a:r>
            <a:r>
              <a:rPr lang="de-DE" b="1" dirty="0">
                <a:sym typeface="Wingdings" panose="05000000000000000000" pitchFamily="2" charset="2"/>
              </a:rPr>
              <a:t> route 0.0.0.0 0.0.0.0 192.168.1.254 </a:t>
            </a:r>
            <a:r>
              <a:rPr lang="de-DE" dirty="0">
                <a:sym typeface="Wingdings" panose="05000000000000000000" pitchFamily="2" charset="2"/>
              </a:rPr>
              <a:t> Setzt die Default 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route 192.168.2.0 255.255.255.0 10.0.0.2</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 (z.B. Spanning-Tree am Switch abschalten mit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spanning-tree</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1 )</a:t>
            </a:r>
            <a:endParaRPr lang="de-DE" dirty="0">
              <a:sym typeface="Wingdings" panose="05000000000000000000" pitchFamily="2" charset="2"/>
            </a:endParaRP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A209F2CE-4365-3DAD-AB03-6211C0487B3E}"/>
              </a:ext>
            </a:extLst>
          </p:cNvPr>
          <p:cNvPicPr>
            <a:picLocks noChangeAspect="1"/>
          </p:cNvPicPr>
          <p:nvPr/>
        </p:nvPicPr>
        <p:blipFill>
          <a:blip r:embed="rId2"/>
          <a:stretch>
            <a:fillRect/>
          </a:stretch>
        </p:blipFill>
        <p:spPr>
          <a:xfrm>
            <a:off x="9194007" y="1709081"/>
            <a:ext cx="2997994" cy="4130737"/>
          </a:xfrm>
          <a:prstGeom prst="rect">
            <a:avLst/>
          </a:prstGeom>
        </p:spPr>
      </p:pic>
      <p:sp>
        <p:nvSpPr>
          <p:cNvPr id="2" name="Titel 1">
            <a:extLst>
              <a:ext uri="{FF2B5EF4-FFF2-40B4-BE49-F238E27FC236}">
                <a16:creationId xmlns:a16="http://schemas.microsoft.com/office/drawing/2014/main" id="{66102DA3-DB3F-74AE-9576-3934DEDF1913}"/>
              </a:ext>
            </a:extLst>
          </p:cNvPr>
          <p:cNvSpPr>
            <a:spLocks noGrp="1"/>
          </p:cNvSpPr>
          <p:nvPr>
            <p:ph type="title"/>
          </p:nvPr>
        </p:nvSpPr>
        <p:spPr>
          <a:xfrm>
            <a:off x="439479" y="231013"/>
            <a:ext cx="10324493" cy="1325563"/>
          </a:xfrm>
        </p:spPr>
        <p:txBody>
          <a:bodyPr/>
          <a:lstStyle/>
          <a:p>
            <a:r>
              <a:rPr lang="de-DE" dirty="0" err="1"/>
              <a:t>Switchports</a:t>
            </a:r>
            <a:r>
              <a:rPr lang="de-DE" dirty="0"/>
              <a:t> (L2/L3-Switch) in selbst definierte VLANs aufnehmen</a:t>
            </a:r>
          </a:p>
        </p:txBody>
      </p:sp>
      <p:sp>
        <p:nvSpPr>
          <p:cNvPr id="3" name="Inhaltsplatzhalter 2">
            <a:extLst>
              <a:ext uri="{FF2B5EF4-FFF2-40B4-BE49-F238E27FC236}">
                <a16:creationId xmlns:a16="http://schemas.microsoft.com/office/drawing/2014/main" id="{ADA4E73B-FB7D-9C86-7603-F62D5A138459}"/>
              </a:ext>
            </a:extLst>
          </p:cNvPr>
          <p:cNvSpPr>
            <a:spLocks noGrp="1"/>
          </p:cNvSpPr>
          <p:nvPr>
            <p:ph idx="1"/>
          </p:nvPr>
        </p:nvSpPr>
        <p:spPr>
          <a:xfrm>
            <a:off x="326066" y="1609344"/>
            <a:ext cx="9189410" cy="5112131"/>
          </a:xfrm>
        </p:spPr>
        <p:txBody>
          <a:bodyPr>
            <a:normAutofit fontScale="77500" lnSpcReduction="20000"/>
          </a:bodyPr>
          <a:lstStyle/>
          <a:p>
            <a:r>
              <a:rPr lang="de-DE" dirty="0"/>
              <a:t>Alle Ports, die im selben VLAN sind, können sich untereinander erreichen.</a:t>
            </a:r>
          </a:p>
          <a:p>
            <a:r>
              <a:rPr lang="de-DE" dirty="0"/>
              <a:t>Ports, die in verschiedenen VLANs sind, sind physikalisch getrennt.</a:t>
            </a:r>
          </a:p>
          <a:p>
            <a:r>
              <a:rPr lang="de-DE" dirty="0"/>
              <a:t>Werkseinstellung: Alle Ports sind im VLAN 1</a:t>
            </a:r>
          </a:p>
          <a:p>
            <a:r>
              <a:rPr lang="de-DE" dirty="0"/>
              <a:t>Um einen Port in ein anderes VLAN (VLAN 10) aufzunehmen:</a:t>
            </a:r>
          </a:p>
          <a:p>
            <a:pPr lvl="1"/>
            <a:r>
              <a:rPr lang="de-DE" b="1" dirty="0"/>
              <a:t>S1(</a:t>
            </a:r>
            <a:r>
              <a:rPr lang="de-DE" b="1" dirty="0" err="1"/>
              <a:t>config</a:t>
            </a:r>
            <a:r>
              <a:rPr lang="de-DE" b="1" dirty="0"/>
              <a:t>)# </a:t>
            </a:r>
            <a:r>
              <a:rPr lang="de-DE" b="1" dirty="0" err="1"/>
              <a:t>int</a:t>
            </a:r>
            <a:r>
              <a:rPr lang="de-DE" b="1" dirty="0"/>
              <a:t> fa0/1</a:t>
            </a:r>
          </a:p>
          <a:p>
            <a:pPr lvl="1"/>
            <a:r>
              <a:rPr lang="de-DE" b="1" dirty="0"/>
              <a:t>S1(</a:t>
            </a:r>
            <a:r>
              <a:rPr lang="de-DE" b="1" dirty="0" err="1"/>
              <a:t>config-if</a:t>
            </a:r>
            <a:r>
              <a:rPr lang="de-DE" b="1" dirty="0"/>
              <a:t>)# </a:t>
            </a:r>
            <a:r>
              <a:rPr lang="de-DE" b="1" dirty="0" err="1"/>
              <a:t>switchport</a:t>
            </a:r>
            <a:r>
              <a:rPr lang="de-DE" b="1" dirty="0"/>
              <a:t> </a:t>
            </a:r>
            <a:r>
              <a:rPr lang="de-DE" b="1" dirty="0" err="1"/>
              <a:t>access</a:t>
            </a:r>
            <a:r>
              <a:rPr lang="de-DE" b="1" dirty="0"/>
              <a:t> VLAN 10  </a:t>
            </a:r>
            <a:r>
              <a:rPr lang="de-DE" dirty="0"/>
              <a:t>(VLAN 10 wird dabei automatisch erzeugt)</a:t>
            </a:r>
          </a:p>
          <a:p>
            <a:pPr lvl="1"/>
            <a:r>
              <a:rPr lang="de-DE" b="1" dirty="0" err="1"/>
              <a:t>exit</a:t>
            </a:r>
            <a:endParaRPr lang="de-DE" b="1" dirty="0"/>
          </a:p>
          <a:p>
            <a:r>
              <a:rPr lang="de-DE" dirty="0"/>
              <a:t>Um mehrere Ports in ein VLAN 20 aufzunehmen:</a:t>
            </a:r>
          </a:p>
          <a:p>
            <a:pPr lvl="1"/>
            <a:r>
              <a:rPr lang="de-DE" b="1" dirty="0"/>
              <a:t>S1(</a:t>
            </a:r>
            <a:r>
              <a:rPr lang="de-DE" b="1" dirty="0" err="1"/>
              <a:t>config</a:t>
            </a:r>
            <a:r>
              <a:rPr lang="de-DE" b="1" dirty="0"/>
              <a:t>)# </a:t>
            </a:r>
            <a:r>
              <a:rPr lang="de-DE" b="1" dirty="0" err="1"/>
              <a:t>int</a:t>
            </a:r>
            <a:r>
              <a:rPr lang="de-DE" b="1" dirty="0"/>
              <a:t> </a:t>
            </a:r>
            <a:r>
              <a:rPr lang="de-DE" b="1" dirty="0" err="1"/>
              <a:t>range</a:t>
            </a:r>
            <a:r>
              <a:rPr lang="de-DE" b="1" dirty="0"/>
              <a:t> fa0/13-24 </a:t>
            </a:r>
            <a:r>
              <a:rPr lang="de-DE" dirty="0"/>
              <a:t>(der </a:t>
            </a:r>
            <a:r>
              <a:rPr lang="de-DE" b="1" dirty="0" err="1"/>
              <a:t>int</a:t>
            </a:r>
            <a:r>
              <a:rPr lang="de-DE" b="1" dirty="0"/>
              <a:t> </a:t>
            </a:r>
            <a:r>
              <a:rPr lang="de-DE" b="1" dirty="0" err="1"/>
              <a:t>range</a:t>
            </a:r>
            <a:r>
              <a:rPr lang="de-DE" b="1" dirty="0"/>
              <a:t> </a:t>
            </a:r>
            <a:r>
              <a:rPr lang="de-DE" dirty="0"/>
              <a:t>– Befehl wählt mehrere Interfaces aus)</a:t>
            </a:r>
          </a:p>
          <a:p>
            <a:pPr lvl="1"/>
            <a:r>
              <a:rPr lang="de-DE" b="1" dirty="0"/>
              <a:t>S1(</a:t>
            </a:r>
            <a:r>
              <a:rPr lang="de-DE" b="1" dirty="0" err="1"/>
              <a:t>config</a:t>
            </a:r>
            <a:r>
              <a:rPr lang="de-DE" b="1" dirty="0"/>
              <a:t>-</a:t>
            </a:r>
            <a:r>
              <a:rPr lang="de-DE" b="1" dirty="0" err="1"/>
              <a:t>if</a:t>
            </a:r>
            <a:r>
              <a:rPr lang="de-DE" b="1" dirty="0"/>
              <a:t>-range)# </a:t>
            </a:r>
            <a:r>
              <a:rPr lang="de-DE" dirty="0" err="1"/>
              <a:t>switchport</a:t>
            </a:r>
            <a:r>
              <a:rPr lang="de-DE" dirty="0"/>
              <a:t> </a:t>
            </a:r>
            <a:r>
              <a:rPr lang="de-DE" dirty="0" err="1"/>
              <a:t>access</a:t>
            </a:r>
            <a:r>
              <a:rPr lang="de-DE" dirty="0"/>
              <a:t> VLAN 20</a:t>
            </a:r>
          </a:p>
          <a:p>
            <a:r>
              <a:rPr lang="de-DE" dirty="0"/>
              <a:t>Anzeige der VLANs im </a:t>
            </a:r>
            <a:r>
              <a:rPr lang="de-DE" dirty="0" err="1"/>
              <a:t>Enable</a:t>
            </a:r>
            <a:r>
              <a:rPr lang="de-DE" dirty="0"/>
              <a:t>-Mode: </a:t>
            </a:r>
            <a:r>
              <a:rPr lang="de-DE" sz="2400" b="1" dirty="0"/>
              <a:t>S1#show </a:t>
            </a:r>
            <a:r>
              <a:rPr lang="de-DE" sz="2400" b="1" dirty="0" err="1"/>
              <a:t>vlan</a:t>
            </a:r>
            <a:endParaRPr lang="de-DE" sz="2400" b="1" dirty="0"/>
          </a:p>
          <a:p>
            <a:r>
              <a:rPr lang="de-DE" b="1" dirty="0"/>
              <a:t>Sonderfall</a:t>
            </a:r>
            <a:r>
              <a:rPr lang="de-DE" dirty="0"/>
              <a:t>: Einen Port zu einem Trunk machen (alle VLANs über einen Link):</a:t>
            </a:r>
          </a:p>
          <a:p>
            <a:pPr lvl="1"/>
            <a:r>
              <a:rPr lang="de-DE" b="1" dirty="0"/>
              <a:t>S1(</a:t>
            </a:r>
            <a:r>
              <a:rPr lang="de-DE" b="1" dirty="0" err="1"/>
              <a:t>config</a:t>
            </a:r>
            <a:r>
              <a:rPr lang="de-DE" b="1" dirty="0"/>
              <a:t>)# </a:t>
            </a:r>
            <a:r>
              <a:rPr lang="de-DE" b="1" dirty="0" err="1"/>
              <a:t>int</a:t>
            </a:r>
            <a:r>
              <a:rPr lang="de-DE" b="1" dirty="0"/>
              <a:t> g0/1</a:t>
            </a:r>
          </a:p>
          <a:p>
            <a:pPr lvl="1"/>
            <a:r>
              <a:rPr lang="de-DE" b="1" dirty="0"/>
              <a:t>S1(</a:t>
            </a:r>
            <a:r>
              <a:rPr lang="de-DE" b="1" dirty="0" err="1"/>
              <a:t>config-if</a:t>
            </a:r>
            <a:r>
              <a:rPr lang="de-DE" b="1" dirty="0"/>
              <a:t>)# </a:t>
            </a:r>
            <a:r>
              <a:rPr lang="de-DE" b="1" dirty="0" err="1"/>
              <a:t>switchport</a:t>
            </a:r>
            <a:r>
              <a:rPr lang="de-DE" b="1" dirty="0"/>
              <a:t> </a:t>
            </a:r>
            <a:r>
              <a:rPr lang="de-DE" b="1" dirty="0" err="1"/>
              <a:t>mode</a:t>
            </a:r>
            <a:r>
              <a:rPr lang="de-DE" b="1" dirty="0"/>
              <a:t> </a:t>
            </a:r>
            <a:r>
              <a:rPr lang="de-DE" b="1" dirty="0" err="1"/>
              <a:t>trunk</a:t>
            </a:r>
            <a:endParaRPr lang="de-DE" b="1" dirty="0"/>
          </a:p>
        </p:txBody>
      </p:sp>
    </p:spTree>
    <p:extLst>
      <p:ext uri="{BB962C8B-B14F-4D97-AF65-F5344CB8AC3E}">
        <p14:creationId xmlns:p14="http://schemas.microsoft.com/office/powerpoint/2010/main" val="39306937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reference-bandwidth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reference-bandwidth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a:t>
            </a:r>
            <a:r>
              <a:rPr lang="de-DE"/>
              <a:t>Value", </a:t>
            </a:r>
            <a:r>
              <a:rPr lang="de-DE" dirty="0"/>
              <a:t>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6104</Words>
  <Application>Microsoft Office PowerPoint</Application>
  <PresentationFormat>Breitbild</PresentationFormat>
  <Paragraphs>601</Paragraphs>
  <Slides>45</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45</vt:i4>
      </vt:variant>
    </vt:vector>
  </HeadingPairs>
  <TitlesOfParts>
    <vt:vector size="52"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Switchports (L2/L3-Switch) in selbst definierte VLANs aufnehmen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158</cp:revision>
  <dcterms:created xsi:type="dcterms:W3CDTF">2023-07-03T13:25:30Z</dcterms:created>
  <dcterms:modified xsi:type="dcterms:W3CDTF">2025-08-20T13:16:35Z</dcterms:modified>
</cp:coreProperties>
</file>